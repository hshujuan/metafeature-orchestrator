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69" r:id="rId2"/>
    <p:sldId id="257" r:id="rId3"/>
    <p:sldId id="258" r:id="rId4"/>
    <p:sldId id="260" r:id="rId5"/>
    <p:sldId id="262" r:id="rId6"/>
    <p:sldId id="263" r:id="rId7"/>
    <p:sldId id="264" r:id="rId8"/>
    <p:sldId id="271" r:id="rId9"/>
    <p:sldId id="272" r:id="rId10"/>
    <p:sldId id="265" r:id="rId11"/>
    <p:sldId id="270" r:id="rId12"/>
    <p:sldId id="268"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417A35-AC10-4DE5-8A50-1620ED161A1A}" v="35" dt="2026-02-24T16:02:37.3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46368" autoAdjust="0"/>
  </p:normalViewPr>
  <p:slideViewPr>
    <p:cSldViewPr snapToGrid="0" snapToObjects="1">
      <p:cViewPr varScale="1">
        <p:scale>
          <a:sx n="43" d="100"/>
          <a:sy n="43" d="100"/>
        </p:scale>
        <p:origin x="3600" y="27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ne huang" userId="a5d43ce04888ed0d" providerId="LiveId" clId="{00FA1A45-4AAD-46DF-B7B0-174E362B8709}"/>
    <pc:docChg chg="custSel modSld">
      <pc:chgData name="Jane huang" userId="a5d43ce04888ed0d" providerId="LiveId" clId="{00FA1A45-4AAD-46DF-B7B0-174E362B8709}" dt="2026-02-24T16:05:45.372" v="718" actId="20577"/>
      <pc:docMkLst>
        <pc:docMk/>
      </pc:docMkLst>
      <pc:sldChg chg="modSp mod modNotesTx">
        <pc:chgData name="Jane huang" userId="a5d43ce04888ed0d" providerId="LiveId" clId="{00FA1A45-4AAD-46DF-B7B0-174E362B8709}" dt="2026-02-24T16:00:32.497" v="448" actId="20577"/>
        <pc:sldMkLst>
          <pc:docMk/>
          <pc:sldMk cId="0" sldId="257"/>
        </pc:sldMkLst>
        <pc:spChg chg="mod">
          <ac:chgData name="Jane huang" userId="a5d43ce04888ed0d" providerId="LiveId" clId="{00FA1A45-4AAD-46DF-B7B0-174E362B8709}" dt="2026-02-24T15:30:56.557" v="41" actId="20577"/>
          <ac:spMkLst>
            <pc:docMk/>
            <pc:sldMk cId="0" sldId="257"/>
            <ac:spMk id="3" creationId="{00000000-0000-0000-0000-000000000000}"/>
          </ac:spMkLst>
        </pc:spChg>
      </pc:sldChg>
      <pc:sldChg chg="modNotesTx">
        <pc:chgData name="Jane huang" userId="a5d43ce04888ed0d" providerId="LiveId" clId="{00FA1A45-4AAD-46DF-B7B0-174E362B8709}" dt="2026-02-24T15:36:53.140" v="144" actId="20577"/>
        <pc:sldMkLst>
          <pc:docMk/>
          <pc:sldMk cId="0" sldId="260"/>
        </pc:sldMkLst>
      </pc:sldChg>
      <pc:sldChg chg="modNotesTx">
        <pc:chgData name="Jane huang" userId="a5d43ce04888ed0d" providerId="LiveId" clId="{00FA1A45-4AAD-46DF-B7B0-174E362B8709}" dt="2026-02-24T15:41:37.929" v="330" actId="20577"/>
        <pc:sldMkLst>
          <pc:docMk/>
          <pc:sldMk cId="0" sldId="263"/>
        </pc:sldMkLst>
      </pc:sldChg>
      <pc:sldChg chg="modNotesTx">
        <pc:chgData name="Jane huang" userId="a5d43ce04888ed0d" providerId="LiveId" clId="{00FA1A45-4AAD-46DF-B7B0-174E362B8709}" dt="2026-02-24T16:03:58.484" v="506" actId="6549"/>
        <pc:sldMkLst>
          <pc:docMk/>
          <pc:sldMk cId="0" sldId="264"/>
        </pc:sldMkLst>
      </pc:sldChg>
      <pc:sldChg chg="addSp modNotesTx">
        <pc:chgData name="Jane huang" userId="a5d43ce04888ed0d" providerId="LiveId" clId="{00FA1A45-4AAD-46DF-B7B0-174E362B8709}" dt="2026-02-24T15:44:35.196" v="446" actId="20577"/>
        <pc:sldMkLst>
          <pc:docMk/>
          <pc:sldMk cId="0" sldId="268"/>
        </pc:sldMkLst>
        <pc:spChg chg="add">
          <ac:chgData name="Jane huang" userId="a5d43ce04888ed0d" providerId="LiveId" clId="{00FA1A45-4AAD-46DF-B7B0-174E362B8709}" dt="2026-02-24T04:42:35.548" v="3"/>
          <ac:spMkLst>
            <pc:docMk/>
            <pc:sldMk cId="0" sldId="268"/>
            <ac:spMk id="4" creationId="{ECD17F52-4971-29AE-ABF2-84BF5F353D40}"/>
          </ac:spMkLst>
        </pc:spChg>
      </pc:sldChg>
      <pc:sldChg chg="modNotesTx">
        <pc:chgData name="Jane huang" userId="a5d43ce04888ed0d" providerId="LiveId" clId="{00FA1A45-4AAD-46DF-B7B0-174E362B8709}" dt="2026-02-24T15:29:53.890" v="21" actId="20577"/>
        <pc:sldMkLst>
          <pc:docMk/>
          <pc:sldMk cId="0" sldId="269"/>
        </pc:sldMkLst>
      </pc:sldChg>
      <pc:sldChg chg="modNotesTx">
        <pc:chgData name="Jane huang" userId="a5d43ce04888ed0d" providerId="LiveId" clId="{00FA1A45-4AAD-46DF-B7B0-174E362B8709}" dt="2026-02-24T16:05:45.372" v="718" actId="20577"/>
        <pc:sldMkLst>
          <pc:docMk/>
          <pc:sldMk cId="327196615" sldId="270"/>
        </pc:sldMkLst>
      </pc:sldChg>
      <pc:sldChg chg="modNotesTx">
        <pc:chgData name="Jane huang" userId="a5d43ce04888ed0d" providerId="LiveId" clId="{00FA1A45-4AAD-46DF-B7B0-174E362B8709}" dt="2026-02-24T16:00:58.266" v="449" actId="6549"/>
        <pc:sldMkLst>
          <pc:docMk/>
          <pc:sldMk cId="964164468" sldId="271"/>
        </pc:sldMkLst>
      </pc:sldChg>
      <pc:sldChg chg="modNotesTx">
        <pc:chgData name="Jane huang" userId="a5d43ce04888ed0d" providerId="LiveId" clId="{00FA1A45-4AAD-46DF-B7B0-174E362B8709}" dt="2026-02-24T16:02:52.308" v="505" actId="20577"/>
        <pc:sldMkLst>
          <pc:docMk/>
          <pc:sldMk cId="3944104745" sldId="272"/>
        </pc:sldMkLst>
      </pc:sldChg>
    </pc:docChg>
  </pc:docChgLst>
</pc:chgInfo>
</file>

<file path=ppt/diagrams/_rels/data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sv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diagrams/_rels/data4.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image" Target="../media/image25.jpg"/></Relationships>
</file>

<file path=ppt/diagrams/_rels/drawing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sv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diagrams/_rels/drawing4.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image" Target="../media/image25.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2AC2FF1-6E53-4692-8FE6-FF89DC5873B6}" type="doc">
      <dgm:prSet loTypeId="urn:microsoft.com/office/officeart/2005/8/layout/default" loCatId="list" qsTypeId="urn:microsoft.com/office/officeart/2005/8/quickstyle/simple3" qsCatId="simple" csTypeId="urn:microsoft.com/office/officeart/2005/8/colors/accent1_2" csCatId="accent1" phldr="1"/>
      <dgm:spPr/>
      <dgm:t>
        <a:bodyPr/>
        <a:lstStyle/>
        <a:p>
          <a:endParaRPr lang="en-US"/>
        </a:p>
      </dgm:t>
    </dgm:pt>
    <dgm:pt modelId="{A09D1BF6-B544-4C11-86B0-A049BD84A6BF}">
      <dgm:prSet phldrT="[Text]"/>
      <dgm:spPr/>
      <dgm:t>
        <a:bodyPr/>
        <a:lstStyle/>
        <a:p>
          <a:r>
            <a:rPr lang="en-US" dirty="0"/>
            <a:t>Manual, feature-specific evaluation cannot scale to Apple’s global, fast-moving AI ecosystem.</a:t>
          </a:r>
        </a:p>
      </dgm:t>
    </dgm:pt>
    <dgm:pt modelId="{38F9A940-1549-4481-9735-C333D957E27E}" type="parTrans" cxnId="{D584F885-A49E-49FC-AC1E-B39304885948}">
      <dgm:prSet/>
      <dgm:spPr/>
      <dgm:t>
        <a:bodyPr/>
        <a:lstStyle/>
        <a:p>
          <a:endParaRPr lang="en-US"/>
        </a:p>
      </dgm:t>
    </dgm:pt>
    <dgm:pt modelId="{BF044868-0A25-462D-B372-BB5923EB7CAD}" type="sibTrans" cxnId="{D584F885-A49E-49FC-AC1E-B39304885948}">
      <dgm:prSet/>
      <dgm:spPr/>
      <dgm:t>
        <a:bodyPr/>
        <a:lstStyle/>
        <a:p>
          <a:endParaRPr lang="en-US"/>
        </a:p>
      </dgm:t>
    </dgm:pt>
    <dgm:pt modelId="{294D56D3-CB30-4AF5-B498-CC1499C32834}">
      <dgm:prSet/>
      <dgm:spPr/>
      <dgm:t>
        <a:bodyPr/>
        <a:lstStyle/>
        <a:p>
          <a:r>
            <a:rPr lang="en-US"/>
            <a:t>At this scale, evaluation must be treated as core platform infrastructure rather than downstream QA.</a:t>
          </a:r>
          <a:endParaRPr lang="en-US" dirty="0"/>
        </a:p>
      </dgm:t>
    </dgm:pt>
    <dgm:pt modelId="{ED5F31BE-743F-44D9-AD88-DDEA014A1325}" type="parTrans" cxnId="{2D25C510-6246-406E-87B5-E318DDBD09E7}">
      <dgm:prSet/>
      <dgm:spPr/>
      <dgm:t>
        <a:bodyPr/>
        <a:lstStyle/>
        <a:p>
          <a:endParaRPr lang="en-US"/>
        </a:p>
      </dgm:t>
    </dgm:pt>
    <dgm:pt modelId="{60912F24-E121-4C21-8F4B-9EF25109E7A5}" type="sibTrans" cxnId="{2D25C510-6246-406E-87B5-E318DDBD09E7}">
      <dgm:prSet/>
      <dgm:spPr/>
      <dgm:t>
        <a:bodyPr/>
        <a:lstStyle/>
        <a:p>
          <a:endParaRPr lang="en-US"/>
        </a:p>
      </dgm:t>
    </dgm:pt>
    <dgm:pt modelId="{F6D1340C-754A-486E-9867-377B1D10849B}">
      <dgm:prSet/>
      <dgm:spPr/>
      <dgm:t>
        <a:bodyPr/>
        <a:lstStyle/>
        <a:p>
          <a:r>
            <a:rPr lang="en-US"/>
            <a:t>LLM-as-judge improves throughput but fails without prompt governance, leading to drift and inconsistency.</a:t>
          </a:r>
          <a:endParaRPr lang="en-US" dirty="0"/>
        </a:p>
      </dgm:t>
    </dgm:pt>
    <dgm:pt modelId="{4F9558BE-C786-4886-8AFF-43C0394F79CB}" type="parTrans" cxnId="{C9AE93B6-4A8B-4268-9EAB-7E88EA5E2DB0}">
      <dgm:prSet/>
      <dgm:spPr/>
      <dgm:t>
        <a:bodyPr/>
        <a:lstStyle/>
        <a:p>
          <a:endParaRPr lang="en-US"/>
        </a:p>
      </dgm:t>
    </dgm:pt>
    <dgm:pt modelId="{4C96612D-7C40-4848-8E90-B52773B44D29}" type="sibTrans" cxnId="{C9AE93B6-4A8B-4268-9EAB-7E88EA5E2DB0}">
      <dgm:prSet/>
      <dgm:spPr/>
      <dgm:t>
        <a:bodyPr/>
        <a:lstStyle/>
        <a:p>
          <a:endParaRPr lang="en-US"/>
        </a:p>
      </dgm:t>
    </dgm:pt>
    <dgm:pt modelId="{31B52D11-516E-44E6-ABAB-3D5205BD37F1}">
      <dgm:prSet/>
      <dgm:spPr/>
      <dgm:t>
        <a:bodyPr/>
        <a:lstStyle/>
        <a:p>
          <a:r>
            <a:rPr lang="en-US"/>
            <a:t>The true bottleneck is the absence of a governed evaluation layer, not a lack of evaluators.</a:t>
          </a:r>
          <a:endParaRPr lang="en-US" dirty="0"/>
        </a:p>
      </dgm:t>
    </dgm:pt>
    <dgm:pt modelId="{E1426C9D-2CF3-43BB-8D9F-04F76EEE38AD}" type="parTrans" cxnId="{3EC4B7D0-20C8-4D6A-AC94-AAFE7FFFA8F0}">
      <dgm:prSet/>
      <dgm:spPr/>
      <dgm:t>
        <a:bodyPr/>
        <a:lstStyle/>
        <a:p>
          <a:endParaRPr lang="en-US"/>
        </a:p>
      </dgm:t>
    </dgm:pt>
    <dgm:pt modelId="{F496720E-D05E-4ABB-A7C4-5AD846AB182E}" type="sibTrans" cxnId="{3EC4B7D0-20C8-4D6A-AC94-AAFE7FFFA8F0}">
      <dgm:prSet/>
      <dgm:spPr/>
      <dgm:t>
        <a:bodyPr/>
        <a:lstStyle/>
        <a:p>
          <a:endParaRPr lang="en-US"/>
        </a:p>
      </dgm:t>
    </dgm:pt>
    <dgm:pt modelId="{8F96A8DA-2E7C-4B46-AA7A-220128D8E85A}" type="pres">
      <dgm:prSet presAssocID="{02AC2FF1-6E53-4692-8FE6-FF89DC5873B6}" presName="diagram" presStyleCnt="0">
        <dgm:presLayoutVars>
          <dgm:dir/>
          <dgm:resizeHandles val="exact"/>
        </dgm:presLayoutVars>
      </dgm:prSet>
      <dgm:spPr/>
    </dgm:pt>
    <dgm:pt modelId="{0D3F35B9-F2B1-46A5-89A9-41C86D5F5B35}" type="pres">
      <dgm:prSet presAssocID="{A09D1BF6-B544-4C11-86B0-A049BD84A6BF}" presName="node" presStyleLbl="node1" presStyleIdx="0" presStyleCnt="4">
        <dgm:presLayoutVars>
          <dgm:bulletEnabled val="1"/>
        </dgm:presLayoutVars>
      </dgm:prSet>
      <dgm:spPr/>
    </dgm:pt>
    <dgm:pt modelId="{03F18E25-AAAD-41CF-9034-B343BA64AA2C}" type="pres">
      <dgm:prSet presAssocID="{BF044868-0A25-462D-B372-BB5923EB7CAD}" presName="sibTrans" presStyleCnt="0"/>
      <dgm:spPr/>
    </dgm:pt>
    <dgm:pt modelId="{371D07FF-856E-473A-AC76-E98DB7234D10}" type="pres">
      <dgm:prSet presAssocID="{294D56D3-CB30-4AF5-B498-CC1499C32834}" presName="node" presStyleLbl="node1" presStyleIdx="1" presStyleCnt="4">
        <dgm:presLayoutVars>
          <dgm:bulletEnabled val="1"/>
        </dgm:presLayoutVars>
      </dgm:prSet>
      <dgm:spPr/>
    </dgm:pt>
    <dgm:pt modelId="{F9B1883D-F428-4779-AB88-2555BF57BA3E}" type="pres">
      <dgm:prSet presAssocID="{60912F24-E121-4C21-8F4B-9EF25109E7A5}" presName="sibTrans" presStyleCnt="0"/>
      <dgm:spPr/>
    </dgm:pt>
    <dgm:pt modelId="{FB2AC923-2FC5-417A-9DC5-FC64DB91B475}" type="pres">
      <dgm:prSet presAssocID="{F6D1340C-754A-486E-9867-377B1D10849B}" presName="node" presStyleLbl="node1" presStyleIdx="2" presStyleCnt="4">
        <dgm:presLayoutVars>
          <dgm:bulletEnabled val="1"/>
        </dgm:presLayoutVars>
      </dgm:prSet>
      <dgm:spPr/>
    </dgm:pt>
    <dgm:pt modelId="{33E16D89-83DA-4290-8D99-6E82C33ECCF2}" type="pres">
      <dgm:prSet presAssocID="{4C96612D-7C40-4848-8E90-B52773B44D29}" presName="sibTrans" presStyleCnt="0"/>
      <dgm:spPr/>
    </dgm:pt>
    <dgm:pt modelId="{9A7B96CE-5B44-49B3-93B3-1940E4FF6EF3}" type="pres">
      <dgm:prSet presAssocID="{31B52D11-516E-44E6-ABAB-3D5205BD37F1}" presName="node" presStyleLbl="node1" presStyleIdx="3" presStyleCnt="4">
        <dgm:presLayoutVars>
          <dgm:bulletEnabled val="1"/>
        </dgm:presLayoutVars>
      </dgm:prSet>
      <dgm:spPr/>
    </dgm:pt>
  </dgm:ptLst>
  <dgm:cxnLst>
    <dgm:cxn modelId="{2D25C510-6246-406E-87B5-E318DDBD09E7}" srcId="{02AC2FF1-6E53-4692-8FE6-FF89DC5873B6}" destId="{294D56D3-CB30-4AF5-B498-CC1499C32834}" srcOrd="1" destOrd="0" parTransId="{ED5F31BE-743F-44D9-AD88-DDEA014A1325}" sibTransId="{60912F24-E121-4C21-8F4B-9EF25109E7A5}"/>
    <dgm:cxn modelId="{239AA268-3AD3-42B6-8568-ED9B3878BE7A}" type="presOf" srcId="{F6D1340C-754A-486E-9867-377B1D10849B}" destId="{FB2AC923-2FC5-417A-9DC5-FC64DB91B475}" srcOrd="0" destOrd="0" presId="urn:microsoft.com/office/officeart/2005/8/layout/default"/>
    <dgm:cxn modelId="{4A09714E-9072-48EE-B3F3-7D0D17BF870F}" type="presOf" srcId="{A09D1BF6-B544-4C11-86B0-A049BD84A6BF}" destId="{0D3F35B9-F2B1-46A5-89A9-41C86D5F5B35}" srcOrd="0" destOrd="0" presId="urn:microsoft.com/office/officeart/2005/8/layout/default"/>
    <dgm:cxn modelId="{817A1658-12D0-43F9-9824-10DDCAA52621}" type="presOf" srcId="{294D56D3-CB30-4AF5-B498-CC1499C32834}" destId="{371D07FF-856E-473A-AC76-E98DB7234D10}" srcOrd="0" destOrd="0" presId="urn:microsoft.com/office/officeart/2005/8/layout/default"/>
    <dgm:cxn modelId="{D584F885-A49E-49FC-AC1E-B39304885948}" srcId="{02AC2FF1-6E53-4692-8FE6-FF89DC5873B6}" destId="{A09D1BF6-B544-4C11-86B0-A049BD84A6BF}" srcOrd="0" destOrd="0" parTransId="{38F9A940-1549-4481-9735-C333D957E27E}" sibTransId="{BF044868-0A25-462D-B372-BB5923EB7CAD}"/>
    <dgm:cxn modelId="{D04FCCA6-6076-4A7D-AAFE-6147F3BB36EE}" type="presOf" srcId="{02AC2FF1-6E53-4692-8FE6-FF89DC5873B6}" destId="{8F96A8DA-2E7C-4B46-AA7A-220128D8E85A}" srcOrd="0" destOrd="0" presId="urn:microsoft.com/office/officeart/2005/8/layout/default"/>
    <dgm:cxn modelId="{ED08D6A9-6A99-42BD-9D42-E40733E85A46}" type="presOf" srcId="{31B52D11-516E-44E6-ABAB-3D5205BD37F1}" destId="{9A7B96CE-5B44-49B3-93B3-1940E4FF6EF3}" srcOrd="0" destOrd="0" presId="urn:microsoft.com/office/officeart/2005/8/layout/default"/>
    <dgm:cxn modelId="{C9AE93B6-4A8B-4268-9EAB-7E88EA5E2DB0}" srcId="{02AC2FF1-6E53-4692-8FE6-FF89DC5873B6}" destId="{F6D1340C-754A-486E-9867-377B1D10849B}" srcOrd="2" destOrd="0" parTransId="{4F9558BE-C786-4886-8AFF-43C0394F79CB}" sibTransId="{4C96612D-7C40-4848-8E90-B52773B44D29}"/>
    <dgm:cxn modelId="{3EC4B7D0-20C8-4D6A-AC94-AAFE7FFFA8F0}" srcId="{02AC2FF1-6E53-4692-8FE6-FF89DC5873B6}" destId="{31B52D11-516E-44E6-ABAB-3D5205BD37F1}" srcOrd="3" destOrd="0" parTransId="{E1426C9D-2CF3-43BB-8D9F-04F76EEE38AD}" sibTransId="{F496720E-D05E-4ABB-A7C4-5AD846AB182E}"/>
    <dgm:cxn modelId="{A511291D-F46E-4D34-A0F6-7C239158DDBF}" type="presParOf" srcId="{8F96A8DA-2E7C-4B46-AA7A-220128D8E85A}" destId="{0D3F35B9-F2B1-46A5-89A9-41C86D5F5B35}" srcOrd="0" destOrd="0" presId="urn:microsoft.com/office/officeart/2005/8/layout/default"/>
    <dgm:cxn modelId="{A71D4C74-9B73-4F26-B505-289647AE10F4}" type="presParOf" srcId="{8F96A8DA-2E7C-4B46-AA7A-220128D8E85A}" destId="{03F18E25-AAAD-41CF-9034-B343BA64AA2C}" srcOrd="1" destOrd="0" presId="urn:microsoft.com/office/officeart/2005/8/layout/default"/>
    <dgm:cxn modelId="{B004A4D8-CE82-4E01-8D30-6588DB88C517}" type="presParOf" srcId="{8F96A8DA-2E7C-4B46-AA7A-220128D8E85A}" destId="{371D07FF-856E-473A-AC76-E98DB7234D10}" srcOrd="2" destOrd="0" presId="urn:microsoft.com/office/officeart/2005/8/layout/default"/>
    <dgm:cxn modelId="{564B8DB0-9498-48D6-A20A-DB9E71F14D5F}" type="presParOf" srcId="{8F96A8DA-2E7C-4B46-AA7A-220128D8E85A}" destId="{F9B1883D-F428-4779-AB88-2555BF57BA3E}" srcOrd="3" destOrd="0" presId="urn:microsoft.com/office/officeart/2005/8/layout/default"/>
    <dgm:cxn modelId="{B79B9F29-B95A-49B6-9530-77B4FA2367A9}" type="presParOf" srcId="{8F96A8DA-2E7C-4B46-AA7A-220128D8E85A}" destId="{FB2AC923-2FC5-417A-9DC5-FC64DB91B475}" srcOrd="4" destOrd="0" presId="urn:microsoft.com/office/officeart/2005/8/layout/default"/>
    <dgm:cxn modelId="{D020871B-93B4-4C15-A60F-3A6A53F5D594}" type="presParOf" srcId="{8F96A8DA-2E7C-4B46-AA7A-220128D8E85A}" destId="{33E16D89-83DA-4290-8D99-6E82C33ECCF2}" srcOrd="5" destOrd="0" presId="urn:microsoft.com/office/officeart/2005/8/layout/default"/>
    <dgm:cxn modelId="{71C6840C-0A2B-42A4-8CF6-95CD30FF69F4}" type="presParOf" srcId="{8F96A8DA-2E7C-4B46-AA7A-220128D8E85A}" destId="{9A7B96CE-5B44-49B3-93B3-1940E4FF6EF3}" srcOrd="6" destOrd="0" presId="urn:microsoft.com/office/officeart/2005/8/layout/defaul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E7D17C7-90B0-43BA-8A48-AE3FE08605CB}" type="doc">
      <dgm:prSet loTypeId="urn:microsoft.com/office/officeart/2005/8/layout/hierarchy1" loCatId="hierarchy" qsTypeId="urn:microsoft.com/office/officeart/2005/8/quickstyle/simple1" qsCatId="simple" csTypeId="urn:microsoft.com/office/officeart/2005/8/colors/colorful1" csCatId="colorful"/>
      <dgm:spPr/>
      <dgm:t>
        <a:bodyPr/>
        <a:lstStyle/>
        <a:p>
          <a:endParaRPr lang="en-US"/>
        </a:p>
      </dgm:t>
    </dgm:pt>
    <dgm:pt modelId="{999F8804-6069-45FB-9962-7D1F1381BBFB}">
      <dgm:prSet/>
      <dgm:spPr/>
      <dgm:t>
        <a:bodyPr/>
        <a:lstStyle/>
        <a:p>
          <a:r>
            <a:rPr lang="en-US"/>
            <a:t>Quality is task- and risk-specific, requiring taxonomy-driven evaluation.</a:t>
          </a:r>
        </a:p>
      </dgm:t>
    </dgm:pt>
    <dgm:pt modelId="{49BEBD81-97D9-4C00-B22B-BFC74F174C80}" type="parTrans" cxnId="{7ED3AE60-03D6-49D3-B4E1-D0C543929C8A}">
      <dgm:prSet/>
      <dgm:spPr/>
      <dgm:t>
        <a:bodyPr/>
        <a:lstStyle/>
        <a:p>
          <a:endParaRPr lang="en-US"/>
        </a:p>
      </dgm:t>
    </dgm:pt>
    <dgm:pt modelId="{2DE7D38B-3EED-46FD-B5C8-B45E6171962E}" type="sibTrans" cxnId="{7ED3AE60-03D6-49D3-B4E1-D0C543929C8A}">
      <dgm:prSet/>
      <dgm:spPr/>
      <dgm:t>
        <a:bodyPr/>
        <a:lstStyle/>
        <a:p>
          <a:endParaRPr lang="en-US"/>
        </a:p>
      </dgm:t>
    </dgm:pt>
    <dgm:pt modelId="{0A7B6EFA-BD3B-49A7-A610-C7E72A711C15}">
      <dgm:prSet/>
      <dgm:spPr/>
      <dgm:t>
        <a:bodyPr/>
        <a:lstStyle/>
        <a:p>
          <a:r>
            <a:rPr lang="en-US"/>
            <a:t>Taxonomy governs valid metrics, risks, and evaluation semantics.</a:t>
          </a:r>
        </a:p>
      </dgm:t>
    </dgm:pt>
    <dgm:pt modelId="{3BAA39DE-4B4A-4B9F-BEB2-6B9369AEB4F7}" type="parTrans" cxnId="{317F631F-F125-4544-8F1A-793B56119484}">
      <dgm:prSet/>
      <dgm:spPr/>
      <dgm:t>
        <a:bodyPr/>
        <a:lstStyle/>
        <a:p>
          <a:endParaRPr lang="en-US"/>
        </a:p>
      </dgm:t>
    </dgm:pt>
    <dgm:pt modelId="{8D7151A7-B2EB-4585-AECD-82B938875150}" type="sibTrans" cxnId="{317F631F-F125-4544-8F1A-793B56119484}">
      <dgm:prSet/>
      <dgm:spPr/>
      <dgm:t>
        <a:bodyPr/>
        <a:lstStyle/>
        <a:p>
          <a:endParaRPr lang="en-US"/>
        </a:p>
      </dgm:t>
    </dgm:pt>
    <dgm:pt modelId="{6A54601E-AFE7-4F5E-9CF8-2A35BD496BDB}">
      <dgm:prSet/>
      <dgm:spPr/>
      <dgm:t>
        <a:bodyPr/>
        <a:lstStyle/>
        <a:p>
          <a:r>
            <a:rPr lang="en-US"/>
            <a:t>Metrics evolve under human governance with controlled versioning.</a:t>
          </a:r>
        </a:p>
      </dgm:t>
    </dgm:pt>
    <dgm:pt modelId="{75DA094E-868A-43B8-9AB8-77A7ECEBA508}" type="parTrans" cxnId="{2E85DEF5-B8E2-4617-986B-350E9E3B2B21}">
      <dgm:prSet/>
      <dgm:spPr/>
      <dgm:t>
        <a:bodyPr/>
        <a:lstStyle/>
        <a:p>
          <a:endParaRPr lang="en-US"/>
        </a:p>
      </dgm:t>
    </dgm:pt>
    <dgm:pt modelId="{412EF0B5-6776-43F6-8D03-0DB8A00D245B}" type="sibTrans" cxnId="{2E85DEF5-B8E2-4617-986B-350E9E3B2B21}">
      <dgm:prSet/>
      <dgm:spPr/>
      <dgm:t>
        <a:bodyPr/>
        <a:lstStyle/>
        <a:p>
          <a:endParaRPr lang="en-US"/>
        </a:p>
      </dgm:t>
    </dgm:pt>
    <dgm:pt modelId="{95D3BF70-FB89-4C83-8418-CDB428F298A7}" type="pres">
      <dgm:prSet presAssocID="{DE7D17C7-90B0-43BA-8A48-AE3FE08605CB}" presName="hierChild1" presStyleCnt="0">
        <dgm:presLayoutVars>
          <dgm:chPref val="1"/>
          <dgm:dir/>
          <dgm:animOne val="branch"/>
          <dgm:animLvl val="lvl"/>
          <dgm:resizeHandles/>
        </dgm:presLayoutVars>
      </dgm:prSet>
      <dgm:spPr/>
    </dgm:pt>
    <dgm:pt modelId="{7F4AE243-4889-4FFA-95BE-B19FBA09E940}" type="pres">
      <dgm:prSet presAssocID="{999F8804-6069-45FB-9962-7D1F1381BBFB}" presName="hierRoot1" presStyleCnt="0"/>
      <dgm:spPr/>
    </dgm:pt>
    <dgm:pt modelId="{C90472D8-318B-4AF4-931C-B3413FC0A4E4}" type="pres">
      <dgm:prSet presAssocID="{999F8804-6069-45FB-9962-7D1F1381BBFB}" presName="composite" presStyleCnt="0"/>
      <dgm:spPr/>
    </dgm:pt>
    <dgm:pt modelId="{57096B83-CCD6-4991-ACB0-6AD8B594BFFE}" type="pres">
      <dgm:prSet presAssocID="{999F8804-6069-45FB-9962-7D1F1381BBFB}" presName="background" presStyleLbl="node0" presStyleIdx="0" presStyleCnt="3"/>
      <dgm:spPr/>
    </dgm:pt>
    <dgm:pt modelId="{9A1A2F1D-91C8-4DC2-B4F4-A302B8E0708F}" type="pres">
      <dgm:prSet presAssocID="{999F8804-6069-45FB-9962-7D1F1381BBFB}" presName="text" presStyleLbl="fgAcc0" presStyleIdx="0" presStyleCnt="3">
        <dgm:presLayoutVars>
          <dgm:chPref val="3"/>
        </dgm:presLayoutVars>
      </dgm:prSet>
      <dgm:spPr/>
    </dgm:pt>
    <dgm:pt modelId="{CCF92E34-787A-422C-9BCC-F06A612FA59C}" type="pres">
      <dgm:prSet presAssocID="{999F8804-6069-45FB-9962-7D1F1381BBFB}" presName="hierChild2" presStyleCnt="0"/>
      <dgm:spPr/>
    </dgm:pt>
    <dgm:pt modelId="{C984D411-167E-4045-AC98-C932FC0D0E7A}" type="pres">
      <dgm:prSet presAssocID="{0A7B6EFA-BD3B-49A7-A610-C7E72A711C15}" presName="hierRoot1" presStyleCnt="0"/>
      <dgm:spPr/>
    </dgm:pt>
    <dgm:pt modelId="{3CFD9A5A-B20B-4BAB-919D-37073DBA15D6}" type="pres">
      <dgm:prSet presAssocID="{0A7B6EFA-BD3B-49A7-A610-C7E72A711C15}" presName="composite" presStyleCnt="0"/>
      <dgm:spPr/>
    </dgm:pt>
    <dgm:pt modelId="{3DC1AD3D-6962-40E3-A6FC-000616F7AE3F}" type="pres">
      <dgm:prSet presAssocID="{0A7B6EFA-BD3B-49A7-A610-C7E72A711C15}" presName="background" presStyleLbl="node0" presStyleIdx="1" presStyleCnt="3"/>
      <dgm:spPr/>
    </dgm:pt>
    <dgm:pt modelId="{CFBCA493-956F-4DE8-9F74-DC0EEB19AB43}" type="pres">
      <dgm:prSet presAssocID="{0A7B6EFA-BD3B-49A7-A610-C7E72A711C15}" presName="text" presStyleLbl="fgAcc0" presStyleIdx="1" presStyleCnt="3">
        <dgm:presLayoutVars>
          <dgm:chPref val="3"/>
        </dgm:presLayoutVars>
      </dgm:prSet>
      <dgm:spPr/>
    </dgm:pt>
    <dgm:pt modelId="{B530030E-46F4-44C4-A233-16E1EFF5FF50}" type="pres">
      <dgm:prSet presAssocID="{0A7B6EFA-BD3B-49A7-A610-C7E72A711C15}" presName="hierChild2" presStyleCnt="0"/>
      <dgm:spPr/>
    </dgm:pt>
    <dgm:pt modelId="{228C4333-38F2-4E02-96BE-4C15817BF5A1}" type="pres">
      <dgm:prSet presAssocID="{6A54601E-AFE7-4F5E-9CF8-2A35BD496BDB}" presName="hierRoot1" presStyleCnt="0"/>
      <dgm:spPr/>
    </dgm:pt>
    <dgm:pt modelId="{C4212456-71B1-4272-B5BD-BCFC9428A143}" type="pres">
      <dgm:prSet presAssocID="{6A54601E-AFE7-4F5E-9CF8-2A35BD496BDB}" presName="composite" presStyleCnt="0"/>
      <dgm:spPr/>
    </dgm:pt>
    <dgm:pt modelId="{E8908E68-334E-4113-A677-C52E967CCEC6}" type="pres">
      <dgm:prSet presAssocID="{6A54601E-AFE7-4F5E-9CF8-2A35BD496BDB}" presName="background" presStyleLbl="node0" presStyleIdx="2" presStyleCnt="3"/>
      <dgm:spPr/>
    </dgm:pt>
    <dgm:pt modelId="{1CE05706-CB5F-44CA-AA48-B633F8C51AFE}" type="pres">
      <dgm:prSet presAssocID="{6A54601E-AFE7-4F5E-9CF8-2A35BD496BDB}" presName="text" presStyleLbl="fgAcc0" presStyleIdx="2" presStyleCnt="3">
        <dgm:presLayoutVars>
          <dgm:chPref val="3"/>
        </dgm:presLayoutVars>
      </dgm:prSet>
      <dgm:spPr/>
    </dgm:pt>
    <dgm:pt modelId="{06421552-3367-4070-BFEB-738D88CEA921}" type="pres">
      <dgm:prSet presAssocID="{6A54601E-AFE7-4F5E-9CF8-2A35BD496BDB}" presName="hierChild2" presStyleCnt="0"/>
      <dgm:spPr/>
    </dgm:pt>
  </dgm:ptLst>
  <dgm:cxnLst>
    <dgm:cxn modelId="{F1DA1203-B3F0-4256-9C09-E0A04D85C6B8}" type="presOf" srcId="{0A7B6EFA-BD3B-49A7-A610-C7E72A711C15}" destId="{CFBCA493-956F-4DE8-9F74-DC0EEB19AB43}" srcOrd="0" destOrd="0" presId="urn:microsoft.com/office/officeart/2005/8/layout/hierarchy1"/>
    <dgm:cxn modelId="{C5850A12-B794-4D94-9BBC-638B234E4FA6}" type="presOf" srcId="{6A54601E-AFE7-4F5E-9CF8-2A35BD496BDB}" destId="{1CE05706-CB5F-44CA-AA48-B633F8C51AFE}" srcOrd="0" destOrd="0" presId="urn:microsoft.com/office/officeart/2005/8/layout/hierarchy1"/>
    <dgm:cxn modelId="{7597741E-FC4B-4943-83D1-A17BF24D2604}" type="presOf" srcId="{DE7D17C7-90B0-43BA-8A48-AE3FE08605CB}" destId="{95D3BF70-FB89-4C83-8418-CDB428F298A7}" srcOrd="0" destOrd="0" presId="urn:microsoft.com/office/officeart/2005/8/layout/hierarchy1"/>
    <dgm:cxn modelId="{317F631F-F125-4544-8F1A-793B56119484}" srcId="{DE7D17C7-90B0-43BA-8A48-AE3FE08605CB}" destId="{0A7B6EFA-BD3B-49A7-A610-C7E72A711C15}" srcOrd="1" destOrd="0" parTransId="{3BAA39DE-4B4A-4B9F-BEB2-6B9369AEB4F7}" sibTransId="{8D7151A7-B2EB-4585-AECD-82B938875150}"/>
    <dgm:cxn modelId="{7ED3AE60-03D6-49D3-B4E1-D0C543929C8A}" srcId="{DE7D17C7-90B0-43BA-8A48-AE3FE08605CB}" destId="{999F8804-6069-45FB-9962-7D1F1381BBFB}" srcOrd="0" destOrd="0" parTransId="{49BEBD81-97D9-4C00-B22B-BFC74F174C80}" sibTransId="{2DE7D38B-3EED-46FD-B5C8-B45E6171962E}"/>
    <dgm:cxn modelId="{2E85DEF5-B8E2-4617-986B-350E9E3B2B21}" srcId="{DE7D17C7-90B0-43BA-8A48-AE3FE08605CB}" destId="{6A54601E-AFE7-4F5E-9CF8-2A35BD496BDB}" srcOrd="2" destOrd="0" parTransId="{75DA094E-868A-43B8-9AB8-77A7ECEBA508}" sibTransId="{412EF0B5-6776-43F6-8D03-0DB8A00D245B}"/>
    <dgm:cxn modelId="{3AE988F9-F3C1-4C3F-8062-5FBEE2FE10A3}" type="presOf" srcId="{999F8804-6069-45FB-9962-7D1F1381BBFB}" destId="{9A1A2F1D-91C8-4DC2-B4F4-A302B8E0708F}" srcOrd="0" destOrd="0" presId="urn:microsoft.com/office/officeart/2005/8/layout/hierarchy1"/>
    <dgm:cxn modelId="{681C96C9-303F-43D2-B68A-F29A0769CC38}" type="presParOf" srcId="{95D3BF70-FB89-4C83-8418-CDB428F298A7}" destId="{7F4AE243-4889-4FFA-95BE-B19FBA09E940}" srcOrd="0" destOrd="0" presId="urn:microsoft.com/office/officeart/2005/8/layout/hierarchy1"/>
    <dgm:cxn modelId="{2110C30A-9198-479A-809A-78D4763F254D}" type="presParOf" srcId="{7F4AE243-4889-4FFA-95BE-B19FBA09E940}" destId="{C90472D8-318B-4AF4-931C-B3413FC0A4E4}" srcOrd="0" destOrd="0" presId="urn:microsoft.com/office/officeart/2005/8/layout/hierarchy1"/>
    <dgm:cxn modelId="{F4D74291-F6D9-49C2-8365-8CC483CF0BF8}" type="presParOf" srcId="{C90472D8-318B-4AF4-931C-B3413FC0A4E4}" destId="{57096B83-CCD6-4991-ACB0-6AD8B594BFFE}" srcOrd="0" destOrd="0" presId="urn:microsoft.com/office/officeart/2005/8/layout/hierarchy1"/>
    <dgm:cxn modelId="{2EF6E1B5-933D-44C2-B897-BA000C9A02F5}" type="presParOf" srcId="{C90472D8-318B-4AF4-931C-B3413FC0A4E4}" destId="{9A1A2F1D-91C8-4DC2-B4F4-A302B8E0708F}" srcOrd="1" destOrd="0" presId="urn:microsoft.com/office/officeart/2005/8/layout/hierarchy1"/>
    <dgm:cxn modelId="{2A2DC955-4DFA-4D19-ADBD-13575B8A1E35}" type="presParOf" srcId="{7F4AE243-4889-4FFA-95BE-B19FBA09E940}" destId="{CCF92E34-787A-422C-9BCC-F06A612FA59C}" srcOrd="1" destOrd="0" presId="urn:microsoft.com/office/officeart/2005/8/layout/hierarchy1"/>
    <dgm:cxn modelId="{1343AD23-024C-4A57-AD81-9FB0BDEB8066}" type="presParOf" srcId="{95D3BF70-FB89-4C83-8418-CDB428F298A7}" destId="{C984D411-167E-4045-AC98-C932FC0D0E7A}" srcOrd="1" destOrd="0" presId="urn:microsoft.com/office/officeart/2005/8/layout/hierarchy1"/>
    <dgm:cxn modelId="{A557A3D9-CDDC-4AEA-ABEF-7A1850A0C6FA}" type="presParOf" srcId="{C984D411-167E-4045-AC98-C932FC0D0E7A}" destId="{3CFD9A5A-B20B-4BAB-919D-37073DBA15D6}" srcOrd="0" destOrd="0" presId="urn:microsoft.com/office/officeart/2005/8/layout/hierarchy1"/>
    <dgm:cxn modelId="{5F5909D3-A38B-46BC-8B2C-0755E63F5EF8}" type="presParOf" srcId="{3CFD9A5A-B20B-4BAB-919D-37073DBA15D6}" destId="{3DC1AD3D-6962-40E3-A6FC-000616F7AE3F}" srcOrd="0" destOrd="0" presId="urn:microsoft.com/office/officeart/2005/8/layout/hierarchy1"/>
    <dgm:cxn modelId="{2327DBFA-50CE-413E-B708-28052B1D6A13}" type="presParOf" srcId="{3CFD9A5A-B20B-4BAB-919D-37073DBA15D6}" destId="{CFBCA493-956F-4DE8-9F74-DC0EEB19AB43}" srcOrd="1" destOrd="0" presId="urn:microsoft.com/office/officeart/2005/8/layout/hierarchy1"/>
    <dgm:cxn modelId="{88204B84-861B-4E10-9A7C-2440773AE423}" type="presParOf" srcId="{C984D411-167E-4045-AC98-C932FC0D0E7A}" destId="{B530030E-46F4-44C4-A233-16E1EFF5FF50}" srcOrd="1" destOrd="0" presId="urn:microsoft.com/office/officeart/2005/8/layout/hierarchy1"/>
    <dgm:cxn modelId="{501DF6BC-6702-48BF-A1A9-1CAE0A061F36}" type="presParOf" srcId="{95D3BF70-FB89-4C83-8418-CDB428F298A7}" destId="{228C4333-38F2-4E02-96BE-4C15817BF5A1}" srcOrd="2" destOrd="0" presId="urn:microsoft.com/office/officeart/2005/8/layout/hierarchy1"/>
    <dgm:cxn modelId="{B235DD9B-5487-4E09-8A4D-473E50FB19C2}" type="presParOf" srcId="{228C4333-38F2-4E02-96BE-4C15817BF5A1}" destId="{C4212456-71B1-4272-B5BD-BCFC9428A143}" srcOrd="0" destOrd="0" presId="urn:microsoft.com/office/officeart/2005/8/layout/hierarchy1"/>
    <dgm:cxn modelId="{9ED139C6-590F-446E-8ADC-86FE601E0ABF}" type="presParOf" srcId="{C4212456-71B1-4272-B5BD-BCFC9428A143}" destId="{E8908E68-334E-4113-A677-C52E967CCEC6}" srcOrd="0" destOrd="0" presId="urn:microsoft.com/office/officeart/2005/8/layout/hierarchy1"/>
    <dgm:cxn modelId="{FD7EDFBE-2585-450F-81CD-5FD22A5285FB}" type="presParOf" srcId="{C4212456-71B1-4272-B5BD-BCFC9428A143}" destId="{1CE05706-CB5F-44CA-AA48-B633F8C51AFE}" srcOrd="1" destOrd="0" presId="urn:microsoft.com/office/officeart/2005/8/layout/hierarchy1"/>
    <dgm:cxn modelId="{3F632D40-EA31-4856-B1F0-18EAC97A29AD}" type="presParOf" srcId="{228C4333-38F2-4E02-96BE-4C15817BF5A1}" destId="{06421552-3367-4070-BFEB-738D88CEA921}"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B4F728A-8DC2-41ED-85EE-47D07208DCF3}"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D6292B33-1CBC-462D-843C-DA1CFE13FF82}">
      <dgm:prSet/>
      <dgm:spPr/>
      <dgm:t>
        <a:bodyPr/>
        <a:lstStyle/>
        <a:p>
          <a:pPr>
            <a:lnSpc>
              <a:spcPct val="100000"/>
            </a:lnSpc>
          </a:pPr>
          <a:r>
            <a:rPr lang="en-US"/>
            <a:t>1. Feature metadata</a:t>
          </a:r>
        </a:p>
      </dgm:t>
    </dgm:pt>
    <dgm:pt modelId="{51443F46-76F9-4013-A0B8-5CFADD7C0063}" type="parTrans" cxnId="{0879A2DA-43A2-4D8D-97D0-1F9146E6D4C5}">
      <dgm:prSet/>
      <dgm:spPr/>
      <dgm:t>
        <a:bodyPr/>
        <a:lstStyle/>
        <a:p>
          <a:endParaRPr lang="en-US"/>
        </a:p>
      </dgm:t>
    </dgm:pt>
    <dgm:pt modelId="{E5B47695-5DEE-4B05-883D-9DABF7B3F7A3}" type="sibTrans" cxnId="{0879A2DA-43A2-4D8D-97D0-1F9146E6D4C5}">
      <dgm:prSet/>
      <dgm:spPr/>
      <dgm:t>
        <a:bodyPr/>
        <a:lstStyle/>
        <a:p>
          <a:endParaRPr lang="en-US"/>
        </a:p>
      </dgm:t>
    </dgm:pt>
    <dgm:pt modelId="{94B0EBE2-ECB6-469E-8FCC-75CCB1970079}">
      <dgm:prSet/>
      <dgm:spPr/>
      <dgm:t>
        <a:bodyPr/>
        <a:lstStyle/>
        <a:p>
          <a:pPr>
            <a:lnSpc>
              <a:spcPct val="100000"/>
            </a:lnSpc>
          </a:pPr>
          <a:r>
            <a:rPr lang="en-US"/>
            <a:t>2. Category &amp; locale resolution</a:t>
          </a:r>
        </a:p>
      </dgm:t>
    </dgm:pt>
    <dgm:pt modelId="{775D8A8A-2E8D-4832-92E8-0AB26D687C80}" type="parTrans" cxnId="{AC30D2C6-E7C9-4D69-B091-196662ECD9D5}">
      <dgm:prSet/>
      <dgm:spPr/>
      <dgm:t>
        <a:bodyPr/>
        <a:lstStyle/>
        <a:p>
          <a:endParaRPr lang="en-US"/>
        </a:p>
      </dgm:t>
    </dgm:pt>
    <dgm:pt modelId="{C1C491C6-DB50-42FB-9BB4-9A5D35B6C6F0}" type="sibTrans" cxnId="{AC30D2C6-E7C9-4D69-B091-196662ECD9D5}">
      <dgm:prSet/>
      <dgm:spPr/>
      <dgm:t>
        <a:bodyPr/>
        <a:lstStyle/>
        <a:p>
          <a:endParaRPr lang="en-US"/>
        </a:p>
      </dgm:t>
    </dgm:pt>
    <dgm:pt modelId="{F3992FC7-2F84-4FD4-A8E1-310F98751AE0}">
      <dgm:prSet/>
      <dgm:spPr/>
      <dgm:t>
        <a:bodyPr/>
        <a:lstStyle/>
        <a:p>
          <a:pPr>
            <a:lnSpc>
              <a:spcPct val="100000"/>
            </a:lnSpc>
          </a:pPr>
          <a:r>
            <a:rPr lang="en-US"/>
            <a:t>3. Metric selection</a:t>
          </a:r>
        </a:p>
      </dgm:t>
    </dgm:pt>
    <dgm:pt modelId="{1864A9C2-927E-44E1-8AE2-9FE6EE6E0079}" type="parTrans" cxnId="{4F95D1F2-A12C-4AE6-B6F2-2049567BF5DD}">
      <dgm:prSet/>
      <dgm:spPr/>
      <dgm:t>
        <a:bodyPr/>
        <a:lstStyle/>
        <a:p>
          <a:endParaRPr lang="en-US"/>
        </a:p>
      </dgm:t>
    </dgm:pt>
    <dgm:pt modelId="{853DDCAF-31AA-4959-950E-1AFE07C4AE12}" type="sibTrans" cxnId="{4F95D1F2-A12C-4AE6-B6F2-2049567BF5DD}">
      <dgm:prSet/>
      <dgm:spPr/>
      <dgm:t>
        <a:bodyPr/>
        <a:lstStyle/>
        <a:p>
          <a:endParaRPr lang="en-US"/>
        </a:p>
      </dgm:t>
    </dgm:pt>
    <dgm:pt modelId="{C77FFE2E-4AF9-4309-98E7-DA2AB39D22A6}">
      <dgm:prSet/>
      <dgm:spPr/>
      <dgm:t>
        <a:bodyPr/>
        <a:lstStyle/>
        <a:p>
          <a:pPr>
            <a:lnSpc>
              <a:spcPct val="100000"/>
            </a:lnSpc>
          </a:pPr>
          <a:r>
            <a:rPr lang="en-US"/>
            <a:t>4. RAI injection</a:t>
          </a:r>
        </a:p>
      </dgm:t>
    </dgm:pt>
    <dgm:pt modelId="{0F673A4B-21E1-48E3-B2FC-A9B19B08EC9F}" type="parTrans" cxnId="{391945F4-336F-436D-9204-003B05F19A8E}">
      <dgm:prSet/>
      <dgm:spPr/>
      <dgm:t>
        <a:bodyPr/>
        <a:lstStyle/>
        <a:p>
          <a:endParaRPr lang="en-US"/>
        </a:p>
      </dgm:t>
    </dgm:pt>
    <dgm:pt modelId="{9D3FEFC9-E86F-42D8-B50B-41FE379CD0A0}" type="sibTrans" cxnId="{391945F4-336F-436D-9204-003B05F19A8E}">
      <dgm:prSet/>
      <dgm:spPr/>
      <dgm:t>
        <a:bodyPr/>
        <a:lstStyle/>
        <a:p>
          <a:endParaRPr lang="en-US"/>
        </a:p>
      </dgm:t>
    </dgm:pt>
    <dgm:pt modelId="{0DCA6543-06DB-4429-B09F-30F80804A4EE}">
      <dgm:prSet/>
      <dgm:spPr/>
      <dgm:t>
        <a:bodyPr/>
        <a:lstStyle/>
        <a:p>
          <a:pPr>
            <a:lnSpc>
              <a:spcPct val="100000"/>
            </a:lnSpc>
          </a:pPr>
          <a:r>
            <a:rPr lang="en-US"/>
            <a:t>5. Template instantiation</a:t>
          </a:r>
        </a:p>
      </dgm:t>
    </dgm:pt>
    <dgm:pt modelId="{C39C8479-E9C0-441A-B48A-8FE510A7C378}" type="parTrans" cxnId="{9BD13FD9-EBE3-4BB3-B95B-0C492B920550}">
      <dgm:prSet/>
      <dgm:spPr/>
      <dgm:t>
        <a:bodyPr/>
        <a:lstStyle/>
        <a:p>
          <a:endParaRPr lang="en-US"/>
        </a:p>
      </dgm:t>
    </dgm:pt>
    <dgm:pt modelId="{71C4CE8C-1ADE-4DD4-9325-32976867B50F}" type="sibTrans" cxnId="{9BD13FD9-EBE3-4BB3-B95B-0C492B920550}">
      <dgm:prSet/>
      <dgm:spPr/>
      <dgm:t>
        <a:bodyPr/>
        <a:lstStyle/>
        <a:p>
          <a:endParaRPr lang="en-US"/>
        </a:p>
      </dgm:t>
    </dgm:pt>
    <dgm:pt modelId="{8A888386-ED1E-4D8C-ADAF-739873B3B1B1}">
      <dgm:prSet/>
      <dgm:spPr/>
      <dgm:t>
        <a:bodyPr/>
        <a:lstStyle/>
        <a:p>
          <a:pPr>
            <a:lnSpc>
              <a:spcPct val="100000"/>
            </a:lnSpc>
          </a:pPr>
          <a:r>
            <a:rPr lang="en-US"/>
            <a:t>6. JSON‑structured output</a:t>
          </a:r>
        </a:p>
      </dgm:t>
    </dgm:pt>
    <dgm:pt modelId="{4101A4AD-01A7-449C-A69E-D42A992DA7DC}" type="parTrans" cxnId="{09C45CA6-963B-4059-AADD-125ADCE72208}">
      <dgm:prSet/>
      <dgm:spPr/>
      <dgm:t>
        <a:bodyPr/>
        <a:lstStyle/>
        <a:p>
          <a:endParaRPr lang="en-US"/>
        </a:p>
      </dgm:t>
    </dgm:pt>
    <dgm:pt modelId="{D68C9B86-CE32-445B-B7BA-06F9816DE962}" type="sibTrans" cxnId="{09C45CA6-963B-4059-AADD-125ADCE72208}">
      <dgm:prSet/>
      <dgm:spPr/>
      <dgm:t>
        <a:bodyPr/>
        <a:lstStyle/>
        <a:p>
          <a:endParaRPr lang="en-US"/>
        </a:p>
      </dgm:t>
    </dgm:pt>
    <dgm:pt modelId="{BFEAE0CE-B48E-45B9-B467-9C15A0F97526}" type="pres">
      <dgm:prSet presAssocID="{3B4F728A-8DC2-41ED-85EE-47D07208DCF3}" presName="root" presStyleCnt="0">
        <dgm:presLayoutVars>
          <dgm:dir/>
          <dgm:resizeHandles val="exact"/>
        </dgm:presLayoutVars>
      </dgm:prSet>
      <dgm:spPr/>
    </dgm:pt>
    <dgm:pt modelId="{6704D716-1B6E-4B56-941C-E89F13D96A38}" type="pres">
      <dgm:prSet presAssocID="{D6292B33-1CBC-462D-843C-DA1CFE13FF82}" presName="compNode" presStyleCnt="0"/>
      <dgm:spPr/>
    </dgm:pt>
    <dgm:pt modelId="{CB28507A-C2F7-45D5-8E32-8EE614F79EF4}" type="pres">
      <dgm:prSet presAssocID="{D6292B33-1CBC-462D-843C-DA1CFE13FF82}"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C55FBF2E-B089-41F9-A7F5-7865513E24F7}" type="pres">
      <dgm:prSet presAssocID="{D6292B33-1CBC-462D-843C-DA1CFE13FF82}" presName="spaceRect" presStyleCnt="0"/>
      <dgm:spPr/>
    </dgm:pt>
    <dgm:pt modelId="{7051C0D6-D0BC-4687-B387-5E7AB81ECD45}" type="pres">
      <dgm:prSet presAssocID="{D6292B33-1CBC-462D-843C-DA1CFE13FF82}" presName="textRect" presStyleLbl="revTx" presStyleIdx="0" presStyleCnt="6">
        <dgm:presLayoutVars>
          <dgm:chMax val="1"/>
          <dgm:chPref val="1"/>
        </dgm:presLayoutVars>
      </dgm:prSet>
      <dgm:spPr/>
    </dgm:pt>
    <dgm:pt modelId="{A1ABE033-ED99-4A45-B38E-24498598CEA1}" type="pres">
      <dgm:prSet presAssocID="{E5B47695-5DEE-4B05-883D-9DABF7B3F7A3}" presName="sibTrans" presStyleCnt="0"/>
      <dgm:spPr/>
    </dgm:pt>
    <dgm:pt modelId="{74729B2D-7BE9-4F16-BB18-F799A0E4AF98}" type="pres">
      <dgm:prSet presAssocID="{94B0EBE2-ECB6-469E-8FCC-75CCB1970079}" presName="compNode" presStyleCnt="0"/>
      <dgm:spPr/>
    </dgm:pt>
    <dgm:pt modelId="{6D2BA5C8-C0DE-441A-8607-31BB74F164F9}" type="pres">
      <dgm:prSet presAssocID="{94B0EBE2-ECB6-469E-8FCC-75CCB1970079}"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3279BE9A-3EEF-41F1-A697-3EBEDFBB8EB8}" type="pres">
      <dgm:prSet presAssocID="{94B0EBE2-ECB6-469E-8FCC-75CCB1970079}" presName="spaceRect" presStyleCnt="0"/>
      <dgm:spPr/>
    </dgm:pt>
    <dgm:pt modelId="{AE1B6E37-8CC6-40FF-9C8E-B7AA54E95616}" type="pres">
      <dgm:prSet presAssocID="{94B0EBE2-ECB6-469E-8FCC-75CCB1970079}" presName="textRect" presStyleLbl="revTx" presStyleIdx="1" presStyleCnt="6">
        <dgm:presLayoutVars>
          <dgm:chMax val="1"/>
          <dgm:chPref val="1"/>
        </dgm:presLayoutVars>
      </dgm:prSet>
      <dgm:spPr/>
    </dgm:pt>
    <dgm:pt modelId="{B0D63559-EE91-4FC2-9B34-1474C6BACDC2}" type="pres">
      <dgm:prSet presAssocID="{C1C491C6-DB50-42FB-9BB4-9A5D35B6C6F0}" presName="sibTrans" presStyleCnt="0"/>
      <dgm:spPr/>
    </dgm:pt>
    <dgm:pt modelId="{08959BA4-8E93-423C-916D-ABFF170B050B}" type="pres">
      <dgm:prSet presAssocID="{F3992FC7-2F84-4FD4-A8E1-310F98751AE0}" presName="compNode" presStyleCnt="0"/>
      <dgm:spPr/>
    </dgm:pt>
    <dgm:pt modelId="{AA164247-E284-4C67-89DC-A2CABCF83980}" type="pres">
      <dgm:prSet presAssocID="{F3992FC7-2F84-4FD4-A8E1-310F98751AE0}"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humbs Up Sign"/>
        </a:ext>
      </dgm:extLst>
    </dgm:pt>
    <dgm:pt modelId="{24EB4B96-33E7-4B7D-8947-5C8122D167BD}" type="pres">
      <dgm:prSet presAssocID="{F3992FC7-2F84-4FD4-A8E1-310F98751AE0}" presName="spaceRect" presStyleCnt="0"/>
      <dgm:spPr/>
    </dgm:pt>
    <dgm:pt modelId="{89C10F58-25B6-477D-9DB7-F045CB59D0D3}" type="pres">
      <dgm:prSet presAssocID="{F3992FC7-2F84-4FD4-A8E1-310F98751AE0}" presName="textRect" presStyleLbl="revTx" presStyleIdx="2" presStyleCnt="6">
        <dgm:presLayoutVars>
          <dgm:chMax val="1"/>
          <dgm:chPref val="1"/>
        </dgm:presLayoutVars>
      </dgm:prSet>
      <dgm:spPr/>
    </dgm:pt>
    <dgm:pt modelId="{FD436CC3-E00A-451A-B6C0-5A30DBB14067}" type="pres">
      <dgm:prSet presAssocID="{853DDCAF-31AA-4959-950E-1AFE07C4AE12}" presName="sibTrans" presStyleCnt="0"/>
      <dgm:spPr/>
    </dgm:pt>
    <dgm:pt modelId="{A4656D0E-ED21-4BEF-A05E-4F280115D24E}" type="pres">
      <dgm:prSet presAssocID="{C77FFE2E-4AF9-4309-98E7-DA2AB39D22A6}" presName="compNode" presStyleCnt="0"/>
      <dgm:spPr/>
    </dgm:pt>
    <dgm:pt modelId="{DBFA928C-DE68-403C-B8FF-998504E9BC6C}" type="pres">
      <dgm:prSet presAssocID="{C77FFE2E-4AF9-4309-98E7-DA2AB39D22A6}"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Needle"/>
        </a:ext>
      </dgm:extLst>
    </dgm:pt>
    <dgm:pt modelId="{5A64D191-85D9-4FFA-9CA5-C11A8525DD9A}" type="pres">
      <dgm:prSet presAssocID="{C77FFE2E-4AF9-4309-98E7-DA2AB39D22A6}" presName="spaceRect" presStyleCnt="0"/>
      <dgm:spPr/>
    </dgm:pt>
    <dgm:pt modelId="{242766DA-2DD0-4653-AF17-4771E03151F3}" type="pres">
      <dgm:prSet presAssocID="{C77FFE2E-4AF9-4309-98E7-DA2AB39D22A6}" presName="textRect" presStyleLbl="revTx" presStyleIdx="3" presStyleCnt="6">
        <dgm:presLayoutVars>
          <dgm:chMax val="1"/>
          <dgm:chPref val="1"/>
        </dgm:presLayoutVars>
      </dgm:prSet>
      <dgm:spPr/>
    </dgm:pt>
    <dgm:pt modelId="{12B61AE2-657B-4E29-BE9F-7E4D0602F4DE}" type="pres">
      <dgm:prSet presAssocID="{9D3FEFC9-E86F-42D8-B50B-41FE379CD0A0}" presName="sibTrans" presStyleCnt="0"/>
      <dgm:spPr/>
    </dgm:pt>
    <dgm:pt modelId="{219A6F4E-717E-4BB0-8EE6-B5CF9BEFE4FC}" type="pres">
      <dgm:prSet presAssocID="{0DCA6543-06DB-4429-B09F-30F80804A4EE}" presName="compNode" presStyleCnt="0"/>
      <dgm:spPr/>
    </dgm:pt>
    <dgm:pt modelId="{0AFD1ABC-1F88-43EE-BB17-0D90C6C3B60F}" type="pres">
      <dgm:prSet presAssocID="{0DCA6543-06DB-4429-B09F-30F80804A4EE}"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ocument"/>
        </a:ext>
      </dgm:extLst>
    </dgm:pt>
    <dgm:pt modelId="{6C123497-D64F-4015-9E32-259F91788758}" type="pres">
      <dgm:prSet presAssocID="{0DCA6543-06DB-4429-B09F-30F80804A4EE}" presName="spaceRect" presStyleCnt="0"/>
      <dgm:spPr/>
    </dgm:pt>
    <dgm:pt modelId="{174DBB4C-E3A5-4D1C-9B67-7867C3D6DDD1}" type="pres">
      <dgm:prSet presAssocID="{0DCA6543-06DB-4429-B09F-30F80804A4EE}" presName="textRect" presStyleLbl="revTx" presStyleIdx="4" presStyleCnt="6">
        <dgm:presLayoutVars>
          <dgm:chMax val="1"/>
          <dgm:chPref val="1"/>
        </dgm:presLayoutVars>
      </dgm:prSet>
      <dgm:spPr/>
    </dgm:pt>
    <dgm:pt modelId="{0655FF7E-F7E9-443A-AA89-B91DB77E1C4A}" type="pres">
      <dgm:prSet presAssocID="{71C4CE8C-1ADE-4DD4-9325-32976867B50F}" presName="sibTrans" presStyleCnt="0"/>
      <dgm:spPr/>
    </dgm:pt>
    <dgm:pt modelId="{72312B85-81C9-4356-BE61-09075F3FD746}" type="pres">
      <dgm:prSet presAssocID="{8A888386-ED1E-4D8C-ADAF-739873B3B1B1}" presName="compNode" presStyleCnt="0"/>
      <dgm:spPr/>
    </dgm:pt>
    <dgm:pt modelId="{0F9596E3-C42B-4022-B3F7-C1DF3BCCCC9E}" type="pres">
      <dgm:prSet presAssocID="{8A888386-ED1E-4D8C-ADAF-739873B3B1B1}"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Hierarchy"/>
        </a:ext>
      </dgm:extLst>
    </dgm:pt>
    <dgm:pt modelId="{41D02ACB-334B-4C9B-B319-283C7026BE66}" type="pres">
      <dgm:prSet presAssocID="{8A888386-ED1E-4D8C-ADAF-739873B3B1B1}" presName="spaceRect" presStyleCnt="0"/>
      <dgm:spPr/>
    </dgm:pt>
    <dgm:pt modelId="{88A61EA2-3A1A-43FD-A66F-E0C9A7813A3E}" type="pres">
      <dgm:prSet presAssocID="{8A888386-ED1E-4D8C-ADAF-739873B3B1B1}" presName="textRect" presStyleLbl="revTx" presStyleIdx="5" presStyleCnt="6">
        <dgm:presLayoutVars>
          <dgm:chMax val="1"/>
          <dgm:chPref val="1"/>
        </dgm:presLayoutVars>
      </dgm:prSet>
      <dgm:spPr/>
    </dgm:pt>
  </dgm:ptLst>
  <dgm:cxnLst>
    <dgm:cxn modelId="{14E04500-E508-4A09-8133-EEF7FD0D77BF}" type="presOf" srcId="{8A888386-ED1E-4D8C-ADAF-739873B3B1B1}" destId="{88A61EA2-3A1A-43FD-A66F-E0C9A7813A3E}" srcOrd="0" destOrd="0" presId="urn:microsoft.com/office/officeart/2018/2/layout/IconLabelList"/>
    <dgm:cxn modelId="{F2F6BB17-DF18-4A47-9BE3-D474F79E4AEC}" type="presOf" srcId="{D6292B33-1CBC-462D-843C-DA1CFE13FF82}" destId="{7051C0D6-D0BC-4687-B387-5E7AB81ECD45}" srcOrd="0" destOrd="0" presId="urn:microsoft.com/office/officeart/2018/2/layout/IconLabelList"/>
    <dgm:cxn modelId="{10C6F683-CFC2-4019-B590-6211C09060E9}" type="presOf" srcId="{0DCA6543-06DB-4429-B09F-30F80804A4EE}" destId="{174DBB4C-E3A5-4D1C-9B67-7867C3D6DDD1}" srcOrd="0" destOrd="0" presId="urn:microsoft.com/office/officeart/2018/2/layout/IconLabelList"/>
    <dgm:cxn modelId="{F661E48E-5C4E-42CF-A9D0-D3889C27368B}" type="presOf" srcId="{C77FFE2E-4AF9-4309-98E7-DA2AB39D22A6}" destId="{242766DA-2DD0-4653-AF17-4771E03151F3}" srcOrd="0" destOrd="0" presId="urn:microsoft.com/office/officeart/2018/2/layout/IconLabelList"/>
    <dgm:cxn modelId="{09C45CA6-963B-4059-AADD-125ADCE72208}" srcId="{3B4F728A-8DC2-41ED-85EE-47D07208DCF3}" destId="{8A888386-ED1E-4D8C-ADAF-739873B3B1B1}" srcOrd="5" destOrd="0" parTransId="{4101A4AD-01A7-449C-A69E-D42A992DA7DC}" sibTransId="{D68C9B86-CE32-445B-B7BA-06F9816DE962}"/>
    <dgm:cxn modelId="{A79455A8-DA64-4D62-8C19-96A4D351F08C}" type="presOf" srcId="{3B4F728A-8DC2-41ED-85EE-47D07208DCF3}" destId="{BFEAE0CE-B48E-45B9-B467-9C15A0F97526}" srcOrd="0" destOrd="0" presId="urn:microsoft.com/office/officeart/2018/2/layout/IconLabelList"/>
    <dgm:cxn modelId="{AC30D2C6-E7C9-4D69-B091-196662ECD9D5}" srcId="{3B4F728A-8DC2-41ED-85EE-47D07208DCF3}" destId="{94B0EBE2-ECB6-469E-8FCC-75CCB1970079}" srcOrd="1" destOrd="0" parTransId="{775D8A8A-2E8D-4832-92E8-0AB26D687C80}" sibTransId="{C1C491C6-DB50-42FB-9BB4-9A5D35B6C6F0}"/>
    <dgm:cxn modelId="{9BD13FD9-EBE3-4BB3-B95B-0C492B920550}" srcId="{3B4F728A-8DC2-41ED-85EE-47D07208DCF3}" destId="{0DCA6543-06DB-4429-B09F-30F80804A4EE}" srcOrd="4" destOrd="0" parTransId="{C39C8479-E9C0-441A-B48A-8FE510A7C378}" sibTransId="{71C4CE8C-1ADE-4DD4-9325-32976867B50F}"/>
    <dgm:cxn modelId="{A7AD0EDA-7CDA-4424-8132-C988D774DAA4}" type="presOf" srcId="{94B0EBE2-ECB6-469E-8FCC-75CCB1970079}" destId="{AE1B6E37-8CC6-40FF-9C8E-B7AA54E95616}" srcOrd="0" destOrd="0" presId="urn:microsoft.com/office/officeart/2018/2/layout/IconLabelList"/>
    <dgm:cxn modelId="{0879A2DA-43A2-4D8D-97D0-1F9146E6D4C5}" srcId="{3B4F728A-8DC2-41ED-85EE-47D07208DCF3}" destId="{D6292B33-1CBC-462D-843C-DA1CFE13FF82}" srcOrd="0" destOrd="0" parTransId="{51443F46-76F9-4013-A0B8-5CFADD7C0063}" sibTransId="{E5B47695-5DEE-4B05-883D-9DABF7B3F7A3}"/>
    <dgm:cxn modelId="{888DDAE9-B636-4CE0-AC6D-D5D00C77B61E}" type="presOf" srcId="{F3992FC7-2F84-4FD4-A8E1-310F98751AE0}" destId="{89C10F58-25B6-477D-9DB7-F045CB59D0D3}" srcOrd="0" destOrd="0" presId="urn:microsoft.com/office/officeart/2018/2/layout/IconLabelList"/>
    <dgm:cxn modelId="{4F95D1F2-A12C-4AE6-B6F2-2049567BF5DD}" srcId="{3B4F728A-8DC2-41ED-85EE-47D07208DCF3}" destId="{F3992FC7-2F84-4FD4-A8E1-310F98751AE0}" srcOrd="2" destOrd="0" parTransId="{1864A9C2-927E-44E1-8AE2-9FE6EE6E0079}" sibTransId="{853DDCAF-31AA-4959-950E-1AFE07C4AE12}"/>
    <dgm:cxn modelId="{391945F4-336F-436D-9204-003B05F19A8E}" srcId="{3B4F728A-8DC2-41ED-85EE-47D07208DCF3}" destId="{C77FFE2E-4AF9-4309-98E7-DA2AB39D22A6}" srcOrd="3" destOrd="0" parTransId="{0F673A4B-21E1-48E3-B2FC-A9B19B08EC9F}" sibTransId="{9D3FEFC9-E86F-42D8-B50B-41FE379CD0A0}"/>
    <dgm:cxn modelId="{E05C8AA5-D31D-4B95-9AFD-84E90C0DA9D9}" type="presParOf" srcId="{BFEAE0CE-B48E-45B9-B467-9C15A0F97526}" destId="{6704D716-1B6E-4B56-941C-E89F13D96A38}" srcOrd="0" destOrd="0" presId="urn:microsoft.com/office/officeart/2018/2/layout/IconLabelList"/>
    <dgm:cxn modelId="{56E68B01-CB25-42D9-8745-3593FE1779D8}" type="presParOf" srcId="{6704D716-1B6E-4B56-941C-E89F13D96A38}" destId="{CB28507A-C2F7-45D5-8E32-8EE614F79EF4}" srcOrd="0" destOrd="0" presId="urn:microsoft.com/office/officeart/2018/2/layout/IconLabelList"/>
    <dgm:cxn modelId="{C64B4E9F-E00C-4C00-BA32-2C7CD9F1D99F}" type="presParOf" srcId="{6704D716-1B6E-4B56-941C-E89F13D96A38}" destId="{C55FBF2E-B089-41F9-A7F5-7865513E24F7}" srcOrd="1" destOrd="0" presId="urn:microsoft.com/office/officeart/2018/2/layout/IconLabelList"/>
    <dgm:cxn modelId="{CFEE2E2B-7883-48CE-A8F2-1B8B088F21DE}" type="presParOf" srcId="{6704D716-1B6E-4B56-941C-E89F13D96A38}" destId="{7051C0D6-D0BC-4687-B387-5E7AB81ECD45}" srcOrd="2" destOrd="0" presId="urn:microsoft.com/office/officeart/2018/2/layout/IconLabelList"/>
    <dgm:cxn modelId="{0B8823F9-3CC1-4C18-AE74-795A4782781D}" type="presParOf" srcId="{BFEAE0CE-B48E-45B9-B467-9C15A0F97526}" destId="{A1ABE033-ED99-4A45-B38E-24498598CEA1}" srcOrd="1" destOrd="0" presId="urn:microsoft.com/office/officeart/2018/2/layout/IconLabelList"/>
    <dgm:cxn modelId="{63F42368-59E0-4141-9017-157C7F9762C5}" type="presParOf" srcId="{BFEAE0CE-B48E-45B9-B467-9C15A0F97526}" destId="{74729B2D-7BE9-4F16-BB18-F799A0E4AF98}" srcOrd="2" destOrd="0" presId="urn:microsoft.com/office/officeart/2018/2/layout/IconLabelList"/>
    <dgm:cxn modelId="{0AB26911-A75A-40E2-BE16-60F02D366B48}" type="presParOf" srcId="{74729B2D-7BE9-4F16-BB18-F799A0E4AF98}" destId="{6D2BA5C8-C0DE-441A-8607-31BB74F164F9}" srcOrd="0" destOrd="0" presId="urn:microsoft.com/office/officeart/2018/2/layout/IconLabelList"/>
    <dgm:cxn modelId="{47ABCD79-AF8F-45A4-A862-7689AA205643}" type="presParOf" srcId="{74729B2D-7BE9-4F16-BB18-F799A0E4AF98}" destId="{3279BE9A-3EEF-41F1-A697-3EBEDFBB8EB8}" srcOrd="1" destOrd="0" presId="urn:microsoft.com/office/officeart/2018/2/layout/IconLabelList"/>
    <dgm:cxn modelId="{05C7D00A-E993-49B2-B197-95A6CABE282D}" type="presParOf" srcId="{74729B2D-7BE9-4F16-BB18-F799A0E4AF98}" destId="{AE1B6E37-8CC6-40FF-9C8E-B7AA54E95616}" srcOrd="2" destOrd="0" presId="urn:microsoft.com/office/officeart/2018/2/layout/IconLabelList"/>
    <dgm:cxn modelId="{BF2506AD-C37F-4B70-AF50-EF48E93C90B0}" type="presParOf" srcId="{BFEAE0CE-B48E-45B9-B467-9C15A0F97526}" destId="{B0D63559-EE91-4FC2-9B34-1474C6BACDC2}" srcOrd="3" destOrd="0" presId="urn:microsoft.com/office/officeart/2018/2/layout/IconLabelList"/>
    <dgm:cxn modelId="{F9175183-30AF-4726-91D0-FD08E1F97446}" type="presParOf" srcId="{BFEAE0CE-B48E-45B9-B467-9C15A0F97526}" destId="{08959BA4-8E93-423C-916D-ABFF170B050B}" srcOrd="4" destOrd="0" presId="urn:microsoft.com/office/officeart/2018/2/layout/IconLabelList"/>
    <dgm:cxn modelId="{FD2FE57C-60E0-406C-8005-269D6F425D16}" type="presParOf" srcId="{08959BA4-8E93-423C-916D-ABFF170B050B}" destId="{AA164247-E284-4C67-89DC-A2CABCF83980}" srcOrd="0" destOrd="0" presId="urn:microsoft.com/office/officeart/2018/2/layout/IconLabelList"/>
    <dgm:cxn modelId="{129925CD-055F-4069-94F5-C82473C365A9}" type="presParOf" srcId="{08959BA4-8E93-423C-916D-ABFF170B050B}" destId="{24EB4B96-33E7-4B7D-8947-5C8122D167BD}" srcOrd="1" destOrd="0" presId="urn:microsoft.com/office/officeart/2018/2/layout/IconLabelList"/>
    <dgm:cxn modelId="{2176DF50-845A-4E9D-AFF9-4913379E683C}" type="presParOf" srcId="{08959BA4-8E93-423C-916D-ABFF170B050B}" destId="{89C10F58-25B6-477D-9DB7-F045CB59D0D3}" srcOrd="2" destOrd="0" presId="urn:microsoft.com/office/officeart/2018/2/layout/IconLabelList"/>
    <dgm:cxn modelId="{182AE809-D8E6-49AA-8C63-33B79737AF27}" type="presParOf" srcId="{BFEAE0CE-B48E-45B9-B467-9C15A0F97526}" destId="{FD436CC3-E00A-451A-B6C0-5A30DBB14067}" srcOrd="5" destOrd="0" presId="urn:microsoft.com/office/officeart/2018/2/layout/IconLabelList"/>
    <dgm:cxn modelId="{6861B7FF-CA83-4E9C-8E4A-D821398E953B}" type="presParOf" srcId="{BFEAE0CE-B48E-45B9-B467-9C15A0F97526}" destId="{A4656D0E-ED21-4BEF-A05E-4F280115D24E}" srcOrd="6" destOrd="0" presId="urn:microsoft.com/office/officeart/2018/2/layout/IconLabelList"/>
    <dgm:cxn modelId="{4E6E8884-DD2C-4369-A98D-39633B0FED12}" type="presParOf" srcId="{A4656D0E-ED21-4BEF-A05E-4F280115D24E}" destId="{DBFA928C-DE68-403C-B8FF-998504E9BC6C}" srcOrd="0" destOrd="0" presId="urn:microsoft.com/office/officeart/2018/2/layout/IconLabelList"/>
    <dgm:cxn modelId="{D2984075-6EDE-468C-AC35-1754B6079C24}" type="presParOf" srcId="{A4656D0E-ED21-4BEF-A05E-4F280115D24E}" destId="{5A64D191-85D9-4FFA-9CA5-C11A8525DD9A}" srcOrd="1" destOrd="0" presId="urn:microsoft.com/office/officeart/2018/2/layout/IconLabelList"/>
    <dgm:cxn modelId="{FF30C231-717E-4DA1-9878-1A25F4BF0FC7}" type="presParOf" srcId="{A4656D0E-ED21-4BEF-A05E-4F280115D24E}" destId="{242766DA-2DD0-4653-AF17-4771E03151F3}" srcOrd="2" destOrd="0" presId="urn:microsoft.com/office/officeart/2018/2/layout/IconLabelList"/>
    <dgm:cxn modelId="{60B7A4F9-DA5C-43B1-91D7-7F091E04B86B}" type="presParOf" srcId="{BFEAE0CE-B48E-45B9-B467-9C15A0F97526}" destId="{12B61AE2-657B-4E29-BE9F-7E4D0602F4DE}" srcOrd="7" destOrd="0" presId="urn:microsoft.com/office/officeart/2018/2/layout/IconLabelList"/>
    <dgm:cxn modelId="{53A97265-694A-447E-9B3C-2AE160ED919B}" type="presParOf" srcId="{BFEAE0CE-B48E-45B9-B467-9C15A0F97526}" destId="{219A6F4E-717E-4BB0-8EE6-B5CF9BEFE4FC}" srcOrd="8" destOrd="0" presId="urn:microsoft.com/office/officeart/2018/2/layout/IconLabelList"/>
    <dgm:cxn modelId="{ADB49690-DBDE-42C8-8E99-641F593A884D}" type="presParOf" srcId="{219A6F4E-717E-4BB0-8EE6-B5CF9BEFE4FC}" destId="{0AFD1ABC-1F88-43EE-BB17-0D90C6C3B60F}" srcOrd="0" destOrd="0" presId="urn:microsoft.com/office/officeart/2018/2/layout/IconLabelList"/>
    <dgm:cxn modelId="{4DEE6584-173B-4CE2-BB66-68A06EA8FFDA}" type="presParOf" srcId="{219A6F4E-717E-4BB0-8EE6-B5CF9BEFE4FC}" destId="{6C123497-D64F-4015-9E32-259F91788758}" srcOrd="1" destOrd="0" presId="urn:microsoft.com/office/officeart/2018/2/layout/IconLabelList"/>
    <dgm:cxn modelId="{75109E4D-79AA-400F-BA4E-4AE96D3A969B}" type="presParOf" srcId="{219A6F4E-717E-4BB0-8EE6-B5CF9BEFE4FC}" destId="{174DBB4C-E3A5-4D1C-9B67-7867C3D6DDD1}" srcOrd="2" destOrd="0" presId="urn:microsoft.com/office/officeart/2018/2/layout/IconLabelList"/>
    <dgm:cxn modelId="{F8900D56-045C-4958-96BF-ECC96DAC8AAF}" type="presParOf" srcId="{BFEAE0CE-B48E-45B9-B467-9C15A0F97526}" destId="{0655FF7E-F7E9-443A-AA89-B91DB77E1C4A}" srcOrd="9" destOrd="0" presId="urn:microsoft.com/office/officeart/2018/2/layout/IconLabelList"/>
    <dgm:cxn modelId="{A015C9F2-8726-4B2E-9647-0A6BB6D9A636}" type="presParOf" srcId="{BFEAE0CE-B48E-45B9-B467-9C15A0F97526}" destId="{72312B85-81C9-4356-BE61-09075F3FD746}" srcOrd="10" destOrd="0" presId="urn:microsoft.com/office/officeart/2018/2/layout/IconLabelList"/>
    <dgm:cxn modelId="{78EC13A0-F80A-4606-9904-7D22E0BED572}" type="presParOf" srcId="{72312B85-81C9-4356-BE61-09075F3FD746}" destId="{0F9596E3-C42B-4022-B3F7-C1DF3BCCCC9E}" srcOrd="0" destOrd="0" presId="urn:microsoft.com/office/officeart/2018/2/layout/IconLabelList"/>
    <dgm:cxn modelId="{EF4EEAF4-9C5B-4B2C-8E0A-A86E526782BF}" type="presParOf" srcId="{72312B85-81C9-4356-BE61-09075F3FD746}" destId="{41D02ACB-334B-4C9B-B319-283C7026BE66}" srcOrd="1" destOrd="0" presId="urn:microsoft.com/office/officeart/2018/2/layout/IconLabelList"/>
    <dgm:cxn modelId="{CD943E9D-49FB-4235-9BC4-1A34129A71FA}" type="presParOf" srcId="{72312B85-81C9-4356-BE61-09075F3FD746}" destId="{88A61EA2-3A1A-43FD-A66F-E0C9A7813A3E}"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DDFC9E4-9C0E-4237-976E-B1E3EED85E47}"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ECFDB09F-056A-433C-A060-6D749879B037}">
      <dgm:prSet phldrT="[Text]"/>
      <dgm:spPr/>
      <dgm:t>
        <a:bodyPr/>
        <a:lstStyle/>
        <a:p>
          <a:r>
            <a:rPr lang="en-US" b="1" dirty="0"/>
            <a:t>What’s an AI agent:</a:t>
          </a:r>
          <a:endParaRPr lang="en-US" dirty="0"/>
        </a:p>
      </dgm:t>
    </dgm:pt>
    <dgm:pt modelId="{34D7D61D-3104-40E4-855B-9DAEE077F041}" type="parTrans" cxnId="{0FC55782-FAE5-435D-85A1-4B0C4B819840}">
      <dgm:prSet/>
      <dgm:spPr/>
      <dgm:t>
        <a:bodyPr/>
        <a:lstStyle/>
        <a:p>
          <a:endParaRPr lang="en-US"/>
        </a:p>
      </dgm:t>
    </dgm:pt>
    <dgm:pt modelId="{3F0CE18F-6FB5-4964-9136-6A552E7CC339}" type="sibTrans" cxnId="{0FC55782-FAE5-435D-85A1-4B0C4B819840}">
      <dgm:prSet/>
      <dgm:spPr/>
      <dgm:t>
        <a:bodyPr/>
        <a:lstStyle/>
        <a:p>
          <a:endParaRPr lang="en-US"/>
        </a:p>
      </dgm:t>
    </dgm:pt>
    <dgm:pt modelId="{019D0591-D325-485D-96A9-461EC3796FAF}">
      <dgm:prSet/>
      <dgm:spPr/>
      <dgm:t>
        <a:bodyPr/>
        <a:lstStyle/>
        <a:p>
          <a:r>
            <a:rPr lang="en-US" dirty="0"/>
            <a:t>An AI agent is a system that reasons, takes actions using tools, and adapts over time to achieve a goal.</a:t>
          </a:r>
        </a:p>
      </dgm:t>
    </dgm:pt>
    <dgm:pt modelId="{B3B73BBE-A36A-4754-9C8C-6388570C2D68}" type="parTrans" cxnId="{2E7B0C1F-D1CD-4A1C-8B7C-F44BDB5EFD32}">
      <dgm:prSet/>
      <dgm:spPr/>
      <dgm:t>
        <a:bodyPr/>
        <a:lstStyle/>
        <a:p>
          <a:endParaRPr lang="en-US"/>
        </a:p>
      </dgm:t>
    </dgm:pt>
    <dgm:pt modelId="{00D5AC9E-F6F8-4067-BA6B-8A8033F7F444}" type="sibTrans" cxnId="{2E7B0C1F-D1CD-4A1C-8B7C-F44BDB5EFD32}">
      <dgm:prSet/>
      <dgm:spPr/>
      <dgm:t>
        <a:bodyPr/>
        <a:lstStyle/>
        <a:p>
          <a:endParaRPr lang="en-US"/>
        </a:p>
      </dgm:t>
    </dgm:pt>
    <dgm:pt modelId="{B63B2AD2-A605-46BC-853B-924D252B0DED}">
      <dgm:prSet/>
      <dgm:spPr/>
      <dgm:t>
        <a:bodyPr/>
        <a:lstStyle/>
        <a:p>
          <a:r>
            <a:rPr lang="en-US" b="1"/>
            <a:t>Advantage of AI agent:</a:t>
          </a:r>
          <a:endParaRPr lang="en-US" b="1" dirty="0"/>
        </a:p>
      </dgm:t>
    </dgm:pt>
    <dgm:pt modelId="{C0568115-A6E0-487C-A767-9C676DCAEAA3}" type="parTrans" cxnId="{9337A70A-0BBA-4936-8F56-12EAEF18FB98}">
      <dgm:prSet/>
      <dgm:spPr/>
      <dgm:t>
        <a:bodyPr/>
        <a:lstStyle/>
        <a:p>
          <a:endParaRPr lang="en-US"/>
        </a:p>
      </dgm:t>
    </dgm:pt>
    <dgm:pt modelId="{9308D042-0F02-46AB-8293-000EC13208BC}" type="sibTrans" cxnId="{9337A70A-0BBA-4936-8F56-12EAEF18FB98}">
      <dgm:prSet/>
      <dgm:spPr/>
      <dgm:t>
        <a:bodyPr/>
        <a:lstStyle/>
        <a:p>
          <a:endParaRPr lang="en-US"/>
        </a:p>
      </dgm:t>
    </dgm:pt>
    <dgm:pt modelId="{97DA89B9-B393-4798-ADD7-880ECF40070E}">
      <dgm:prSet/>
      <dgm:spPr/>
      <dgm:t>
        <a:bodyPr/>
        <a:lstStyle/>
        <a:p>
          <a:r>
            <a:rPr lang="en-US" dirty="0"/>
            <a:t>Goal-directed autonomy</a:t>
          </a:r>
        </a:p>
      </dgm:t>
    </dgm:pt>
    <dgm:pt modelId="{4FF48227-2BBB-4985-BAAF-5DBFA377AA58}" type="parTrans" cxnId="{DD51319B-E1DD-41DA-B249-CD8F0D46A510}">
      <dgm:prSet/>
      <dgm:spPr/>
      <dgm:t>
        <a:bodyPr/>
        <a:lstStyle/>
        <a:p>
          <a:endParaRPr lang="en-US"/>
        </a:p>
      </dgm:t>
    </dgm:pt>
    <dgm:pt modelId="{588BD943-5DF8-4063-9C7D-9B651E36A27F}" type="sibTrans" cxnId="{DD51319B-E1DD-41DA-B249-CD8F0D46A510}">
      <dgm:prSet/>
      <dgm:spPr/>
      <dgm:t>
        <a:bodyPr/>
        <a:lstStyle/>
        <a:p>
          <a:endParaRPr lang="en-US"/>
        </a:p>
      </dgm:t>
    </dgm:pt>
    <dgm:pt modelId="{6302C3FD-E317-42F1-BA9E-B7537D4D412D}">
      <dgm:prSet/>
      <dgm:spPr/>
      <dgm:t>
        <a:bodyPr/>
        <a:lstStyle/>
        <a:p>
          <a:r>
            <a:rPr lang="en-US"/>
            <a:t>Reasoning + action loop</a:t>
          </a:r>
          <a:endParaRPr lang="en-US" dirty="0"/>
        </a:p>
      </dgm:t>
    </dgm:pt>
    <dgm:pt modelId="{8151D710-1F74-48D2-BCE6-3F7FA2E482A6}" type="parTrans" cxnId="{E6EF688A-FF20-4EAC-872D-E7F51F367D71}">
      <dgm:prSet/>
      <dgm:spPr/>
      <dgm:t>
        <a:bodyPr/>
        <a:lstStyle/>
        <a:p>
          <a:endParaRPr lang="en-US"/>
        </a:p>
      </dgm:t>
    </dgm:pt>
    <dgm:pt modelId="{CDD3402A-084F-41A9-8CE5-7E8BAF446B65}" type="sibTrans" cxnId="{E6EF688A-FF20-4EAC-872D-E7F51F367D71}">
      <dgm:prSet/>
      <dgm:spPr/>
      <dgm:t>
        <a:bodyPr/>
        <a:lstStyle/>
        <a:p>
          <a:endParaRPr lang="en-US"/>
        </a:p>
      </dgm:t>
    </dgm:pt>
    <dgm:pt modelId="{08E7241F-03CC-4985-B752-73E77991C53E}">
      <dgm:prSet/>
      <dgm:spPr/>
      <dgm:t>
        <a:bodyPr/>
        <a:lstStyle/>
        <a:p>
          <a:r>
            <a:rPr lang="en-US"/>
            <a:t>Tool use (beyond text generation)</a:t>
          </a:r>
          <a:endParaRPr lang="en-US" dirty="0"/>
        </a:p>
      </dgm:t>
    </dgm:pt>
    <dgm:pt modelId="{8A43D511-A485-4F75-BAC0-1BBD169B2F8A}" type="parTrans" cxnId="{21C40473-973C-47EA-8CA4-9331D0C3D552}">
      <dgm:prSet/>
      <dgm:spPr/>
      <dgm:t>
        <a:bodyPr/>
        <a:lstStyle/>
        <a:p>
          <a:endParaRPr lang="en-US"/>
        </a:p>
      </dgm:t>
    </dgm:pt>
    <dgm:pt modelId="{DBAFD62D-59AF-4671-9E8A-F8A8F9D7CE6E}" type="sibTrans" cxnId="{21C40473-973C-47EA-8CA4-9331D0C3D552}">
      <dgm:prSet/>
      <dgm:spPr/>
      <dgm:t>
        <a:bodyPr/>
        <a:lstStyle/>
        <a:p>
          <a:endParaRPr lang="en-US"/>
        </a:p>
      </dgm:t>
    </dgm:pt>
    <dgm:pt modelId="{CB06AA2B-B8B2-4474-86C6-189DC40D1981}">
      <dgm:prSet/>
      <dgm:spPr/>
      <dgm:t>
        <a:bodyPr/>
        <a:lstStyle/>
        <a:p>
          <a:r>
            <a:rPr lang="en-US"/>
            <a:t>State and memory</a:t>
          </a:r>
          <a:endParaRPr lang="en-US" dirty="0"/>
        </a:p>
      </dgm:t>
    </dgm:pt>
    <dgm:pt modelId="{8A98BF7A-676D-47C8-8507-56A5AA6C695D}" type="parTrans" cxnId="{0E73C0CF-A78A-41F7-948B-B0549FB1AE5C}">
      <dgm:prSet/>
      <dgm:spPr/>
      <dgm:t>
        <a:bodyPr/>
        <a:lstStyle/>
        <a:p>
          <a:endParaRPr lang="en-US"/>
        </a:p>
      </dgm:t>
    </dgm:pt>
    <dgm:pt modelId="{A87C2B14-F560-42C1-9CBC-43EAFA380CAF}" type="sibTrans" cxnId="{0E73C0CF-A78A-41F7-948B-B0549FB1AE5C}">
      <dgm:prSet/>
      <dgm:spPr/>
      <dgm:t>
        <a:bodyPr/>
        <a:lstStyle/>
        <a:p>
          <a:endParaRPr lang="en-US"/>
        </a:p>
      </dgm:t>
    </dgm:pt>
    <dgm:pt modelId="{C77E8F74-51F5-4DA6-8AF4-DD0FDCF9C2BD}">
      <dgm:prSet/>
      <dgm:spPr/>
      <dgm:t>
        <a:bodyPr/>
        <a:lstStyle/>
        <a:p>
          <a:r>
            <a:rPr lang="en-US"/>
            <a:t>Feedback-driven adaptation</a:t>
          </a:r>
          <a:endParaRPr lang="en-US" dirty="0"/>
        </a:p>
      </dgm:t>
    </dgm:pt>
    <dgm:pt modelId="{00CF3FCC-2C84-4FE3-B6FA-2FD712A925C8}" type="parTrans" cxnId="{312A1821-71A7-4FE0-BDF8-EA4A4D9701F6}">
      <dgm:prSet/>
      <dgm:spPr/>
      <dgm:t>
        <a:bodyPr/>
        <a:lstStyle/>
        <a:p>
          <a:endParaRPr lang="en-US"/>
        </a:p>
      </dgm:t>
    </dgm:pt>
    <dgm:pt modelId="{93E61099-73C4-4EE9-8DE7-21C79100C584}" type="sibTrans" cxnId="{312A1821-71A7-4FE0-BDF8-EA4A4D9701F6}">
      <dgm:prSet/>
      <dgm:spPr/>
      <dgm:t>
        <a:bodyPr/>
        <a:lstStyle/>
        <a:p>
          <a:endParaRPr lang="en-US"/>
        </a:p>
      </dgm:t>
    </dgm:pt>
    <dgm:pt modelId="{FE5053A4-DD6C-4BE2-A2E3-D8BE0EF76C7C}" type="pres">
      <dgm:prSet presAssocID="{0DDFC9E4-9C0E-4237-976E-B1E3EED85E47}" presName="diagram" presStyleCnt="0">
        <dgm:presLayoutVars>
          <dgm:dir/>
          <dgm:animLvl val="lvl"/>
          <dgm:resizeHandles val="exact"/>
        </dgm:presLayoutVars>
      </dgm:prSet>
      <dgm:spPr/>
    </dgm:pt>
    <dgm:pt modelId="{5ED7BA40-39C1-4511-BD0A-71E801A5E7F2}" type="pres">
      <dgm:prSet presAssocID="{ECFDB09F-056A-433C-A060-6D749879B037}" presName="compNode" presStyleCnt="0"/>
      <dgm:spPr/>
    </dgm:pt>
    <dgm:pt modelId="{78AAC944-E10C-4500-B5B3-091CDB487D29}" type="pres">
      <dgm:prSet presAssocID="{ECFDB09F-056A-433C-A060-6D749879B037}" presName="childRect" presStyleLbl="bgAcc1" presStyleIdx="0" presStyleCnt="2">
        <dgm:presLayoutVars>
          <dgm:bulletEnabled val="1"/>
        </dgm:presLayoutVars>
      </dgm:prSet>
      <dgm:spPr/>
    </dgm:pt>
    <dgm:pt modelId="{B0B448C5-0B98-418F-ACA4-47B623651627}" type="pres">
      <dgm:prSet presAssocID="{ECFDB09F-056A-433C-A060-6D749879B037}" presName="parentText" presStyleLbl="node1" presStyleIdx="0" presStyleCnt="0">
        <dgm:presLayoutVars>
          <dgm:chMax val="0"/>
          <dgm:bulletEnabled val="1"/>
        </dgm:presLayoutVars>
      </dgm:prSet>
      <dgm:spPr/>
    </dgm:pt>
    <dgm:pt modelId="{D39DC291-CC73-4939-8FE7-8E776DBD0E4C}" type="pres">
      <dgm:prSet presAssocID="{ECFDB09F-056A-433C-A060-6D749879B037}" presName="parentRect" presStyleLbl="alignNode1" presStyleIdx="0" presStyleCnt="2"/>
      <dgm:spPr/>
    </dgm:pt>
    <dgm:pt modelId="{F6B35B43-0A37-4E5E-AA61-D97184EE30A2}" type="pres">
      <dgm:prSet presAssocID="{ECFDB09F-056A-433C-A060-6D749879B037}" presName="adorn" presStyleLbl="fgAccFollowNode1" presStyleIdx="0" presStyleCnt="2"/>
      <dgm:spPr>
        <a:blipFill>
          <a:blip xmlns:r="http://schemas.openxmlformats.org/officeDocument/2006/relationships" r:embed="rId1"/>
          <a:srcRect/>
          <a:stretch>
            <a:fillRect l="-25000" r="-25000"/>
          </a:stretch>
        </a:blipFill>
      </dgm:spPr>
    </dgm:pt>
    <dgm:pt modelId="{5FF8CED5-0F3E-476E-8956-C3BDCBD71EA2}" type="pres">
      <dgm:prSet presAssocID="{3F0CE18F-6FB5-4964-9136-6A552E7CC339}" presName="sibTrans" presStyleLbl="sibTrans2D1" presStyleIdx="0" presStyleCnt="0"/>
      <dgm:spPr/>
    </dgm:pt>
    <dgm:pt modelId="{57418AA2-90A1-4E39-ABD0-3E22897DCCC4}" type="pres">
      <dgm:prSet presAssocID="{B63B2AD2-A605-46BC-853B-924D252B0DED}" presName="compNode" presStyleCnt="0"/>
      <dgm:spPr/>
    </dgm:pt>
    <dgm:pt modelId="{5C6CB774-49C3-4BEA-B6E1-93029EBB3ACF}" type="pres">
      <dgm:prSet presAssocID="{B63B2AD2-A605-46BC-853B-924D252B0DED}" presName="childRect" presStyleLbl="bgAcc1" presStyleIdx="1" presStyleCnt="2">
        <dgm:presLayoutVars>
          <dgm:bulletEnabled val="1"/>
        </dgm:presLayoutVars>
      </dgm:prSet>
      <dgm:spPr/>
    </dgm:pt>
    <dgm:pt modelId="{EEF58959-4799-4BE9-8C4B-21B20D3F919E}" type="pres">
      <dgm:prSet presAssocID="{B63B2AD2-A605-46BC-853B-924D252B0DED}" presName="parentText" presStyleLbl="node1" presStyleIdx="0" presStyleCnt="0">
        <dgm:presLayoutVars>
          <dgm:chMax val="0"/>
          <dgm:bulletEnabled val="1"/>
        </dgm:presLayoutVars>
      </dgm:prSet>
      <dgm:spPr/>
    </dgm:pt>
    <dgm:pt modelId="{9B33F96A-9F3D-4B2B-891D-E8116373931D}" type="pres">
      <dgm:prSet presAssocID="{B63B2AD2-A605-46BC-853B-924D252B0DED}" presName="parentRect" presStyleLbl="alignNode1" presStyleIdx="1" presStyleCnt="2"/>
      <dgm:spPr/>
    </dgm:pt>
    <dgm:pt modelId="{6DF5BE25-9DE2-4FE7-9C0C-5F66F82881A6}" type="pres">
      <dgm:prSet presAssocID="{B63B2AD2-A605-46BC-853B-924D252B0DED}" presName="adorn" presStyleLbl="fgAccFollowNode1" presStyleIdx="1" presStyleCnt="2"/>
      <dgm:spPr>
        <a:blipFill>
          <a:blip xmlns:r="http://schemas.openxmlformats.org/officeDocument/2006/relationships" r:embed="rId2">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Braille outline"/>
        </a:ext>
      </dgm:extLst>
    </dgm:pt>
  </dgm:ptLst>
  <dgm:cxnLst>
    <dgm:cxn modelId="{9337A70A-0BBA-4936-8F56-12EAEF18FB98}" srcId="{0DDFC9E4-9C0E-4237-976E-B1E3EED85E47}" destId="{B63B2AD2-A605-46BC-853B-924D252B0DED}" srcOrd="1" destOrd="0" parTransId="{C0568115-A6E0-487C-A767-9C676DCAEAA3}" sibTransId="{9308D042-0F02-46AB-8293-000EC13208BC}"/>
    <dgm:cxn modelId="{7432AF0E-D953-42BC-B974-039A72004A8A}" type="presOf" srcId="{019D0591-D325-485D-96A9-461EC3796FAF}" destId="{78AAC944-E10C-4500-B5B3-091CDB487D29}" srcOrd="0" destOrd="0" presId="urn:microsoft.com/office/officeart/2005/8/layout/bList2"/>
    <dgm:cxn modelId="{FB049815-4080-47E5-8ACF-3B3464D0BC0A}" type="presOf" srcId="{CB06AA2B-B8B2-4474-86C6-189DC40D1981}" destId="{5C6CB774-49C3-4BEA-B6E1-93029EBB3ACF}" srcOrd="0" destOrd="3" presId="urn:microsoft.com/office/officeart/2005/8/layout/bList2"/>
    <dgm:cxn modelId="{2E7B0C1F-D1CD-4A1C-8B7C-F44BDB5EFD32}" srcId="{ECFDB09F-056A-433C-A060-6D749879B037}" destId="{019D0591-D325-485D-96A9-461EC3796FAF}" srcOrd="0" destOrd="0" parTransId="{B3B73BBE-A36A-4754-9C8C-6388570C2D68}" sibTransId="{00D5AC9E-F6F8-4067-BA6B-8A8033F7F444}"/>
    <dgm:cxn modelId="{312A1821-71A7-4FE0-BDF8-EA4A4D9701F6}" srcId="{B63B2AD2-A605-46BC-853B-924D252B0DED}" destId="{C77E8F74-51F5-4DA6-8AF4-DD0FDCF9C2BD}" srcOrd="4" destOrd="0" parTransId="{00CF3FCC-2C84-4FE3-B6FA-2FD712A925C8}" sibTransId="{93E61099-73C4-4EE9-8DE7-21C79100C584}"/>
    <dgm:cxn modelId="{E65B7C42-6DC5-4964-82EC-692A187E3E98}" type="presOf" srcId="{0DDFC9E4-9C0E-4237-976E-B1E3EED85E47}" destId="{FE5053A4-DD6C-4BE2-A2E3-D8BE0EF76C7C}" srcOrd="0" destOrd="0" presId="urn:microsoft.com/office/officeart/2005/8/layout/bList2"/>
    <dgm:cxn modelId="{3313F546-0E37-4BB2-ABA8-F69740A95E33}" type="presOf" srcId="{97DA89B9-B393-4798-ADD7-880ECF40070E}" destId="{5C6CB774-49C3-4BEA-B6E1-93029EBB3ACF}" srcOrd="0" destOrd="0" presId="urn:microsoft.com/office/officeart/2005/8/layout/bList2"/>
    <dgm:cxn modelId="{52ED6C47-55A2-48CF-8753-A04122FC7E95}" type="presOf" srcId="{3F0CE18F-6FB5-4964-9136-6A552E7CC339}" destId="{5FF8CED5-0F3E-476E-8956-C3BDCBD71EA2}" srcOrd="0" destOrd="0" presId="urn:microsoft.com/office/officeart/2005/8/layout/bList2"/>
    <dgm:cxn modelId="{A08A7A6A-7DC1-4F60-AF64-5E438D38F7C5}" type="presOf" srcId="{B63B2AD2-A605-46BC-853B-924D252B0DED}" destId="{9B33F96A-9F3D-4B2B-891D-E8116373931D}" srcOrd="1" destOrd="0" presId="urn:microsoft.com/office/officeart/2005/8/layout/bList2"/>
    <dgm:cxn modelId="{F33FE24A-2874-4F45-BB39-BC40369CD7CA}" type="presOf" srcId="{6302C3FD-E317-42F1-BA9E-B7537D4D412D}" destId="{5C6CB774-49C3-4BEA-B6E1-93029EBB3ACF}" srcOrd="0" destOrd="1" presId="urn:microsoft.com/office/officeart/2005/8/layout/bList2"/>
    <dgm:cxn modelId="{21C40473-973C-47EA-8CA4-9331D0C3D552}" srcId="{B63B2AD2-A605-46BC-853B-924D252B0DED}" destId="{08E7241F-03CC-4985-B752-73E77991C53E}" srcOrd="2" destOrd="0" parTransId="{8A43D511-A485-4F75-BAC0-1BBD169B2F8A}" sibTransId="{DBAFD62D-59AF-4671-9E8A-F8A8F9D7CE6E}"/>
    <dgm:cxn modelId="{0FC55782-FAE5-435D-85A1-4B0C4B819840}" srcId="{0DDFC9E4-9C0E-4237-976E-B1E3EED85E47}" destId="{ECFDB09F-056A-433C-A060-6D749879B037}" srcOrd="0" destOrd="0" parTransId="{34D7D61D-3104-40E4-855B-9DAEE077F041}" sibTransId="{3F0CE18F-6FB5-4964-9136-6A552E7CC339}"/>
    <dgm:cxn modelId="{56250986-529E-4F4C-8662-DD73E142EFDA}" type="presOf" srcId="{B63B2AD2-A605-46BC-853B-924D252B0DED}" destId="{EEF58959-4799-4BE9-8C4B-21B20D3F919E}" srcOrd="0" destOrd="0" presId="urn:microsoft.com/office/officeart/2005/8/layout/bList2"/>
    <dgm:cxn modelId="{E6EF688A-FF20-4EAC-872D-E7F51F367D71}" srcId="{B63B2AD2-A605-46BC-853B-924D252B0DED}" destId="{6302C3FD-E317-42F1-BA9E-B7537D4D412D}" srcOrd="1" destOrd="0" parTransId="{8151D710-1F74-48D2-BCE6-3F7FA2E482A6}" sibTransId="{CDD3402A-084F-41A9-8CE5-7E8BAF446B65}"/>
    <dgm:cxn modelId="{DD51319B-E1DD-41DA-B249-CD8F0D46A510}" srcId="{B63B2AD2-A605-46BC-853B-924D252B0DED}" destId="{97DA89B9-B393-4798-ADD7-880ECF40070E}" srcOrd="0" destOrd="0" parTransId="{4FF48227-2BBB-4985-BAAF-5DBFA377AA58}" sibTransId="{588BD943-5DF8-4063-9C7D-9B651E36A27F}"/>
    <dgm:cxn modelId="{E8A307BB-0830-4BA6-AC9E-D2AC5334265B}" type="presOf" srcId="{ECFDB09F-056A-433C-A060-6D749879B037}" destId="{B0B448C5-0B98-418F-ACA4-47B623651627}" srcOrd="0" destOrd="0" presId="urn:microsoft.com/office/officeart/2005/8/layout/bList2"/>
    <dgm:cxn modelId="{0E73C0CF-A78A-41F7-948B-B0549FB1AE5C}" srcId="{B63B2AD2-A605-46BC-853B-924D252B0DED}" destId="{CB06AA2B-B8B2-4474-86C6-189DC40D1981}" srcOrd="3" destOrd="0" parTransId="{8A98BF7A-676D-47C8-8507-56A5AA6C695D}" sibTransId="{A87C2B14-F560-42C1-9CBC-43EAFA380CAF}"/>
    <dgm:cxn modelId="{F66821E9-9037-4583-9BDD-B876EA1CC264}" type="presOf" srcId="{ECFDB09F-056A-433C-A060-6D749879B037}" destId="{D39DC291-CC73-4939-8FE7-8E776DBD0E4C}" srcOrd="1" destOrd="0" presId="urn:microsoft.com/office/officeart/2005/8/layout/bList2"/>
    <dgm:cxn modelId="{89C2E0EA-C0A8-4CEA-B98B-16E12BA729E1}" type="presOf" srcId="{08E7241F-03CC-4985-B752-73E77991C53E}" destId="{5C6CB774-49C3-4BEA-B6E1-93029EBB3ACF}" srcOrd="0" destOrd="2" presId="urn:microsoft.com/office/officeart/2005/8/layout/bList2"/>
    <dgm:cxn modelId="{8B8268ED-53EF-4DE9-A96E-BAB4D259598D}" type="presOf" srcId="{C77E8F74-51F5-4DA6-8AF4-DD0FDCF9C2BD}" destId="{5C6CB774-49C3-4BEA-B6E1-93029EBB3ACF}" srcOrd="0" destOrd="4" presId="urn:microsoft.com/office/officeart/2005/8/layout/bList2"/>
    <dgm:cxn modelId="{DAAEFDEC-408E-4075-8619-32F6EEDDF65B}" type="presParOf" srcId="{FE5053A4-DD6C-4BE2-A2E3-D8BE0EF76C7C}" destId="{5ED7BA40-39C1-4511-BD0A-71E801A5E7F2}" srcOrd="0" destOrd="0" presId="urn:microsoft.com/office/officeart/2005/8/layout/bList2"/>
    <dgm:cxn modelId="{072E6AEA-3396-44CC-856D-BC508538A4E4}" type="presParOf" srcId="{5ED7BA40-39C1-4511-BD0A-71E801A5E7F2}" destId="{78AAC944-E10C-4500-B5B3-091CDB487D29}" srcOrd="0" destOrd="0" presId="urn:microsoft.com/office/officeart/2005/8/layout/bList2"/>
    <dgm:cxn modelId="{4E12803D-3B1E-4123-97A8-EC48E0146D9E}" type="presParOf" srcId="{5ED7BA40-39C1-4511-BD0A-71E801A5E7F2}" destId="{B0B448C5-0B98-418F-ACA4-47B623651627}" srcOrd="1" destOrd="0" presId="urn:microsoft.com/office/officeart/2005/8/layout/bList2"/>
    <dgm:cxn modelId="{DB3C5D10-A53E-4422-BA8F-C9B6918E7992}" type="presParOf" srcId="{5ED7BA40-39C1-4511-BD0A-71E801A5E7F2}" destId="{D39DC291-CC73-4939-8FE7-8E776DBD0E4C}" srcOrd="2" destOrd="0" presId="urn:microsoft.com/office/officeart/2005/8/layout/bList2"/>
    <dgm:cxn modelId="{4E234367-8A4F-4A1D-AFAA-CD5AAF02627F}" type="presParOf" srcId="{5ED7BA40-39C1-4511-BD0A-71E801A5E7F2}" destId="{F6B35B43-0A37-4E5E-AA61-D97184EE30A2}" srcOrd="3" destOrd="0" presId="urn:microsoft.com/office/officeart/2005/8/layout/bList2"/>
    <dgm:cxn modelId="{8B1C8528-CB94-4488-8346-6CEAAD2F91D9}" type="presParOf" srcId="{FE5053A4-DD6C-4BE2-A2E3-D8BE0EF76C7C}" destId="{5FF8CED5-0F3E-476E-8956-C3BDCBD71EA2}" srcOrd="1" destOrd="0" presId="urn:microsoft.com/office/officeart/2005/8/layout/bList2"/>
    <dgm:cxn modelId="{C5B1EDDF-9537-429B-BD1A-C2D2304EBB66}" type="presParOf" srcId="{FE5053A4-DD6C-4BE2-A2E3-D8BE0EF76C7C}" destId="{57418AA2-90A1-4E39-ABD0-3E22897DCCC4}" srcOrd="2" destOrd="0" presId="urn:microsoft.com/office/officeart/2005/8/layout/bList2"/>
    <dgm:cxn modelId="{86B1C8B9-9AA2-4918-91BA-EAB07CB2E57B}" type="presParOf" srcId="{57418AA2-90A1-4E39-ABD0-3E22897DCCC4}" destId="{5C6CB774-49C3-4BEA-B6E1-93029EBB3ACF}" srcOrd="0" destOrd="0" presId="urn:microsoft.com/office/officeart/2005/8/layout/bList2"/>
    <dgm:cxn modelId="{C0FCE5CD-378E-46C7-9F38-D21BACB410E1}" type="presParOf" srcId="{57418AA2-90A1-4E39-ABD0-3E22897DCCC4}" destId="{EEF58959-4799-4BE9-8C4B-21B20D3F919E}" srcOrd="1" destOrd="0" presId="urn:microsoft.com/office/officeart/2005/8/layout/bList2"/>
    <dgm:cxn modelId="{CF9E8949-A31E-4AF3-9BF3-131965D4162E}" type="presParOf" srcId="{57418AA2-90A1-4E39-ABD0-3E22897DCCC4}" destId="{9B33F96A-9F3D-4B2B-891D-E8116373931D}" srcOrd="2" destOrd="0" presId="urn:microsoft.com/office/officeart/2005/8/layout/bList2"/>
    <dgm:cxn modelId="{43E20B9D-889E-40A5-9280-21B70EE96F36}" type="presParOf" srcId="{57418AA2-90A1-4E39-ABD0-3E22897DCCC4}" destId="{6DF5BE25-9DE2-4FE7-9C0C-5F66F82881A6}" srcOrd="3" destOrd="0" presId="urn:microsoft.com/office/officeart/2005/8/layout/b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065D0DC-89CF-41AB-8018-9D4F9BE8C73D}" type="doc">
      <dgm:prSet loTypeId="urn:microsoft.com/office/officeart/2005/8/layout/hierarchy1" loCatId="hierarchy" qsTypeId="urn:microsoft.com/office/officeart/2005/8/quickstyle/simple1" qsCatId="simple" csTypeId="urn:microsoft.com/office/officeart/2005/8/colors/accent5_1" csCatId="accent5" phldr="1"/>
      <dgm:spPr/>
      <dgm:t>
        <a:bodyPr/>
        <a:lstStyle/>
        <a:p>
          <a:endParaRPr lang="en-US"/>
        </a:p>
      </dgm:t>
    </dgm:pt>
    <dgm:pt modelId="{805C7164-1470-4E37-851F-91C8D90D3EAC}">
      <dgm:prSet/>
      <dgm:spPr/>
      <dgm:t>
        <a:bodyPr/>
        <a:lstStyle/>
        <a:p>
          <a:r>
            <a:rPr lang="en-US" dirty="0"/>
            <a:t>Privacy protection</a:t>
          </a:r>
        </a:p>
      </dgm:t>
    </dgm:pt>
    <dgm:pt modelId="{C0499EE1-B231-4DED-A3F4-7488D83BFD80}" type="parTrans" cxnId="{FF6AC674-E115-4C9D-AA6C-B1DB1D2CC236}">
      <dgm:prSet/>
      <dgm:spPr/>
      <dgm:t>
        <a:bodyPr/>
        <a:lstStyle/>
        <a:p>
          <a:endParaRPr lang="en-US"/>
        </a:p>
      </dgm:t>
    </dgm:pt>
    <dgm:pt modelId="{BEA584F4-E773-43E1-A0BA-774D1F3ABC4F}" type="sibTrans" cxnId="{FF6AC674-E115-4C9D-AA6C-B1DB1D2CC236}">
      <dgm:prSet/>
      <dgm:spPr/>
      <dgm:t>
        <a:bodyPr/>
        <a:lstStyle/>
        <a:p>
          <a:endParaRPr lang="en-US"/>
        </a:p>
      </dgm:t>
    </dgm:pt>
    <dgm:pt modelId="{D0CE48E3-6854-4F34-B6C1-765821420ED8}">
      <dgm:prSet/>
      <dgm:spPr/>
      <dgm:t>
        <a:bodyPr/>
        <a:lstStyle/>
        <a:p>
          <a:r>
            <a:rPr lang="en-US" dirty="0"/>
            <a:t>Bias &amp; safety enforcement</a:t>
          </a:r>
        </a:p>
      </dgm:t>
    </dgm:pt>
    <dgm:pt modelId="{8F32734C-23F6-4F82-9F3B-A617F4625226}" type="parTrans" cxnId="{04054E18-8D17-4A1D-9078-7F386B3B1229}">
      <dgm:prSet/>
      <dgm:spPr/>
      <dgm:t>
        <a:bodyPr/>
        <a:lstStyle/>
        <a:p>
          <a:endParaRPr lang="en-US"/>
        </a:p>
      </dgm:t>
    </dgm:pt>
    <dgm:pt modelId="{87A963F4-A0FB-4AD1-A492-5232F164D8F7}" type="sibTrans" cxnId="{04054E18-8D17-4A1D-9078-7F386B3B1229}">
      <dgm:prSet/>
      <dgm:spPr/>
      <dgm:t>
        <a:bodyPr/>
        <a:lstStyle/>
        <a:p>
          <a:endParaRPr lang="en-US"/>
        </a:p>
      </dgm:t>
    </dgm:pt>
    <dgm:pt modelId="{A1D00A22-1EE9-477A-BB45-E755A67AD3AA}">
      <dgm:prSet/>
      <dgm:spPr/>
      <dgm:t>
        <a:bodyPr/>
        <a:lstStyle/>
        <a:p>
          <a:r>
            <a:rPr lang="en-US" dirty="0"/>
            <a:t>Hallucination detection</a:t>
          </a:r>
        </a:p>
      </dgm:t>
    </dgm:pt>
    <dgm:pt modelId="{7055E40B-DC9C-4566-A098-D4995620B402}" type="parTrans" cxnId="{C32B644A-7312-4A39-9C63-57E0E60E925C}">
      <dgm:prSet/>
      <dgm:spPr/>
      <dgm:t>
        <a:bodyPr/>
        <a:lstStyle/>
        <a:p>
          <a:endParaRPr lang="en-US"/>
        </a:p>
      </dgm:t>
    </dgm:pt>
    <dgm:pt modelId="{DF3BAA96-1390-489A-9EBF-D785BEBF942B}" type="sibTrans" cxnId="{C32B644A-7312-4A39-9C63-57E0E60E925C}">
      <dgm:prSet/>
      <dgm:spPr/>
      <dgm:t>
        <a:bodyPr/>
        <a:lstStyle/>
        <a:p>
          <a:endParaRPr lang="en-US"/>
        </a:p>
      </dgm:t>
    </dgm:pt>
    <dgm:pt modelId="{6E45A5E8-DA86-45ED-8ACE-9CF0A4FA9984}" type="pres">
      <dgm:prSet presAssocID="{8065D0DC-89CF-41AB-8018-9D4F9BE8C73D}" presName="hierChild1" presStyleCnt="0">
        <dgm:presLayoutVars>
          <dgm:chPref val="1"/>
          <dgm:dir/>
          <dgm:animOne val="branch"/>
          <dgm:animLvl val="lvl"/>
          <dgm:resizeHandles/>
        </dgm:presLayoutVars>
      </dgm:prSet>
      <dgm:spPr/>
    </dgm:pt>
    <dgm:pt modelId="{B2D8A075-D23C-4423-BF9D-C36048C63F77}" type="pres">
      <dgm:prSet presAssocID="{805C7164-1470-4E37-851F-91C8D90D3EAC}" presName="hierRoot1" presStyleCnt="0"/>
      <dgm:spPr/>
    </dgm:pt>
    <dgm:pt modelId="{8DC4B58D-8701-435C-8901-E00B19062EE9}" type="pres">
      <dgm:prSet presAssocID="{805C7164-1470-4E37-851F-91C8D90D3EAC}" presName="composite" presStyleCnt="0"/>
      <dgm:spPr/>
    </dgm:pt>
    <dgm:pt modelId="{4BD9E81C-C9A6-4F76-A598-C87D5E2A36D4}" type="pres">
      <dgm:prSet presAssocID="{805C7164-1470-4E37-851F-91C8D90D3EAC}" presName="background" presStyleLbl="node0" presStyleIdx="0" presStyleCnt="3"/>
      <dgm:spPr/>
    </dgm:pt>
    <dgm:pt modelId="{54DAD994-1B64-4EA2-96AB-CCCFCB0B9745}" type="pres">
      <dgm:prSet presAssocID="{805C7164-1470-4E37-851F-91C8D90D3EAC}" presName="text" presStyleLbl="fgAcc0" presStyleIdx="0" presStyleCnt="3">
        <dgm:presLayoutVars>
          <dgm:chPref val="3"/>
        </dgm:presLayoutVars>
      </dgm:prSet>
      <dgm:spPr/>
    </dgm:pt>
    <dgm:pt modelId="{01F0F5A1-D471-4C9B-9FCA-5E64D298D9FA}" type="pres">
      <dgm:prSet presAssocID="{805C7164-1470-4E37-851F-91C8D90D3EAC}" presName="hierChild2" presStyleCnt="0"/>
      <dgm:spPr/>
    </dgm:pt>
    <dgm:pt modelId="{9515DCAF-B169-40FB-82A0-F7ADE8D54FDE}" type="pres">
      <dgm:prSet presAssocID="{D0CE48E3-6854-4F34-B6C1-765821420ED8}" presName="hierRoot1" presStyleCnt="0"/>
      <dgm:spPr/>
    </dgm:pt>
    <dgm:pt modelId="{89B71739-70C7-4449-986D-13953DF37384}" type="pres">
      <dgm:prSet presAssocID="{D0CE48E3-6854-4F34-B6C1-765821420ED8}" presName="composite" presStyleCnt="0"/>
      <dgm:spPr/>
    </dgm:pt>
    <dgm:pt modelId="{76CD22B3-9E82-4026-8D95-DBC87DC2D110}" type="pres">
      <dgm:prSet presAssocID="{D0CE48E3-6854-4F34-B6C1-765821420ED8}" presName="background" presStyleLbl="node0" presStyleIdx="1" presStyleCnt="3"/>
      <dgm:spPr/>
    </dgm:pt>
    <dgm:pt modelId="{9F22E68F-6817-4531-81C5-A4E2C0174334}" type="pres">
      <dgm:prSet presAssocID="{D0CE48E3-6854-4F34-B6C1-765821420ED8}" presName="text" presStyleLbl="fgAcc0" presStyleIdx="1" presStyleCnt="3">
        <dgm:presLayoutVars>
          <dgm:chPref val="3"/>
        </dgm:presLayoutVars>
      </dgm:prSet>
      <dgm:spPr/>
    </dgm:pt>
    <dgm:pt modelId="{0067F305-0C14-4530-8B19-908781E39B0C}" type="pres">
      <dgm:prSet presAssocID="{D0CE48E3-6854-4F34-B6C1-765821420ED8}" presName="hierChild2" presStyleCnt="0"/>
      <dgm:spPr/>
    </dgm:pt>
    <dgm:pt modelId="{F2363643-1C44-4E3F-8579-30C97BCA58A5}" type="pres">
      <dgm:prSet presAssocID="{A1D00A22-1EE9-477A-BB45-E755A67AD3AA}" presName="hierRoot1" presStyleCnt="0"/>
      <dgm:spPr/>
    </dgm:pt>
    <dgm:pt modelId="{F36CF81A-EC6D-4ECD-A39B-F672D86274DA}" type="pres">
      <dgm:prSet presAssocID="{A1D00A22-1EE9-477A-BB45-E755A67AD3AA}" presName="composite" presStyleCnt="0"/>
      <dgm:spPr/>
    </dgm:pt>
    <dgm:pt modelId="{8B9E6C2D-B01C-411B-B01A-005729065092}" type="pres">
      <dgm:prSet presAssocID="{A1D00A22-1EE9-477A-BB45-E755A67AD3AA}" presName="background" presStyleLbl="node0" presStyleIdx="2" presStyleCnt="3"/>
      <dgm:spPr/>
    </dgm:pt>
    <dgm:pt modelId="{3D098829-33B5-4C4D-A336-C4B95095AB55}" type="pres">
      <dgm:prSet presAssocID="{A1D00A22-1EE9-477A-BB45-E755A67AD3AA}" presName="text" presStyleLbl="fgAcc0" presStyleIdx="2" presStyleCnt="3">
        <dgm:presLayoutVars>
          <dgm:chPref val="3"/>
        </dgm:presLayoutVars>
      </dgm:prSet>
      <dgm:spPr/>
    </dgm:pt>
    <dgm:pt modelId="{324B7A91-BD2D-4752-B9FB-7EE1877874AE}" type="pres">
      <dgm:prSet presAssocID="{A1D00A22-1EE9-477A-BB45-E755A67AD3AA}" presName="hierChild2" presStyleCnt="0"/>
      <dgm:spPr/>
    </dgm:pt>
  </dgm:ptLst>
  <dgm:cxnLst>
    <dgm:cxn modelId="{04054E18-8D17-4A1D-9078-7F386B3B1229}" srcId="{8065D0DC-89CF-41AB-8018-9D4F9BE8C73D}" destId="{D0CE48E3-6854-4F34-B6C1-765821420ED8}" srcOrd="1" destOrd="0" parTransId="{8F32734C-23F6-4F82-9F3B-A617F4625226}" sibTransId="{87A963F4-A0FB-4AD1-A492-5232F164D8F7}"/>
    <dgm:cxn modelId="{872F0E30-50D2-4980-9C1C-59CA291CA4DD}" type="presOf" srcId="{A1D00A22-1EE9-477A-BB45-E755A67AD3AA}" destId="{3D098829-33B5-4C4D-A336-C4B95095AB55}" srcOrd="0" destOrd="0" presId="urn:microsoft.com/office/officeart/2005/8/layout/hierarchy1"/>
    <dgm:cxn modelId="{C32B644A-7312-4A39-9C63-57E0E60E925C}" srcId="{8065D0DC-89CF-41AB-8018-9D4F9BE8C73D}" destId="{A1D00A22-1EE9-477A-BB45-E755A67AD3AA}" srcOrd="2" destOrd="0" parTransId="{7055E40B-DC9C-4566-A098-D4995620B402}" sibTransId="{DF3BAA96-1390-489A-9EBF-D785BEBF942B}"/>
    <dgm:cxn modelId="{E291524A-D896-4749-9E4A-36E049CFFF1F}" type="presOf" srcId="{D0CE48E3-6854-4F34-B6C1-765821420ED8}" destId="{9F22E68F-6817-4531-81C5-A4E2C0174334}" srcOrd="0" destOrd="0" presId="urn:microsoft.com/office/officeart/2005/8/layout/hierarchy1"/>
    <dgm:cxn modelId="{FF6AC674-E115-4C9D-AA6C-B1DB1D2CC236}" srcId="{8065D0DC-89CF-41AB-8018-9D4F9BE8C73D}" destId="{805C7164-1470-4E37-851F-91C8D90D3EAC}" srcOrd="0" destOrd="0" parTransId="{C0499EE1-B231-4DED-A3F4-7488D83BFD80}" sibTransId="{BEA584F4-E773-43E1-A0BA-774D1F3ABC4F}"/>
    <dgm:cxn modelId="{78D6D1A4-2AF2-4DC1-8EA9-1D368E383B1B}" type="presOf" srcId="{8065D0DC-89CF-41AB-8018-9D4F9BE8C73D}" destId="{6E45A5E8-DA86-45ED-8ACE-9CF0A4FA9984}" srcOrd="0" destOrd="0" presId="urn:microsoft.com/office/officeart/2005/8/layout/hierarchy1"/>
    <dgm:cxn modelId="{033ED1E3-BD3D-4870-B848-9D205AAF3919}" type="presOf" srcId="{805C7164-1470-4E37-851F-91C8D90D3EAC}" destId="{54DAD994-1B64-4EA2-96AB-CCCFCB0B9745}" srcOrd="0" destOrd="0" presId="urn:microsoft.com/office/officeart/2005/8/layout/hierarchy1"/>
    <dgm:cxn modelId="{61BA6A4A-A67A-40BE-A20D-0B6A0670FDBE}" type="presParOf" srcId="{6E45A5E8-DA86-45ED-8ACE-9CF0A4FA9984}" destId="{B2D8A075-D23C-4423-BF9D-C36048C63F77}" srcOrd="0" destOrd="0" presId="urn:microsoft.com/office/officeart/2005/8/layout/hierarchy1"/>
    <dgm:cxn modelId="{7F325334-03C3-4ACA-BF2E-48E57E645434}" type="presParOf" srcId="{B2D8A075-D23C-4423-BF9D-C36048C63F77}" destId="{8DC4B58D-8701-435C-8901-E00B19062EE9}" srcOrd="0" destOrd="0" presId="urn:microsoft.com/office/officeart/2005/8/layout/hierarchy1"/>
    <dgm:cxn modelId="{A8CF4AF7-0478-40A3-B064-54195FDFDB8F}" type="presParOf" srcId="{8DC4B58D-8701-435C-8901-E00B19062EE9}" destId="{4BD9E81C-C9A6-4F76-A598-C87D5E2A36D4}" srcOrd="0" destOrd="0" presId="urn:microsoft.com/office/officeart/2005/8/layout/hierarchy1"/>
    <dgm:cxn modelId="{C868D1B3-53D6-44FF-8FB7-ABFE5B6ADA6F}" type="presParOf" srcId="{8DC4B58D-8701-435C-8901-E00B19062EE9}" destId="{54DAD994-1B64-4EA2-96AB-CCCFCB0B9745}" srcOrd="1" destOrd="0" presId="urn:microsoft.com/office/officeart/2005/8/layout/hierarchy1"/>
    <dgm:cxn modelId="{134F0928-3A06-4CF5-9CF1-69B24857E71E}" type="presParOf" srcId="{B2D8A075-D23C-4423-BF9D-C36048C63F77}" destId="{01F0F5A1-D471-4C9B-9FCA-5E64D298D9FA}" srcOrd="1" destOrd="0" presId="urn:microsoft.com/office/officeart/2005/8/layout/hierarchy1"/>
    <dgm:cxn modelId="{1ED0C848-5172-43D5-AED5-27E8A85FB146}" type="presParOf" srcId="{6E45A5E8-DA86-45ED-8ACE-9CF0A4FA9984}" destId="{9515DCAF-B169-40FB-82A0-F7ADE8D54FDE}" srcOrd="1" destOrd="0" presId="urn:microsoft.com/office/officeart/2005/8/layout/hierarchy1"/>
    <dgm:cxn modelId="{7B5566E1-E033-4DF9-A9F9-146A2215EAE7}" type="presParOf" srcId="{9515DCAF-B169-40FB-82A0-F7ADE8D54FDE}" destId="{89B71739-70C7-4449-986D-13953DF37384}" srcOrd="0" destOrd="0" presId="urn:microsoft.com/office/officeart/2005/8/layout/hierarchy1"/>
    <dgm:cxn modelId="{73050412-E6FC-493C-A768-995E8941F1BC}" type="presParOf" srcId="{89B71739-70C7-4449-986D-13953DF37384}" destId="{76CD22B3-9E82-4026-8D95-DBC87DC2D110}" srcOrd="0" destOrd="0" presId="urn:microsoft.com/office/officeart/2005/8/layout/hierarchy1"/>
    <dgm:cxn modelId="{41A25C98-57B1-4E4D-AEEF-1839FA6281D7}" type="presParOf" srcId="{89B71739-70C7-4449-986D-13953DF37384}" destId="{9F22E68F-6817-4531-81C5-A4E2C0174334}" srcOrd="1" destOrd="0" presId="urn:microsoft.com/office/officeart/2005/8/layout/hierarchy1"/>
    <dgm:cxn modelId="{12BE2413-4665-4322-A1B8-0BEBCA9AC2E5}" type="presParOf" srcId="{9515DCAF-B169-40FB-82A0-F7ADE8D54FDE}" destId="{0067F305-0C14-4530-8B19-908781E39B0C}" srcOrd="1" destOrd="0" presId="urn:microsoft.com/office/officeart/2005/8/layout/hierarchy1"/>
    <dgm:cxn modelId="{E655B63F-55A0-46FC-BB4F-E377D861D30F}" type="presParOf" srcId="{6E45A5E8-DA86-45ED-8ACE-9CF0A4FA9984}" destId="{F2363643-1C44-4E3F-8579-30C97BCA58A5}" srcOrd="2" destOrd="0" presId="urn:microsoft.com/office/officeart/2005/8/layout/hierarchy1"/>
    <dgm:cxn modelId="{254D7D0D-6384-4D02-A176-855EAB5A79F7}" type="presParOf" srcId="{F2363643-1C44-4E3F-8579-30C97BCA58A5}" destId="{F36CF81A-EC6D-4ECD-A39B-F672D86274DA}" srcOrd="0" destOrd="0" presId="urn:microsoft.com/office/officeart/2005/8/layout/hierarchy1"/>
    <dgm:cxn modelId="{D249CB4F-DFAA-4866-8D2D-FAB72D6E94F0}" type="presParOf" srcId="{F36CF81A-EC6D-4ECD-A39B-F672D86274DA}" destId="{8B9E6C2D-B01C-411B-B01A-005729065092}" srcOrd="0" destOrd="0" presId="urn:microsoft.com/office/officeart/2005/8/layout/hierarchy1"/>
    <dgm:cxn modelId="{F3CF3D75-C1DD-4307-A9E2-368C139F0991}" type="presParOf" srcId="{F36CF81A-EC6D-4ECD-A39B-F672D86274DA}" destId="{3D098829-33B5-4C4D-A336-C4B95095AB55}" srcOrd="1" destOrd="0" presId="urn:microsoft.com/office/officeart/2005/8/layout/hierarchy1"/>
    <dgm:cxn modelId="{22D2E828-288C-4B9E-ACE4-639B314072A4}" type="presParOf" srcId="{F2363643-1C44-4E3F-8579-30C97BCA58A5}" destId="{324B7A91-BD2D-4752-B9FB-7EE1877874AE}"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3F35B9-F2B1-46A5-89A9-41C86D5F5B35}">
      <dsp:nvSpPr>
        <dsp:cNvPr id="0" name=""/>
        <dsp:cNvSpPr/>
      </dsp:nvSpPr>
      <dsp:spPr>
        <a:xfrm>
          <a:off x="663" y="126084"/>
          <a:ext cx="2588435" cy="1553061"/>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Manual, feature-specific evaluation cannot scale to Apple’s global, fast-moving AI ecosystem.</a:t>
          </a:r>
        </a:p>
      </dsp:txBody>
      <dsp:txXfrm>
        <a:off x="663" y="126084"/>
        <a:ext cx="2588435" cy="1553061"/>
      </dsp:txXfrm>
    </dsp:sp>
    <dsp:sp modelId="{371D07FF-856E-473A-AC76-E98DB7234D10}">
      <dsp:nvSpPr>
        <dsp:cNvPr id="0" name=""/>
        <dsp:cNvSpPr/>
      </dsp:nvSpPr>
      <dsp:spPr>
        <a:xfrm>
          <a:off x="2847942" y="126084"/>
          <a:ext cx="2588435" cy="1553061"/>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At this scale, evaluation must be treated as core platform infrastructure rather than downstream QA.</a:t>
          </a:r>
          <a:endParaRPr lang="en-US" sz="2000" kern="1200" dirty="0"/>
        </a:p>
      </dsp:txBody>
      <dsp:txXfrm>
        <a:off x="2847942" y="126084"/>
        <a:ext cx="2588435" cy="1553061"/>
      </dsp:txXfrm>
    </dsp:sp>
    <dsp:sp modelId="{FB2AC923-2FC5-417A-9DC5-FC64DB91B475}">
      <dsp:nvSpPr>
        <dsp:cNvPr id="0" name=""/>
        <dsp:cNvSpPr/>
      </dsp:nvSpPr>
      <dsp:spPr>
        <a:xfrm>
          <a:off x="663" y="1937989"/>
          <a:ext cx="2588435" cy="1553061"/>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LLM-as-judge improves throughput but fails without prompt governance, leading to drift and inconsistency.</a:t>
          </a:r>
          <a:endParaRPr lang="en-US" sz="2000" kern="1200" dirty="0"/>
        </a:p>
      </dsp:txBody>
      <dsp:txXfrm>
        <a:off x="663" y="1937989"/>
        <a:ext cx="2588435" cy="1553061"/>
      </dsp:txXfrm>
    </dsp:sp>
    <dsp:sp modelId="{9A7B96CE-5B44-49B3-93B3-1940E4FF6EF3}">
      <dsp:nvSpPr>
        <dsp:cNvPr id="0" name=""/>
        <dsp:cNvSpPr/>
      </dsp:nvSpPr>
      <dsp:spPr>
        <a:xfrm>
          <a:off x="2847942" y="1937989"/>
          <a:ext cx="2588435" cy="1553061"/>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The true bottleneck is the absence of a governed evaluation layer, not a lack of evaluators.</a:t>
          </a:r>
          <a:endParaRPr lang="en-US" sz="2000" kern="1200" dirty="0"/>
        </a:p>
      </dsp:txBody>
      <dsp:txXfrm>
        <a:off x="2847942" y="1937989"/>
        <a:ext cx="2588435" cy="155306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096B83-CCD6-4991-ACB0-6AD8B594BFFE}">
      <dsp:nvSpPr>
        <dsp:cNvPr id="0" name=""/>
        <dsp:cNvSpPr/>
      </dsp:nvSpPr>
      <dsp:spPr>
        <a:xfrm>
          <a:off x="653117" y="305"/>
          <a:ext cx="1850755" cy="117522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A1A2F1D-91C8-4DC2-B4F4-A302B8E0708F}">
      <dsp:nvSpPr>
        <dsp:cNvPr id="0" name=""/>
        <dsp:cNvSpPr/>
      </dsp:nvSpPr>
      <dsp:spPr>
        <a:xfrm>
          <a:off x="858756" y="195662"/>
          <a:ext cx="1850755" cy="117522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Quality is task- and risk-specific, requiring taxonomy-driven evaluation.</a:t>
          </a:r>
        </a:p>
      </dsp:txBody>
      <dsp:txXfrm>
        <a:off x="893177" y="230083"/>
        <a:ext cx="1781913" cy="1106387"/>
      </dsp:txXfrm>
    </dsp:sp>
    <dsp:sp modelId="{3DC1AD3D-6962-40E3-A6FC-000616F7AE3F}">
      <dsp:nvSpPr>
        <dsp:cNvPr id="0" name=""/>
        <dsp:cNvSpPr/>
      </dsp:nvSpPr>
      <dsp:spPr>
        <a:xfrm>
          <a:off x="2915152" y="305"/>
          <a:ext cx="1850755" cy="117522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FBCA493-956F-4DE8-9F74-DC0EEB19AB43}">
      <dsp:nvSpPr>
        <dsp:cNvPr id="0" name=""/>
        <dsp:cNvSpPr/>
      </dsp:nvSpPr>
      <dsp:spPr>
        <a:xfrm>
          <a:off x="3120791" y="195662"/>
          <a:ext cx="1850755" cy="117522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Taxonomy governs valid metrics, risks, and evaluation semantics.</a:t>
          </a:r>
        </a:p>
      </dsp:txBody>
      <dsp:txXfrm>
        <a:off x="3155212" y="230083"/>
        <a:ext cx="1781913" cy="1106387"/>
      </dsp:txXfrm>
    </dsp:sp>
    <dsp:sp modelId="{E8908E68-334E-4113-A677-C52E967CCEC6}">
      <dsp:nvSpPr>
        <dsp:cNvPr id="0" name=""/>
        <dsp:cNvSpPr/>
      </dsp:nvSpPr>
      <dsp:spPr>
        <a:xfrm>
          <a:off x="5177187" y="305"/>
          <a:ext cx="1850755" cy="117522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CE05706-CB5F-44CA-AA48-B633F8C51AFE}">
      <dsp:nvSpPr>
        <dsp:cNvPr id="0" name=""/>
        <dsp:cNvSpPr/>
      </dsp:nvSpPr>
      <dsp:spPr>
        <a:xfrm>
          <a:off x="5382826" y="195662"/>
          <a:ext cx="1850755" cy="117522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Metrics evolve under human governance with controlled versioning.</a:t>
          </a:r>
        </a:p>
      </dsp:txBody>
      <dsp:txXfrm>
        <a:off x="5417247" y="230083"/>
        <a:ext cx="1781913" cy="110638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28507A-C2F7-45D5-8E32-8EE614F79EF4}">
      <dsp:nvSpPr>
        <dsp:cNvPr id="0" name=""/>
        <dsp:cNvSpPr/>
      </dsp:nvSpPr>
      <dsp:spPr>
        <a:xfrm>
          <a:off x="917260" y="110595"/>
          <a:ext cx="399067" cy="39906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051C0D6-D0BC-4687-B387-5E7AB81ECD45}">
      <dsp:nvSpPr>
        <dsp:cNvPr id="0" name=""/>
        <dsp:cNvSpPr/>
      </dsp:nvSpPr>
      <dsp:spPr>
        <a:xfrm>
          <a:off x="673385" y="642762"/>
          <a:ext cx="886816" cy="3547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1. Feature metadata</a:t>
          </a:r>
        </a:p>
      </dsp:txBody>
      <dsp:txXfrm>
        <a:off x="673385" y="642762"/>
        <a:ext cx="886816" cy="354726"/>
      </dsp:txXfrm>
    </dsp:sp>
    <dsp:sp modelId="{6D2BA5C8-C0DE-441A-8607-31BB74F164F9}">
      <dsp:nvSpPr>
        <dsp:cNvPr id="0" name=""/>
        <dsp:cNvSpPr/>
      </dsp:nvSpPr>
      <dsp:spPr>
        <a:xfrm>
          <a:off x="1959269" y="110595"/>
          <a:ext cx="399067" cy="39906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E1B6E37-8CC6-40FF-9C8E-B7AA54E95616}">
      <dsp:nvSpPr>
        <dsp:cNvPr id="0" name=""/>
        <dsp:cNvSpPr/>
      </dsp:nvSpPr>
      <dsp:spPr>
        <a:xfrm>
          <a:off x="1715394" y="642762"/>
          <a:ext cx="886816" cy="3547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2. Category &amp; locale resolution</a:t>
          </a:r>
        </a:p>
      </dsp:txBody>
      <dsp:txXfrm>
        <a:off x="1715394" y="642762"/>
        <a:ext cx="886816" cy="354726"/>
      </dsp:txXfrm>
    </dsp:sp>
    <dsp:sp modelId="{AA164247-E284-4C67-89DC-A2CABCF83980}">
      <dsp:nvSpPr>
        <dsp:cNvPr id="0" name=""/>
        <dsp:cNvSpPr/>
      </dsp:nvSpPr>
      <dsp:spPr>
        <a:xfrm>
          <a:off x="3001278" y="110595"/>
          <a:ext cx="399067" cy="39906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9C10F58-25B6-477D-9DB7-F045CB59D0D3}">
      <dsp:nvSpPr>
        <dsp:cNvPr id="0" name=""/>
        <dsp:cNvSpPr/>
      </dsp:nvSpPr>
      <dsp:spPr>
        <a:xfrm>
          <a:off x="2757404" y="642762"/>
          <a:ext cx="886816" cy="3547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3. Metric selection</a:t>
          </a:r>
        </a:p>
      </dsp:txBody>
      <dsp:txXfrm>
        <a:off x="2757404" y="642762"/>
        <a:ext cx="886816" cy="354726"/>
      </dsp:txXfrm>
    </dsp:sp>
    <dsp:sp modelId="{DBFA928C-DE68-403C-B8FF-998504E9BC6C}">
      <dsp:nvSpPr>
        <dsp:cNvPr id="0" name=""/>
        <dsp:cNvSpPr/>
      </dsp:nvSpPr>
      <dsp:spPr>
        <a:xfrm>
          <a:off x="4043287" y="110595"/>
          <a:ext cx="399067" cy="39906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42766DA-2DD0-4653-AF17-4771E03151F3}">
      <dsp:nvSpPr>
        <dsp:cNvPr id="0" name=""/>
        <dsp:cNvSpPr/>
      </dsp:nvSpPr>
      <dsp:spPr>
        <a:xfrm>
          <a:off x="3799413" y="642762"/>
          <a:ext cx="886816" cy="3547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4. RAI injection</a:t>
          </a:r>
        </a:p>
      </dsp:txBody>
      <dsp:txXfrm>
        <a:off x="3799413" y="642762"/>
        <a:ext cx="886816" cy="354726"/>
      </dsp:txXfrm>
    </dsp:sp>
    <dsp:sp modelId="{0AFD1ABC-1F88-43EE-BB17-0D90C6C3B60F}">
      <dsp:nvSpPr>
        <dsp:cNvPr id="0" name=""/>
        <dsp:cNvSpPr/>
      </dsp:nvSpPr>
      <dsp:spPr>
        <a:xfrm>
          <a:off x="5085297" y="110595"/>
          <a:ext cx="399067" cy="39906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74DBB4C-E3A5-4D1C-9B67-7867C3D6DDD1}">
      <dsp:nvSpPr>
        <dsp:cNvPr id="0" name=""/>
        <dsp:cNvSpPr/>
      </dsp:nvSpPr>
      <dsp:spPr>
        <a:xfrm>
          <a:off x="4841422" y="642762"/>
          <a:ext cx="886816" cy="3547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5. Template instantiation</a:t>
          </a:r>
        </a:p>
      </dsp:txBody>
      <dsp:txXfrm>
        <a:off x="4841422" y="642762"/>
        <a:ext cx="886816" cy="354726"/>
      </dsp:txXfrm>
    </dsp:sp>
    <dsp:sp modelId="{0F9596E3-C42B-4022-B3F7-C1DF3BCCCC9E}">
      <dsp:nvSpPr>
        <dsp:cNvPr id="0" name=""/>
        <dsp:cNvSpPr/>
      </dsp:nvSpPr>
      <dsp:spPr>
        <a:xfrm>
          <a:off x="6127306" y="110595"/>
          <a:ext cx="399067" cy="399067"/>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8A61EA2-3A1A-43FD-A66F-E0C9A7813A3E}">
      <dsp:nvSpPr>
        <dsp:cNvPr id="0" name=""/>
        <dsp:cNvSpPr/>
      </dsp:nvSpPr>
      <dsp:spPr>
        <a:xfrm>
          <a:off x="5883431" y="642762"/>
          <a:ext cx="886816" cy="3547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6. JSON‑structured output</a:t>
          </a:r>
        </a:p>
      </dsp:txBody>
      <dsp:txXfrm>
        <a:off x="5883431" y="642762"/>
        <a:ext cx="886816" cy="35472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AAC944-E10C-4500-B5B3-091CDB487D29}">
      <dsp:nvSpPr>
        <dsp:cNvPr id="0" name=""/>
        <dsp:cNvSpPr/>
      </dsp:nvSpPr>
      <dsp:spPr>
        <a:xfrm>
          <a:off x="1298364" y="833"/>
          <a:ext cx="1548360" cy="1155818"/>
        </a:xfrm>
        <a:prstGeom prst="round2SameRect">
          <a:avLst>
            <a:gd name="adj1" fmla="val 8000"/>
            <a:gd name="adj2" fmla="val 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38100" rIns="12700" bIns="12700" numCol="1" spcCol="1270" anchor="t" anchorCtr="0">
          <a:noAutofit/>
        </a:bodyPr>
        <a:lstStyle/>
        <a:p>
          <a:pPr marL="57150" lvl="1" indent="-57150" algn="l" defTabSz="444500">
            <a:lnSpc>
              <a:spcPct val="90000"/>
            </a:lnSpc>
            <a:spcBef>
              <a:spcPct val="0"/>
            </a:spcBef>
            <a:spcAft>
              <a:spcPct val="15000"/>
            </a:spcAft>
            <a:buChar char="•"/>
          </a:pPr>
          <a:r>
            <a:rPr lang="en-US" sz="1000" kern="1200" dirty="0"/>
            <a:t>An AI agent is a system that reasons, takes actions using tools, and adapts over time to achieve a goal.</a:t>
          </a:r>
        </a:p>
      </dsp:txBody>
      <dsp:txXfrm>
        <a:off x="1325446" y="27915"/>
        <a:ext cx="1494196" cy="1128736"/>
      </dsp:txXfrm>
    </dsp:sp>
    <dsp:sp modelId="{D39DC291-CC73-4939-8FE7-8E776DBD0E4C}">
      <dsp:nvSpPr>
        <dsp:cNvPr id="0" name=""/>
        <dsp:cNvSpPr/>
      </dsp:nvSpPr>
      <dsp:spPr>
        <a:xfrm>
          <a:off x="1298364" y="1156651"/>
          <a:ext cx="1548360" cy="497001"/>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0" rIns="20320" bIns="0" numCol="1" spcCol="1270" anchor="ctr" anchorCtr="0">
          <a:noAutofit/>
        </a:bodyPr>
        <a:lstStyle/>
        <a:p>
          <a:pPr marL="0" lvl="0" indent="0" algn="l" defTabSz="711200">
            <a:lnSpc>
              <a:spcPct val="90000"/>
            </a:lnSpc>
            <a:spcBef>
              <a:spcPct val="0"/>
            </a:spcBef>
            <a:spcAft>
              <a:spcPct val="35000"/>
            </a:spcAft>
            <a:buNone/>
          </a:pPr>
          <a:r>
            <a:rPr lang="en-US" sz="1600" b="1" kern="1200" dirty="0"/>
            <a:t>What’s an AI agent:</a:t>
          </a:r>
          <a:endParaRPr lang="en-US" sz="1600" kern="1200" dirty="0"/>
        </a:p>
      </dsp:txBody>
      <dsp:txXfrm>
        <a:off x="1298364" y="1156651"/>
        <a:ext cx="1090394" cy="497001"/>
      </dsp:txXfrm>
    </dsp:sp>
    <dsp:sp modelId="{F6B35B43-0A37-4E5E-AA61-D97184EE30A2}">
      <dsp:nvSpPr>
        <dsp:cNvPr id="0" name=""/>
        <dsp:cNvSpPr/>
      </dsp:nvSpPr>
      <dsp:spPr>
        <a:xfrm>
          <a:off x="2432559" y="1235596"/>
          <a:ext cx="541926" cy="541926"/>
        </a:xfrm>
        <a:prstGeom prst="ellipse">
          <a:avLst/>
        </a:prstGeom>
        <a:blipFill>
          <a:blip xmlns:r="http://schemas.openxmlformats.org/officeDocument/2006/relationships" r:embed="rId1"/>
          <a:srcRect/>
          <a:stretch>
            <a:fillRect l="-25000" r="-25000"/>
          </a:stretch>
        </a:blip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C6CB774-49C3-4BEA-B6E1-93029EBB3ACF}">
      <dsp:nvSpPr>
        <dsp:cNvPr id="0" name=""/>
        <dsp:cNvSpPr/>
      </dsp:nvSpPr>
      <dsp:spPr>
        <a:xfrm>
          <a:off x="3108744" y="833"/>
          <a:ext cx="1548360" cy="1155818"/>
        </a:xfrm>
        <a:prstGeom prst="round2SameRect">
          <a:avLst>
            <a:gd name="adj1" fmla="val 8000"/>
            <a:gd name="adj2" fmla="val 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38100" rIns="12700" bIns="12700" numCol="1" spcCol="1270" anchor="t" anchorCtr="0">
          <a:noAutofit/>
        </a:bodyPr>
        <a:lstStyle/>
        <a:p>
          <a:pPr marL="57150" lvl="1" indent="-57150" algn="l" defTabSz="444500">
            <a:lnSpc>
              <a:spcPct val="90000"/>
            </a:lnSpc>
            <a:spcBef>
              <a:spcPct val="0"/>
            </a:spcBef>
            <a:spcAft>
              <a:spcPct val="15000"/>
            </a:spcAft>
            <a:buChar char="•"/>
          </a:pPr>
          <a:r>
            <a:rPr lang="en-US" sz="1000" kern="1200" dirty="0"/>
            <a:t>Goal-directed autonomy</a:t>
          </a:r>
        </a:p>
        <a:p>
          <a:pPr marL="57150" lvl="1" indent="-57150" algn="l" defTabSz="444500">
            <a:lnSpc>
              <a:spcPct val="90000"/>
            </a:lnSpc>
            <a:spcBef>
              <a:spcPct val="0"/>
            </a:spcBef>
            <a:spcAft>
              <a:spcPct val="15000"/>
            </a:spcAft>
            <a:buChar char="•"/>
          </a:pPr>
          <a:r>
            <a:rPr lang="en-US" sz="1000" kern="1200"/>
            <a:t>Reasoning + action loop</a:t>
          </a:r>
          <a:endParaRPr lang="en-US" sz="1000" kern="1200" dirty="0"/>
        </a:p>
        <a:p>
          <a:pPr marL="57150" lvl="1" indent="-57150" algn="l" defTabSz="444500">
            <a:lnSpc>
              <a:spcPct val="90000"/>
            </a:lnSpc>
            <a:spcBef>
              <a:spcPct val="0"/>
            </a:spcBef>
            <a:spcAft>
              <a:spcPct val="15000"/>
            </a:spcAft>
            <a:buChar char="•"/>
          </a:pPr>
          <a:r>
            <a:rPr lang="en-US" sz="1000" kern="1200"/>
            <a:t>Tool use (beyond text generation)</a:t>
          </a:r>
          <a:endParaRPr lang="en-US" sz="1000" kern="1200" dirty="0"/>
        </a:p>
        <a:p>
          <a:pPr marL="57150" lvl="1" indent="-57150" algn="l" defTabSz="444500">
            <a:lnSpc>
              <a:spcPct val="90000"/>
            </a:lnSpc>
            <a:spcBef>
              <a:spcPct val="0"/>
            </a:spcBef>
            <a:spcAft>
              <a:spcPct val="15000"/>
            </a:spcAft>
            <a:buChar char="•"/>
          </a:pPr>
          <a:r>
            <a:rPr lang="en-US" sz="1000" kern="1200"/>
            <a:t>State and memory</a:t>
          </a:r>
          <a:endParaRPr lang="en-US" sz="1000" kern="1200" dirty="0"/>
        </a:p>
        <a:p>
          <a:pPr marL="57150" lvl="1" indent="-57150" algn="l" defTabSz="444500">
            <a:lnSpc>
              <a:spcPct val="90000"/>
            </a:lnSpc>
            <a:spcBef>
              <a:spcPct val="0"/>
            </a:spcBef>
            <a:spcAft>
              <a:spcPct val="15000"/>
            </a:spcAft>
            <a:buChar char="•"/>
          </a:pPr>
          <a:r>
            <a:rPr lang="en-US" sz="1000" kern="1200"/>
            <a:t>Feedback-driven adaptation</a:t>
          </a:r>
          <a:endParaRPr lang="en-US" sz="1000" kern="1200" dirty="0"/>
        </a:p>
      </dsp:txBody>
      <dsp:txXfrm>
        <a:off x="3135826" y="27915"/>
        <a:ext cx="1494196" cy="1128736"/>
      </dsp:txXfrm>
    </dsp:sp>
    <dsp:sp modelId="{9B33F96A-9F3D-4B2B-891D-E8116373931D}">
      <dsp:nvSpPr>
        <dsp:cNvPr id="0" name=""/>
        <dsp:cNvSpPr/>
      </dsp:nvSpPr>
      <dsp:spPr>
        <a:xfrm>
          <a:off x="3108744" y="1156651"/>
          <a:ext cx="1548360" cy="497001"/>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0" rIns="20320" bIns="0" numCol="1" spcCol="1270" anchor="ctr" anchorCtr="0">
          <a:noAutofit/>
        </a:bodyPr>
        <a:lstStyle/>
        <a:p>
          <a:pPr marL="0" lvl="0" indent="0" algn="l" defTabSz="711200">
            <a:lnSpc>
              <a:spcPct val="90000"/>
            </a:lnSpc>
            <a:spcBef>
              <a:spcPct val="0"/>
            </a:spcBef>
            <a:spcAft>
              <a:spcPct val="35000"/>
            </a:spcAft>
            <a:buNone/>
          </a:pPr>
          <a:r>
            <a:rPr lang="en-US" sz="1600" b="1" kern="1200"/>
            <a:t>Advantage of AI agent:</a:t>
          </a:r>
          <a:endParaRPr lang="en-US" sz="1600" b="1" kern="1200" dirty="0"/>
        </a:p>
      </dsp:txBody>
      <dsp:txXfrm>
        <a:off x="3108744" y="1156651"/>
        <a:ext cx="1090394" cy="497001"/>
      </dsp:txXfrm>
    </dsp:sp>
    <dsp:sp modelId="{6DF5BE25-9DE2-4FE7-9C0C-5F66F82881A6}">
      <dsp:nvSpPr>
        <dsp:cNvPr id="0" name=""/>
        <dsp:cNvSpPr/>
      </dsp:nvSpPr>
      <dsp:spPr>
        <a:xfrm>
          <a:off x="4242939" y="1235596"/>
          <a:ext cx="541926" cy="541926"/>
        </a:xfrm>
        <a:prstGeom prst="ellipse">
          <a:avLst/>
        </a:prstGeom>
        <a:blipFill>
          <a:blip xmlns:r="http://schemas.openxmlformats.org/officeDocument/2006/relationships" r:embed="rId2">
            <a:extLst>
              <a:ext uri="{96DAC541-7B7A-43D3-8B79-37D633B846F1}">
                <asvg:svgBlip xmlns:asvg="http://schemas.microsoft.com/office/drawing/2016/SVG/main" r:embed="rId3"/>
              </a:ext>
            </a:extLst>
          </a:blip>
          <a:srcRect/>
          <a:stretch>
            <a:fillRect/>
          </a:stretch>
        </a:blip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D9E81C-C9A6-4F76-A598-C87D5E2A36D4}">
      <dsp:nvSpPr>
        <dsp:cNvPr id="0" name=""/>
        <dsp:cNvSpPr/>
      </dsp:nvSpPr>
      <dsp:spPr>
        <a:xfrm>
          <a:off x="0" y="955551"/>
          <a:ext cx="1969082" cy="1250367"/>
        </a:xfrm>
        <a:prstGeom prst="roundRect">
          <a:avLst>
            <a:gd name="adj" fmla="val 10000"/>
          </a:avLst>
        </a:prstGeom>
        <a:solidFill>
          <a:schemeClr val="lt1">
            <a:hueOff val="0"/>
            <a:satOff val="0"/>
            <a:lumOff val="0"/>
            <a:alphaOff val="0"/>
          </a:schemeClr>
        </a:solidFill>
        <a:ln w="2540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4DAD994-1B64-4EA2-96AB-CCCFCB0B9745}">
      <dsp:nvSpPr>
        <dsp:cNvPr id="0" name=""/>
        <dsp:cNvSpPr/>
      </dsp:nvSpPr>
      <dsp:spPr>
        <a:xfrm>
          <a:off x="218786" y="1163399"/>
          <a:ext cx="1969082" cy="1250367"/>
        </a:xfrm>
        <a:prstGeom prst="roundRect">
          <a:avLst>
            <a:gd name="adj" fmla="val 10000"/>
          </a:avLst>
        </a:prstGeom>
        <a:solidFill>
          <a:schemeClr val="accent5">
            <a:alpha val="90000"/>
            <a:tint val="4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Privacy protection</a:t>
          </a:r>
        </a:p>
      </dsp:txBody>
      <dsp:txXfrm>
        <a:off x="255408" y="1200021"/>
        <a:ext cx="1895838" cy="1177123"/>
      </dsp:txXfrm>
    </dsp:sp>
    <dsp:sp modelId="{76CD22B3-9E82-4026-8D95-DBC87DC2D110}">
      <dsp:nvSpPr>
        <dsp:cNvPr id="0" name=""/>
        <dsp:cNvSpPr/>
      </dsp:nvSpPr>
      <dsp:spPr>
        <a:xfrm>
          <a:off x="2406656" y="955551"/>
          <a:ext cx="1969082" cy="1250367"/>
        </a:xfrm>
        <a:prstGeom prst="roundRect">
          <a:avLst>
            <a:gd name="adj" fmla="val 10000"/>
          </a:avLst>
        </a:prstGeom>
        <a:solidFill>
          <a:schemeClr val="lt1">
            <a:hueOff val="0"/>
            <a:satOff val="0"/>
            <a:lumOff val="0"/>
            <a:alphaOff val="0"/>
          </a:schemeClr>
        </a:solidFill>
        <a:ln w="2540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F22E68F-6817-4531-81C5-A4E2C0174334}">
      <dsp:nvSpPr>
        <dsp:cNvPr id="0" name=""/>
        <dsp:cNvSpPr/>
      </dsp:nvSpPr>
      <dsp:spPr>
        <a:xfrm>
          <a:off x="2625443" y="1163399"/>
          <a:ext cx="1969082" cy="1250367"/>
        </a:xfrm>
        <a:prstGeom prst="roundRect">
          <a:avLst>
            <a:gd name="adj" fmla="val 10000"/>
          </a:avLst>
        </a:prstGeom>
        <a:solidFill>
          <a:schemeClr val="accent5">
            <a:alpha val="90000"/>
            <a:tint val="4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Bias &amp; safety enforcement</a:t>
          </a:r>
        </a:p>
      </dsp:txBody>
      <dsp:txXfrm>
        <a:off x="2662065" y="1200021"/>
        <a:ext cx="1895838" cy="1177123"/>
      </dsp:txXfrm>
    </dsp:sp>
    <dsp:sp modelId="{8B9E6C2D-B01C-411B-B01A-005729065092}">
      <dsp:nvSpPr>
        <dsp:cNvPr id="0" name=""/>
        <dsp:cNvSpPr/>
      </dsp:nvSpPr>
      <dsp:spPr>
        <a:xfrm>
          <a:off x="4813312" y="955551"/>
          <a:ext cx="1969082" cy="1250367"/>
        </a:xfrm>
        <a:prstGeom prst="roundRect">
          <a:avLst>
            <a:gd name="adj" fmla="val 10000"/>
          </a:avLst>
        </a:prstGeom>
        <a:solidFill>
          <a:schemeClr val="lt1">
            <a:hueOff val="0"/>
            <a:satOff val="0"/>
            <a:lumOff val="0"/>
            <a:alphaOff val="0"/>
          </a:schemeClr>
        </a:solidFill>
        <a:ln w="2540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D098829-33B5-4C4D-A336-C4B95095AB55}">
      <dsp:nvSpPr>
        <dsp:cNvPr id="0" name=""/>
        <dsp:cNvSpPr/>
      </dsp:nvSpPr>
      <dsp:spPr>
        <a:xfrm>
          <a:off x="5032099" y="1163399"/>
          <a:ext cx="1969082" cy="1250367"/>
        </a:xfrm>
        <a:prstGeom prst="roundRect">
          <a:avLst>
            <a:gd name="adj" fmla="val 10000"/>
          </a:avLst>
        </a:prstGeom>
        <a:solidFill>
          <a:schemeClr val="accent5">
            <a:alpha val="90000"/>
            <a:tint val="4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Hallucination detection</a:t>
          </a:r>
        </a:p>
      </dsp:txBody>
      <dsp:txXfrm>
        <a:off x="5068721" y="1200021"/>
        <a:ext cx="1895838" cy="117712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6CE3E2-880A-4272-BDF4-0F4F5C05DEDD}" type="datetimeFigureOut">
              <a:rPr lang="en-US" smtClean="0"/>
              <a:t>2/24/2026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B5180B-A137-4E2C-858C-649AFC4735B1}" type="slidenum">
              <a:rPr lang="en-US" smtClean="0"/>
              <a:t>‹#›</a:t>
            </a:fld>
            <a:endParaRPr lang="en-US"/>
          </a:p>
        </p:txBody>
      </p:sp>
    </p:spTree>
    <p:extLst>
      <p:ext uri="{BB962C8B-B14F-4D97-AF65-F5344CB8AC3E}">
        <p14:creationId xmlns:p14="http://schemas.microsoft.com/office/powerpoint/2010/main" val="2927211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 want to talk about something many AI teams might underestimate — that is</a:t>
            </a:r>
            <a:br>
              <a:rPr lang="en-US" dirty="0"/>
            </a:br>
            <a:r>
              <a:rPr lang="en-US" dirty="0"/>
              <a:t>how to scale evaluation.</a:t>
            </a:r>
          </a:p>
          <a:p>
            <a:r>
              <a:rPr lang="en-US" dirty="0"/>
              <a:t>Not just score models.</a:t>
            </a:r>
            <a:br>
              <a:rPr lang="en-US" dirty="0"/>
            </a:br>
            <a:r>
              <a:rPr lang="en-US" dirty="0"/>
              <a:t>Not just run benchmarks.</a:t>
            </a:r>
          </a:p>
          <a:p>
            <a:r>
              <a:rPr lang="en-US" dirty="0"/>
              <a:t>But how to make evaluation scale across hundreds of features, languages, and evolving models.</a:t>
            </a:r>
          </a:p>
          <a:p>
            <a:endParaRPr lang="en-US" dirty="0"/>
          </a:p>
        </p:txBody>
      </p:sp>
      <p:sp>
        <p:nvSpPr>
          <p:cNvPr id="4" name="Slide Number Placeholder 3"/>
          <p:cNvSpPr>
            <a:spLocks noGrp="1"/>
          </p:cNvSpPr>
          <p:nvPr>
            <p:ph type="sldNum" sz="quarter" idx="5"/>
          </p:nvPr>
        </p:nvSpPr>
        <p:spPr/>
        <p:txBody>
          <a:bodyPr/>
          <a:lstStyle/>
          <a:p>
            <a:fld id="{BCB5180B-A137-4E2C-858C-649AFC4735B1}" type="slidenum">
              <a:rPr lang="en-US" smtClean="0"/>
              <a:t>1</a:t>
            </a:fld>
            <a:endParaRPr lang="en-US"/>
          </a:p>
        </p:txBody>
      </p:sp>
    </p:spTree>
    <p:extLst>
      <p:ext uri="{BB962C8B-B14F-4D97-AF65-F5344CB8AC3E}">
        <p14:creationId xmlns:p14="http://schemas.microsoft.com/office/powerpoint/2010/main" val="33116099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summarize the core idea. Scale and autonomy make manual evaluation impossible.</a:t>
            </a:r>
          </a:p>
          <a:p>
            <a:r>
              <a:rPr lang="en-US" dirty="0"/>
              <a:t>If every feature team:</a:t>
            </a:r>
          </a:p>
          <a:p>
            <a:r>
              <a:rPr lang="en-US" dirty="0"/>
              <a:t>Writes their own prompts</a:t>
            </a:r>
          </a:p>
          <a:p>
            <a:r>
              <a:rPr lang="en-US" dirty="0"/>
              <a:t>Chooses their own metrics</a:t>
            </a:r>
          </a:p>
          <a:p>
            <a:r>
              <a:rPr lang="en-US" dirty="0"/>
              <a:t>Applies Responsible AI checks slightly differently</a:t>
            </a:r>
          </a:p>
          <a:p>
            <a:r>
              <a:rPr lang="en-US" dirty="0"/>
              <a:t>You lose consistency.</a:t>
            </a:r>
            <a:br>
              <a:rPr lang="en-US" dirty="0"/>
            </a:br>
            <a:r>
              <a:rPr lang="en-US" dirty="0"/>
              <a:t>You lose comparability.</a:t>
            </a:r>
            <a:br>
              <a:rPr lang="en-US" dirty="0"/>
            </a:br>
            <a:r>
              <a:rPr lang="en-US" dirty="0"/>
              <a:t>You lose trust.</a:t>
            </a:r>
          </a:p>
          <a:p>
            <a:r>
              <a:rPr lang="en-US" dirty="0"/>
              <a:t>So I treat evaluation as governed platform infrastructure.</a:t>
            </a:r>
          </a:p>
          <a:p>
            <a:r>
              <a:rPr lang="en-US" dirty="0"/>
              <a:t>But governance alone isn’t enough.</a:t>
            </a:r>
          </a:p>
          <a:p>
            <a:r>
              <a:rPr lang="en-US" dirty="0"/>
              <a:t>The key is metadata-driven orchestration.</a:t>
            </a:r>
          </a:p>
          <a:p>
            <a:r>
              <a:rPr lang="en-US" dirty="0"/>
              <a:t>That’s what makes it scalable.</a:t>
            </a:r>
          </a:p>
          <a:p>
            <a:r>
              <a:rPr lang="en-US" dirty="0"/>
              <a:t>And Responsible AI isn’t a checklist — it’s structurally enforced inside the orchestration layer.”</a:t>
            </a:r>
          </a:p>
          <a:p>
            <a:endParaRPr lang="en-US" dirty="0"/>
          </a:p>
        </p:txBody>
      </p:sp>
      <p:sp>
        <p:nvSpPr>
          <p:cNvPr id="4" name="Slide Number Placeholder 3"/>
          <p:cNvSpPr>
            <a:spLocks noGrp="1"/>
          </p:cNvSpPr>
          <p:nvPr>
            <p:ph type="sldNum" sz="quarter" idx="5"/>
          </p:nvPr>
        </p:nvSpPr>
        <p:spPr/>
        <p:txBody>
          <a:bodyPr/>
          <a:lstStyle/>
          <a:p>
            <a:fld id="{BCB5180B-A137-4E2C-858C-649AFC4735B1}" type="slidenum">
              <a:rPr lang="en-US" smtClean="0"/>
              <a:t>2</a:t>
            </a:fld>
            <a:endParaRPr lang="en-US"/>
          </a:p>
        </p:txBody>
      </p:sp>
    </p:spTree>
    <p:extLst>
      <p:ext uri="{BB962C8B-B14F-4D97-AF65-F5344CB8AC3E}">
        <p14:creationId xmlns:p14="http://schemas.microsoft.com/office/powerpoint/2010/main" val="3559830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large scale, evaluation fails in four ways:</a:t>
            </a:r>
          </a:p>
          <a:p>
            <a:r>
              <a:rPr lang="en-US" dirty="0"/>
              <a:t>Feature-specific evaluation doesn’t generalize.</a:t>
            </a:r>
          </a:p>
          <a:p>
            <a:r>
              <a:rPr lang="en-US" dirty="0"/>
              <a:t>LLM-as-judge increases throughput but introduces drift.</a:t>
            </a:r>
          </a:p>
          <a:p>
            <a:r>
              <a:rPr lang="en-US" dirty="0"/>
              <a:t>Prompts evolve informally over time.</a:t>
            </a:r>
          </a:p>
          <a:p>
            <a:r>
              <a:rPr lang="en-US" dirty="0"/>
              <a:t>Risk enforcement becomes inconsistent across teams.</a:t>
            </a:r>
          </a:p>
          <a:p>
            <a:r>
              <a:rPr lang="en-US" dirty="0"/>
              <a:t>The deeper issue is this:</a:t>
            </a:r>
          </a:p>
          <a:p>
            <a:r>
              <a:rPr lang="en-US" dirty="0"/>
              <a:t>Evaluation today is treated as content —</a:t>
            </a:r>
            <a:br>
              <a:rPr lang="en-US" dirty="0"/>
            </a:br>
            <a:r>
              <a:rPr lang="en-US" dirty="0"/>
              <a:t>but it should be treated as code.</a:t>
            </a:r>
          </a:p>
          <a:p>
            <a:r>
              <a:rPr lang="en-US" dirty="0"/>
              <a:t>Without a governed evaluation layer, you cannot:</a:t>
            </a:r>
          </a:p>
          <a:p>
            <a:r>
              <a:rPr lang="en-US" dirty="0"/>
              <a:t>Compare scores across time</a:t>
            </a:r>
          </a:p>
          <a:p>
            <a:r>
              <a:rPr lang="en-US" dirty="0"/>
              <a:t>Compare scores across features</a:t>
            </a:r>
          </a:p>
          <a:p>
            <a:r>
              <a:rPr lang="en-US" dirty="0"/>
              <a:t>Or ensure consistent RAI enforcement</a:t>
            </a:r>
          </a:p>
          <a:p>
            <a:r>
              <a:rPr lang="en-US" dirty="0"/>
              <a:t>The bottleneck is architectural, not human.”</a:t>
            </a:r>
          </a:p>
          <a:p>
            <a:endParaRPr lang="en-US" dirty="0"/>
          </a:p>
        </p:txBody>
      </p:sp>
      <p:sp>
        <p:nvSpPr>
          <p:cNvPr id="4" name="Slide Number Placeholder 3"/>
          <p:cNvSpPr>
            <a:spLocks noGrp="1"/>
          </p:cNvSpPr>
          <p:nvPr>
            <p:ph type="sldNum" sz="quarter" idx="5"/>
          </p:nvPr>
        </p:nvSpPr>
        <p:spPr/>
        <p:txBody>
          <a:bodyPr/>
          <a:lstStyle/>
          <a:p>
            <a:fld id="{BCB5180B-A137-4E2C-858C-649AFC4735B1}" type="slidenum">
              <a:rPr lang="en-US" smtClean="0"/>
              <a:t>3</a:t>
            </a:fld>
            <a:endParaRPr lang="en-US"/>
          </a:p>
        </p:txBody>
      </p:sp>
    </p:spTree>
    <p:extLst>
      <p:ext uri="{BB962C8B-B14F-4D97-AF65-F5344CB8AC3E}">
        <p14:creationId xmlns:p14="http://schemas.microsoft.com/office/powerpoint/2010/main" val="29369536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“Scalability starts with abstraction.</a:t>
            </a:r>
          </a:p>
          <a:p>
            <a:r>
              <a:rPr lang="en-US" dirty="0"/>
              <a:t>Quality is not universal.</a:t>
            </a:r>
          </a:p>
          <a:p>
            <a:r>
              <a:rPr lang="en-US" dirty="0"/>
              <a:t>A summarization model fails differently from a creative generator.</a:t>
            </a:r>
            <a:br>
              <a:rPr lang="en-US" dirty="0"/>
            </a:br>
            <a:r>
              <a:rPr lang="en-US" dirty="0"/>
              <a:t>A translation feature fails differently from a personal assistant.</a:t>
            </a:r>
          </a:p>
          <a:p>
            <a:r>
              <a:rPr lang="en-US" dirty="0"/>
              <a:t>So instead of writing evaluation logic per feature,</a:t>
            </a:r>
            <a:br>
              <a:rPr lang="en-US" dirty="0"/>
            </a:br>
            <a:r>
              <a:rPr lang="en-US" dirty="0"/>
              <a:t>I define canonical feature categories.</a:t>
            </a:r>
          </a:p>
          <a:p>
            <a:r>
              <a:rPr lang="en-US" dirty="0"/>
              <a:t>Each category defines:</a:t>
            </a:r>
          </a:p>
          <a:p>
            <a:r>
              <a:rPr lang="en-US" dirty="0"/>
              <a:t>What metrics are valid</a:t>
            </a:r>
          </a:p>
          <a:p>
            <a:r>
              <a:rPr lang="en-US" dirty="0"/>
              <a:t>What risks are dominant</a:t>
            </a:r>
          </a:p>
          <a:p>
            <a:r>
              <a:rPr lang="en-US" dirty="0"/>
              <a:t>What Responsible AI gates are required</a:t>
            </a:r>
          </a:p>
          <a:p>
            <a:r>
              <a:rPr lang="en-US" dirty="0"/>
              <a:t>For example:</a:t>
            </a:r>
          </a:p>
          <a:p>
            <a:r>
              <a:rPr lang="en-US" dirty="0"/>
              <a:t>Summarization , we focus Faithfulness, coverage  &amp; hallucination avoidance</a:t>
            </a:r>
            <a:br>
              <a:rPr lang="en-US" dirty="0"/>
            </a:br>
            <a:r>
              <a:rPr lang="en-US" dirty="0"/>
              <a:t>Translation, we focus Semantic equivalence &amp; cultural alignment</a:t>
            </a:r>
            <a:br>
              <a:rPr lang="en-US" dirty="0"/>
            </a:br>
            <a:r>
              <a:rPr lang="en-US" dirty="0"/>
              <a:t>This taxonomy becomes the foundation for reuse.</a:t>
            </a:r>
          </a:p>
          <a:p>
            <a:r>
              <a:rPr lang="en-US" dirty="0"/>
              <a:t>When a new feature launches, we don’t invent evaluation from scratch —</a:t>
            </a:r>
            <a:br>
              <a:rPr lang="en-US" dirty="0"/>
            </a:br>
            <a:r>
              <a:rPr lang="en-US" dirty="0"/>
              <a:t>we map it to a category and inherit its evaluation contract.” Be noted that we also need to provide a</a:t>
            </a:r>
            <a:r>
              <a:rPr lang="en-US" sz="1200" b="0" i="0" kern="1200" dirty="0">
                <a:solidFill>
                  <a:schemeClr val="tx1"/>
                </a:solidFill>
                <a:effectLst/>
                <a:latin typeface="+mn-lt"/>
                <a:ea typeface="+mn-ea"/>
                <a:cs typeface="+mn-cs"/>
              </a:rPr>
              <a:t> controlled custom category for novel or emerging feature types. Features assigned to this category must explicitly declare their evaluation metrics and are subject to mandatory Responsible AI enforcement, ensuring that innovation does not bypass.</a:t>
            </a:r>
            <a:endParaRPr lang="en-US" dirty="0"/>
          </a:p>
          <a:p>
            <a:endParaRPr lang="en-US" dirty="0"/>
          </a:p>
        </p:txBody>
      </p:sp>
      <p:sp>
        <p:nvSpPr>
          <p:cNvPr id="4" name="Slide Number Placeholder 3"/>
          <p:cNvSpPr>
            <a:spLocks noGrp="1"/>
          </p:cNvSpPr>
          <p:nvPr>
            <p:ph type="sldNum" sz="quarter" idx="5"/>
          </p:nvPr>
        </p:nvSpPr>
        <p:spPr/>
        <p:txBody>
          <a:bodyPr/>
          <a:lstStyle/>
          <a:p>
            <a:fld id="{BCB5180B-A137-4E2C-858C-649AFC4735B1}" type="slidenum">
              <a:rPr lang="en-US" smtClean="0"/>
              <a:t>4</a:t>
            </a:fld>
            <a:endParaRPr lang="en-US"/>
          </a:p>
        </p:txBody>
      </p:sp>
    </p:spTree>
    <p:extLst>
      <p:ext uri="{BB962C8B-B14F-4D97-AF65-F5344CB8AC3E}">
        <p14:creationId xmlns:p14="http://schemas.microsoft.com/office/powerpoint/2010/main" val="66038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principles that make this scalable in practice.</a:t>
            </a:r>
          </a:p>
          <a:p>
            <a:r>
              <a:rPr lang="en-US" dirty="0"/>
              <a:t>First: Auditability and traceability.</a:t>
            </a:r>
          </a:p>
          <a:p>
            <a:r>
              <a:rPr lang="en-US" dirty="0"/>
              <a:t>Every evaluation prompt is versioned.</a:t>
            </a:r>
            <a:br>
              <a:rPr lang="en-US" dirty="0"/>
            </a:br>
            <a:r>
              <a:rPr lang="en-US" dirty="0"/>
              <a:t>Every metric is explicitly defined.</a:t>
            </a:r>
            <a:br>
              <a:rPr lang="en-US" dirty="0"/>
            </a:br>
            <a:r>
              <a:rPr lang="en-US" dirty="0"/>
              <a:t>Every output is structured JSON.</a:t>
            </a:r>
          </a:p>
          <a:p>
            <a:r>
              <a:rPr lang="en-US" dirty="0"/>
              <a:t>This makes evaluation reproducible.</a:t>
            </a:r>
          </a:p>
          <a:p>
            <a:r>
              <a:rPr lang="en-US" dirty="0"/>
              <a:t>Second: Structural Responsible AI enforcement.</a:t>
            </a:r>
          </a:p>
          <a:p>
            <a:r>
              <a:rPr lang="en-US" dirty="0"/>
              <a:t>Safety, privacy, and bias are not optional scoring dimensions.</a:t>
            </a:r>
            <a:br>
              <a:rPr lang="en-US" dirty="0"/>
            </a:br>
            <a:r>
              <a:rPr lang="en-US" dirty="0"/>
              <a:t>They are hard gates embedded in the template.</a:t>
            </a:r>
          </a:p>
          <a:p>
            <a:r>
              <a:rPr lang="en-US" dirty="0"/>
              <a:t>Third: Cost-aware orchestration.</a:t>
            </a:r>
          </a:p>
          <a:p>
            <a:r>
              <a:rPr lang="en-US" dirty="0"/>
              <a:t>Scalability is not just technical — it’s economic.</a:t>
            </a:r>
          </a:p>
          <a:p>
            <a:r>
              <a:rPr lang="en-US" dirty="0"/>
              <a:t>If every evaluation requires multi-step agent reasoning,</a:t>
            </a:r>
            <a:br>
              <a:rPr lang="en-US" dirty="0"/>
            </a:br>
            <a:r>
              <a:rPr lang="en-US" dirty="0"/>
              <a:t>cost becomes the bottleneck.</a:t>
            </a:r>
          </a:p>
          <a:p>
            <a:r>
              <a:rPr lang="en-US" dirty="0"/>
              <a:t>So we separate deterministic and agentic modes.”</a:t>
            </a:r>
          </a:p>
          <a:p>
            <a:endParaRPr lang="en-US" dirty="0"/>
          </a:p>
        </p:txBody>
      </p:sp>
      <p:sp>
        <p:nvSpPr>
          <p:cNvPr id="4" name="Slide Number Placeholder 3"/>
          <p:cNvSpPr>
            <a:spLocks noGrp="1"/>
          </p:cNvSpPr>
          <p:nvPr>
            <p:ph type="sldNum" sz="quarter" idx="5"/>
          </p:nvPr>
        </p:nvSpPr>
        <p:spPr/>
        <p:txBody>
          <a:bodyPr/>
          <a:lstStyle/>
          <a:p>
            <a:fld id="{BCB5180B-A137-4E2C-858C-649AFC4735B1}" type="slidenum">
              <a:rPr lang="en-US" smtClean="0"/>
              <a:t>5</a:t>
            </a:fld>
            <a:endParaRPr lang="en-US"/>
          </a:p>
        </p:txBody>
      </p:sp>
    </p:spTree>
    <p:extLst>
      <p:ext uri="{BB962C8B-B14F-4D97-AF65-F5344CB8AC3E}">
        <p14:creationId xmlns:p14="http://schemas.microsoft.com/office/powerpoint/2010/main" val="29796985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This is the core architectural decision.</a:t>
            </a:r>
          </a:p>
          <a:p>
            <a:r>
              <a:rPr lang="en-US" dirty="0"/>
              <a:t>We intentionally built </a:t>
            </a:r>
            <a:r>
              <a:rPr lang="en-US" b="1" dirty="0"/>
              <a:t>two modes</a:t>
            </a:r>
            <a:r>
              <a:rPr lang="en-US" dirty="0"/>
              <a:t>.</a:t>
            </a:r>
          </a:p>
          <a:p>
            <a:r>
              <a:rPr lang="en-US" b="1" dirty="0"/>
              <a:t>Template Mode</a:t>
            </a:r>
            <a:r>
              <a:rPr lang="en-US" dirty="0"/>
              <a:t> is pure Python.</a:t>
            </a:r>
            <a:br>
              <a:rPr lang="en-US" dirty="0"/>
            </a:br>
            <a:r>
              <a:rPr lang="en-US" dirty="0"/>
              <a:t>It’s deterministic.</a:t>
            </a:r>
            <a:br>
              <a:rPr lang="en-US" dirty="0"/>
            </a:br>
            <a:r>
              <a:rPr lang="en-US" dirty="0"/>
              <a:t>No dynamic reasoning.</a:t>
            </a:r>
            <a:br>
              <a:rPr lang="en-US" dirty="0"/>
            </a:br>
            <a:r>
              <a:rPr lang="en-US" dirty="0"/>
              <a:t>It’s fast, predictable, and essentially free to run at scale.</a:t>
            </a:r>
          </a:p>
          <a:p>
            <a:r>
              <a:rPr lang="en-US" b="1" dirty="0"/>
              <a:t>Agent Mode</a:t>
            </a:r>
            <a:r>
              <a:rPr lang="en-US" dirty="0"/>
              <a:t> is built on the Microsoft Agent Framework.</a:t>
            </a:r>
            <a:br>
              <a:rPr lang="en-US" dirty="0"/>
            </a:br>
            <a:r>
              <a:rPr lang="en-US" dirty="0"/>
              <a:t>It can use tools.</a:t>
            </a:r>
            <a:br>
              <a:rPr lang="en-US" dirty="0"/>
            </a:br>
            <a:r>
              <a:rPr lang="en-US" dirty="0"/>
              <a:t>It has memory.</a:t>
            </a:r>
            <a:br>
              <a:rPr lang="en-US" dirty="0"/>
            </a:br>
            <a:r>
              <a:rPr lang="en-US" dirty="0"/>
              <a:t>It makes dynamic decisions.</a:t>
            </a:r>
          </a:p>
          <a:p>
            <a:r>
              <a:rPr lang="en-US" dirty="0"/>
              <a:t>So why do we need both?</a:t>
            </a:r>
          </a:p>
          <a:p>
            <a:r>
              <a:rPr lang="en-US" dirty="0"/>
              <a:t>Because scalability has two dimensions.</a:t>
            </a:r>
          </a:p>
          <a:p>
            <a:r>
              <a:rPr lang="en-US" dirty="0"/>
              <a:t>Operational scale — handling massive volume — that’s Template Mode.</a:t>
            </a:r>
            <a:br>
              <a:rPr lang="en-US" dirty="0"/>
            </a:br>
            <a:r>
              <a:rPr lang="en-US" dirty="0"/>
              <a:t>Complexity scale — handling novel, ambiguous tasks — that’s Agent Mode.</a:t>
            </a:r>
          </a:p>
          <a:p>
            <a:r>
              <a:rPr lang="en-US" dirty="0"/>
              <a:t>Template Mode handles volume.</a:t>
            </a:r>
            <a:br>
              <a:rPr lang="en-US" dirty="0"/>
            </a:br>
            <a:r>
              <a:rPr lang="en-US" dirty="0"/>
              <a:t>Agent Mode handles novelty.</a:t>
            </a:r>
          </a:p>
          <a:p>
            <a:r>
              <a:rPr lang="en-US" dirty="0"/>
              <a:t>Determinism protects the system.</a:t>
            </a:r>
            <a:br>
              <a:rPr lang="en-US" dirty="0"/>
            </a:br>
            <a:r>
              <a:rPr lang="en-US" dirty="0"/>
              <a:t>Agent autonomy improves the system.</a:t>
            </a:r>
          </a:p>
          <a:p>
            <a:r>
              <a:rPr lang="en-US" dirty="0"/>
              <a:t>And any real production system evolves over time.</a:t>
            </a:r>
            <a:br>
              <a:rPr lang="en-US" dirty="0"/>
            </a:br>
            <a:r>
              <a:rPr lang="en-US" dirty="0"/>
              <a:t>We start with these two modes, monitor performance and feedback, and let data guide how each one expands or replace.</a:t>
            </a:r>
          </a:p>
          <a:p>
            <a:r>
              <a:rPr lang="en-US" dirty="0"/>
              <a:t>Stability is the foundation.</a:t>
            </a:r>
            <a:br>
              <a:rPr lang="en-US" dirty="0"/>
            </a:br>
            <a:r>
              <a:rPr lang="en-US" dirty="0"/>
              <a:t>Intelligence is the accelerator.</a:t>
            </a:r>
          </a:p>
          <a:p>
            <a:endParaRPr lang="en-US" dirty="0"/>
          </a:p>
        </p:txBody>
      </p:sp>
      <p:sp>
        <p:nvSpPr>
          <p:cNvPr id="4" name="Slide Number Placeholder 3"/>
          <p:cNvSpPr>
            <a:spLocks noGrp="1"/>
          </p:cNvSpPr>
          <p:nvPr>
            <p:ph type="sldNum" sz="quarter" idx="5"/>
          </p:nvPr>
        </p:nvSpPr>
        <p:spPr/>
        <p:txBody>
          <a:bodyPr/>
          <a:lstStyle/>
          <a:p>
            <a:fld id="{BCB5180B-A137-4E2C-858C-649AFC4735B1}" type="slidenum">
              <a:rPr lang="en-US" smtClean="0"/>
              <a:t>6</a:t>
            </a:fld>
            <a:endParaRPr lang="en-US"/>
          </a:p>
        </p:txBody>
      </p:sp>
    </p:spTree>
    <p:extLst>
      <p:ext uri="{BB962C8B-B14F-4D97-AF65-F5344CB8AC3E}">
        <p14:creationId xmlns:p14="http://schemas.microsoft.com/office/powerpoint/2010/main" val="5765519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how scalability becomes mechanical.</a:t>
            </a:r>
          </a:p>
          <a:p>
            <a:r>
              <a:rPr lang="en-US" dirty="0"/>
              <a:t>We don’t manually write prompts.</a:t>
            </a:r>
          </a:p>
          <a:p>
            <a:r>
              <a:rPr lang="en-US" dirty="0"/>
              <a:t>We assemble them based on:</a:t>
            </a:r>
          </a:p>
          <a:p>
            <a:r>
              <a:rPr lang="en-US" dirty="0"/>
              <a:t>Feature metadata</a:t>
            </a:r>
          </a:p>
          <a:p>
            <a:r>
              <a:rPr lang="en-US" dirty="0"/>
              <a:t>Category &amp; locale resolution</a:t>
            </a:r>
          </a:p>
          <a:p>
            <a:r>
              <a:rPr lang="en-US" dirty="0"/>
              <a:t>Metric selection</a:t>
            </a:r>
          </a:p>
          <a:p>
            <a:r>
              <a:rPr lang="en-US" dirty="0"/>
              <a:t>RAI injection</a:t>
            </a:r>
          </a:p>
          <a:p>
            <a:r>
              <a:rPr lang="en-US" dirty="0"/>
              <a:t>JSON output enforcement</a:t>
            </a:r>
          </a:p>
          <a:p>
            <a:r>
              <a:rPr lang="en-US" dirty="0"/>
              <a:t>Each template has a fixed structure:</a:t>
            </a:r>
          </a:p>
          <a:p>
            <a:r>
              <a:rPr lang="en-US" dirty="0"/>
              <a:t>Evaluator role</a:t>
            </a:r>
          </a:p>
          <a:p>
            <a:r>
              <a:rPr lang="en-US" dirty="0"/>
              <a:t>Hard fail gates</a:t>
            </a:r>
          </a:p>
          <a:p>
            <a:r>
              <a:rPr lang="en-US" dirty="0"/>
              <a:t>Primary metrics with weights</a:t>
            </a:r>
          </a:p>
          <a:p>
            <a:r>
              <a:rPr lang="en-US" dirty="0"/>
              <a:t>Second-order signals</a:t>
            </a:r>
          </a:p>
          <a:p>
            <a:r>
              <a:rPr lang="en-US" dirty="0"/>
              <a:t>Evaluation protocol</a:t>
            </a:r>
          </a:p>
          <a:p>
            <a:r>
              <a:rPr lang="en-US" dirty="0"/>
              <a:t>Responsible AI checklist</a:t>
            </a:r>
          </a:p>
          <a:p>
            <a:r>
              <a:rPr lang="en-US" dirty="0"/>
              <a:t>Structured output format</a:t>
            </a:r>
          </a:p>
          <a:p>
            <a:r>
              <a:rPr lang="en-US" dirty="0"/>
              <a:t>Hard gates override scoring.</a:t>
            </a:r>
          </a:p>
          <a:p>
            <a:r>
              <a:rPr lang="en-US" dirty="0"/>
              <a:t>If privacy or safety fails,</a:t>
            </a:r>
            <a:br>
              <a:rPr lang="en-US" dirty="0"/>
            </a:br>
            <a:r>
              <a:rPr lang="en-US" dirty="0"/>
              <a:t>the feature fails — regardless of metric averages.</a:t>
            </a:r>
          </a:p>
          <a:p>
            <a:r>
              <a:rPr lang="en-US" dirty="0"/>
              <a:t>This makes risk enforcement scalable and consistent.”</a:t>
            </a:r>
          </a:p>
          <a:p>
            <a:endParaRPr lang="en-US" dirty="0"/>
          </a:p>
        </p:txBody>
      </p:sp>
      <p:sp>
        <p:nvSpPr>
          <p:cNvPr id="4" name="Slide Number Placeholder 3"/>
          <p:cNvSpPr>
            <a:spLocks noGrp="1"/>
          </p:cNvSpPr>
          <p:nvPr>
            <p:ph type="sldNum" sz="quarter" idx="5"/>
          </p:nvPr>
        </p:nvSpPr>
        <p:spPr/>
        <p:txBody>
          <a:bodyPr/>
          <a:lstStyle/>
          <a:p>
            <a:fld id="{BCB5180B-A137-4E2C-858C-649AFC4735B1}" type="slidenum">
              <a:rPr lang="en-US" smtClean="0"/>
              <a:t>7</a:t>
            </a:fld>
            <a:endParaRPr lang="en-US"/>
          </a:p>
        </p:txBody>
      </p:sp>
    </p:spTree>
    <p:extLst>
      <p:ext uri="{BB962C8B-B14F-4D97-AF65-F5344CB8AC3E}">
        <p14:creationId xmlns:p14="http://schemas.microsoft.com/office/powerpoint/2010/main" val="32565700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feature is new or ambiguous, deterministic rules aren’t enough.</a:t>
            </a:r>
          </a:p>
          <a:p>
            <a:r>
              <a:rPr lang="en-US" dirty="0"/>
              <a:t>Agent mode introduces goal-directed reasoning.</a:t>
            </a:r>
          </a:p>
          <a:p>
            <a:r>
              <a:rPr lang="en-US" dirty="0"/>
              <a:t>The agent can:</a:t>
            </a:r>
          </a:p>
          <a:p>
            <a:r>
              <a:rPr lang="en-US" dirty="0"/>
              <a:t>Look up relevant metrics</a:t>
            </a:r>
          </a:p>
          <a:p>
            <a:r>
              <a:rPr lang="en-US" dirty="0"/>
              <a:t>Suggest additional ones</a:t>
            </a:r>
          </a:p>
          <a:p>
            <a:r>
              <a:rPr lang="en-US" dirty="0"/>
              <a:t>Detect architecture type</a:t>
            </a:r>
          </a:p>
          <a:p>
            <a:r>
              <a:rPr lang="en-US" dirty="0"/>
              <a:t>Retrieve locale regulatory info</a:t>
            </a:r>
          </a:p>
          <a:p>
            <a:r>
              <a:rPr lang="en-US" dirty="0"/>
              <a:t>Validate RAI compliance</a:t>
            </a:r>
          </a:p>
          <a:p>
            <a:r>
              <a:rPr lang="en-US" dirty="0"/>
              <a:t>Construct updated evaluation prompts</a:t>
            </a:r>
          </a:p>
          <a:p>
            <a:r>
              <a:rPr lang="en-US" dirty="0"/>
              <a:t>But importantly:</a:t>
            </a:r>
            <a:br>
              <a:rPr lang="en-US" dirty="0"/>
            </a:br>
            <a:r>
              <a:rPr lang="en-US" dirty="0"/>
              <a:t>It uses tools.</a:t>
            </a:r>
            <a:br>
              <a:rPr lang="en-US" dirty="0"/>
            </a:br>
            <a:r>
              <a:rPr lang="en-US" dirty="0"/>
              <a:t>It doesn’t hallucinate structure.</a:t>
            </a:r>
          </a:p>
          <a:p>
            <a:r>
              <a:rPr lang="en-US" dirty="0"/>
              <a:t>This makes it adaptive but still governed.”</a:t>
            </a:r>
          </a:p>
          <a:p>
            <a:endParaRPr lang="en-US" dirty="0"/>
          </a:p>
          <a:p>
            <a:endParaRPr lang="en-US" dirty="0"/>
          </a:p>
        </p:txBody>
      </p:sp>
      <p:sp>
        <p:nvSpPr>
          <p:cNvPr id="4" name="Slide Number Placeholder 3"/>
          <p:cNvSpPr>
            <a:spLocks noGrp="1"/>
          </p:cNvSpPr>
          <p:nvPr>
            <p:ph type="sldNum" sz="quarter" idx="5"/>
          </p:nvPr>
        </p:nvSpPr>
        <p:spPr/>
        <p:txBody>
          <a:bodyPr/>
          <a:lstStyle/>
          <a:p>
            <a:fld id="{BCB5180B-A137-4E2C-858C-649AFC4735B1}" type="slidenum">
              <a:rPr lang="en-US" smtClean="0"/>
              <a:t>8</a:t>
            </a:fld>
            <a:endParaRPr lang="en-US"/>
          </a:p>
        </p:txBody>
      </p:sp>
    </p:spTree>
    <p:extLst>
      <p:ext uri="{BB962C8B-B14F-4D97-AF65-F5344CB8AC3E}">
        <p14:creationId xmlns:p14="http://schemas.microsoft.com/office/powerpoint/2010/main" val="40573671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makes the tradeoff very clear.</a:t>
            </a:r>
          </a:p>
          <a:p>
            <a:r>
              <a:rPr lang="en-US" dirty="0"/>
              <a:t>With the </a:t>
            </a:r>
            <a:r>
              <a:rPr lang="en-US" b="1" dirty="0"/>
              <a:t>agent-generated prompt</a:t>
            </a:r>
            <a:r>
              <a:rPr lang="en-US" dirty="0"/>
              <a:t>, you get:</a:t>
            </a:r>
          </a:p>
          <a:p>
            <a:r>
              <a:rPr lang="en-US" dirty="0"/>
              <a:t>20+ evaluation metrics</a:t>
            </a:r>
          </a:p>
          <a:p>
            <a:r>
              <a:rPr lang="en-US" dirty="0"/>
              <a:t>Very fine-grained reasoning</a:t>
            </a:r>
          </a:p>
          <a:p>
            <a:r>
              <a:rPr lang="en-US" dirty="0"/>
              <a:t>High transparency</a:t>
            </a:r>
          </a:p>
          <a:p>
            <a:r>
              <a:rPr lang="en-US" dirty="0"/>
              <a:t>But it also comes with higher cognitive load.</a:t>
            </a:r>
          </a:p>
          <a:p>
            <a:r>
              <a:rPr lang="en-US" dirty="0"/>
              <a:t>It’s ideal for research, deep diagnostics, and red-teaming — where you want maximum insight.</a:t>
            </a:r>
          </a:p>
          <a:p>
            <a:r>
              <a:rPr lang="en-US" dirty="0"/>
              <a:t>With the </a:t>
            </a:r>
            <a:r>
              <a:rPr lang="en-US" b="1" dirty="0"/>
              <a:t>template prompt</a:t>
            </a:r>
            <a:r>
              <a:rPr lang="en-US" dirty="0"/>
              <a:t>, you get:</a:t>
            </a:r>
          </a:p>
          <a:p>
            <a:r>
              <a:rPr lang="en-US" dirty="0"/>
              <a:t>A focused set of core metrics</a:t>
            </a:r>
          </a:p>
          <a:p>
            <a:r>
              <a:rPr lang="en-US" dirty="0"/>
              <a:t>Stable, repeatable outputs</a:t>
            </a:r>
          </a:p>
          <a:p>
            <a:r>
              <a:rPr lang="en-US" dirty="0"/>
              <a:t>Clear operational logic</a:t>
            </a:r>
          </a:p>
          <a:p>
            <a:r>
              <a:rPr lang="en-US" dirty="0"/>
              <a:t>Strong automation readiness</a:t>
            </a:r>
          </a:p>
          <a:p>
            <a:r>
              <a:rPr lang="en-US" dirty="0"/>
              <a:t>So the right choice depends on the scenario.</a:t>
            </a:r>
          </a:p>
          <a:p>
            <a:r>
              <a:rPr lang="en-US" dirty="0"/>
              <a:t>If you need stability and high volume — use the template.</a:t>
            </a:r>
            <a:br>
              <a:rPr lang="en-US" dirty="0"/>
            </a:br>
            <a:r>
              <a:rPr lang="en-US" dirty="0"/>
              <a:t>If you need depth and adaptability — use the agent.</a:t>
            </a:r>
          </a:p>
          <a:p>
            <a:r>
              <a:rPr lang="en-US" dirty="0"/>
              <a:t>And in many real-world systems, the best solution is hybrid —</a:t>
            </a:r>
            <a:br>
              <a:rPr lang="en-US" dirty="0"/>
            </a:br>
            <a:r>
              <a:rPr lang="en-US" dirty="0"/>
              <a:t>let the template handle the bulk automation,</a:t>
            </a:r>
            <a:br>
              <a:rPr lang="en-US" dirty="0"/>
            </a:br>
            <a:r>
              <a:rPr lang="en-US" dirty="0"/>
              <a:t>and let the agent step in when human judgment or deeper reasoning is required.</a:t>
            </a:r>
          </a:p>
          <a:p>
            <a:r>
              <a:rPr lang="en-US" dirty="0"/>
              <a:t>It’s not either-or. It’s about designing the right balance.</a:t>
            </a:r>
          </a:p>
        </p:txBody>
      </p:sp>
      <p:sp>
        <p:nvSpPr>
          <p:cNvPr id="4" name="Slide Number Placeholder 3"/>
          <p:cNvSpPr>
            <a:spLocks noGrp="1"/>
          </p:cNvSpPr>
          <p:nvPr>
            <p:ph type="sldNum" sz="quarter" idx="5"/>
          </p:nvPr>
        </p:nvSpPr>
        <p:spPr/>
        <p:txBody>
          <a:bodyPr/>
          <a:lstStyle/>
          <a:p>
            <a:fld id="{BCB5180B-A137-4E2C-858C-649AFC4735B1}" type="slidenum">
              <a:rPr lang="en-US" smtClean="0"/>
              <a:t>9</a:t>
            </a:fld>
            <a:endParaRPr lang="en-US"/>
          </a:p>
        </p:txBody>
      </p:sp>
    </p:spTree>
    <p:extLst>
      <p:ext uri="{BB962C8B-B14F-4D97-AF65-F5344CB8AC3E}">
        <p14:creationId xmlns:p14="http://schemas.microsoft.com/office/powerpoint/2010/main" val="8131772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governance meets scalability.</a:t>
            </a:r>
          </a:p>
          <a:p>
            <a:r>
              <a:rPr lang="en-US" dirty="0"/>
              <a:t>Responsible AI exists at three structural layers:</a:t>
            </a:r>
          </a:p>
          <a:p>
            <a:r>
              <a:rPr lang="en-US" dirty="0"/>
              <a:t>Privacy protection</a:t>
            </a:r>
            <a:br>
              <a:rPr lang="en-US" dirty="0"/>
            </a:br>
            <a:r>
              <a:rPr lang="en-US" dirty="0"/>
              <a:t>Bias &amp; safety enforcement</a:t>
            </a:r>
            <a:br>
              <a:rPr lang="en-US" dirty="0"/>
            </a:br>
            <a:r>
              <a:rPr lang="en-US" dirty="0"/>
              <a:t>Hallucination detection</a:t>
            </a:r>
          </a:p>
          <a:p>
            <a:r>
              <a:rPr lang="en-US" dirty="0"/>
              <a:t>These are not advisory — they are embedded.</a:t>
            </a:r>
          </a:p>
          <a:p>
            <a:r>
              <a:rPr lang="en-US" dirty="0"/>
              <a:t>For example:</a:t>
            </a:r>
            <a:br>
              <a:rPr lang="en-US" dirty="0"/>
            </a:br>
            <a:r>
              <a:rPr lang="en-US" dirty="0"/>
              <a:t>If a translation leaks PII → automatic fail.</a:t>
            </a:r>
            <a:br>
              <a:rPr lang="en-US" dirty="0"/>
            </a:br>
            <a:r>
              <a:rPr lang="en-US" dirty="0"/>
              <a:t>If a summarization invents medical advice → automatic fail.</a:t>
            </a:r>
          </a:p>
          <a:p>
            <a:r>
              <a:rPr lang="en-US" dirty="0"/>
              <a:t>As the product expands to new markets,</a:t>
            </a:r>
            <a:br>
              <a:rPr lang="en-US" dirty="0"/>
            </a:br>
            <a:r>
              <a:rPr lang="en-US" dirty="0"/>
              <a:t>locale-specific RAI requirements are injected automatically.</a:t>
            </a:r>
          </a:p>
          <a:p>
            <a:r>
              <a:rPr lang="en-US" dirty="0"/>
              <a:t>Trust scales with product growth.”</a:t>
            </a:r>
          </a:p>
          <a:p>
            <a:endParaRPr lang="en-US" dirty="0"/>
          </a:p>
        </p:txBody>
      </p:sp>
      <p:sp>
        <p:nvSpPr>
          <p:cNvPr id="4" name="Slide Number Placeholder 3"/>
          <p:cNvSpPr>
            <a:spLocks noGrp="1"/>
          </p:cNvSpPr>
          <p:nvPr>
            <p:ph type="sldNum" sz="quarter" idx="5"/>
          </p:nvPr>
        </p:nvSpPr>
        <p:spPr/>
        <p:txBody>
          <a:bodyPr/>
          <a:lstStyle/>
          <a:p>
            <a:fld id="{BCB5180B-A137-4E2C-858C-649AFC4735B1}" type="slidenum">
              <a:rPr lang="en-US" smtClean="0"/>
              <a:t>10</a:t>
            </a:fld>
            <a:endParaRPr lang="en-US"/>
          </a:p>
        </p:txBody>
      </p:sp>
    </p:spTree>
    <p:extLst>
      <p:ext uri="{BB962C8B-B14F-4D97-AF65-F5344CB8AC3E}">
        <p14:creationId xmlns:p14="http://schemas.microsoft.com/office/powerpoint/2010/main" val="19088824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demo the meta feature orchestrator web app that I build by myself in another video with tons of examples. </a:t>
            </a:r>
          </a:p>
        </p:txBody>
      </p:sp>
      <p:sp>
        <p:nvSpPr>
          <p:cNvPr id="4" name="Slide Number Placeholder 3"/>
          <p:cNvSpPr>
            <a:spLocks noGrp="1"/>
          </p:cNvSpPr>
          <p:nvPr>
            <p:ph type="sldNum" sz="quarter" idx="5"/>
          </p:nvPr>
        </p:nvSpPr>
        <p:spPr/>
        <p:txBody>
          <a:bodyPr/>
          <a:lstStyle/>
          <a:p>
            <a:fld id="{BCB5180B-A137-4E2C-858C-649AFC4735B1}" type="slidenum">
              <a:rPr lang="en-US" smtClean="0"/>
              <a:t>11</a:t>
            </a:fld>
            <a:endParaRPr lang="en-US"/>
          </a:p>
        </p:txBody>
      </p:sp>
    </p:spTree>
    <p:extLst>
      <p:ext uri="{BB962C8B-B14F-4D97-AF65-F5344CB8AC3E}">
        <p14:creationId xmlns:p14="http://schemas.microsoft.com/office/powerpoint/2010/main" val="13063719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close with three points.</a:t>
            </a:r>
          </a:p>
          <a:p>
            <a:r>
              <a:rPr lang="en-US" dirty="0"/>
              <a:t>First:</a:t>
            </a:r>
            <a:br>
              <a:rPr lang="en-US" dirty="0"/>
            </a:br>
            <a:r>
              <a:rPr lang="en-US" dirty="0"/>
              <a:t>Evaluation must scale horizontally across features and locales.</a:t>
            </a:r>
          </a:p>
          <a:p>
            <a:r>
              <a:rPr lang="en-US" dirty="0"/>
              <a:t>Second:</a:t>
            </a:r>
            <a:br>
              <a:rPr lang="en-US" dirty="0"/>
            </a:br>
            <a:r>
              <a:rPr lang="en-US" dirty="0"/>
              <a:t>It must scale vertically across complexity — including agentic systems.</a:t>
            </a:r>
          </a:p>
          <a:p>
            <a:r>
              <a:rPr lang="en-US" dirty="0"/>
              <a:t>Third:</a:t>
            </a:r>
            <a:br>
              <a:rPr lang="en-US" dirty="0"/>
            </a:br>
            <a:r>
              <a:rPr lang="en-US" dirty="0"/>
              <a:t>It must scale economically and operationally across teams.</a:t>
            </a:r>
          </a:p>
          <a:p>
            <a:r>
              <a:rPr lang="en-US" dirty="0"/>
              <a:t>MetaFeature-Orchestrator turns evaluation from a manual bottleneck into governed, scalable infrastructure.</a:t>
            </a:r>
          </a:p>
          <a:p>
            <a:r>
              <a:rPr lang="en-US" dirty="0"/>
              <a:t>Because as AI systems become more autonomous,</a:t>
            </a:r>
            <a:br>
              <a:rPr lang="en-US" dirty="0"/>
            </a:br>
            <a:r>
              <a:rPr lang="en-US" dirty="0"/>
              <a:t>evaluation must become more architectural.”</a:t>
            </a:r>
          </a:p>
          <a:p>
            <a:r>
              <a:rPr lang="en-US" dirty="0"/>
              <a:t>Thanks </a:t>
            </a:r>
            <a:r>
              <a:rPr lang="en-US"/>
              <a:t>for watching </a:t>
            </a:r>
            <a:endParaRPr lang="en-US" dirty="0"/>
          </a:p>
        </p:txBody>
      </p:sp>
      <p:sp>
        <p:nvSpPr>
          <p:cNvPr id="4" name="Slide Number Placeholder 3"/>
          <p:cNvSpPr>
            <a:spLocks noGrp="1"/>
          </p:cNvSpPr>
          <p:nvPr>
            <p:ph type="sldNum" sz="quarter" idx="5"/>
          </p:nvPr>
        </p:nvSpPr>
        <p:spPr/>
        <p:txBody>
          <a:bodyPr/>
          <a:lstStyle/>
          <a:p>
            <a:fld id="{BCB5180B-A137-4E2C-858C-649AFC4735B1}" type="slidenum">
              <a:rPr lang="en-US" smtClean="0"/>
              <a:t>12</a:t>
            </a:fld>
            <a:endParaRPr lang="en-US"/>
          </a:p>
        </p:txBody>
      </p:sp>
    </p:spTree>
    <p:extLst>
      <p:ext uri="{BB962C8B-B14F-4D97-AF65-F5344CB8AC3E}">
        <p14:creationId xmlns:p14="http://schemas.microsoft.com/office/powerpoint/2010/main" val="8452962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3.png"/><Relationship Id="rId7" Type="http://schemas.openxmlformats.org/officeDocument/2006/relationships/diagramQuickStyle" Target="../diagrams/quickStyle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4.svg"/><Relationship Id="rId9" Type="http://schemas.microsoft.com/office/2007/relationships/diagramDrawing" Target="../diagrams/drawing1.xml"/></Relationships>
</file>

<file path=ppt/slides/_rels/slide4.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svg"/></Relationships>
</file>

<file path=ppt/slides/_rels/slide7.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9" Type="http://schemas.openxmlformats.org/officeDocument/2006/relationships/image" Target="../media/image24.jpeg"/></Relationships>
</file>

<file path=ppt/slides/_rels/slide8.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hyperlink" Target="https://github.com/microsoft/agent-framework" TargetMode="External"/><Relationship Id="rId7" Type="http://schemas.openxmlformats.org/officeDocument/2006/relationships/diagramColors" Target="../diagrams/colors4.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10" Type="http://schemas.openxmlformats.org/officeDocument/2006/relationships/image" Target="../media/image29.jpeg"/><Relationship Id="rId4" Type="http://schemas.openxmlformats.org/officeDocument/2006/relationships/diagramData" Target="../diagrams/data4.xml"/><Relationship Id="rId9"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hshujuan/MetaFeature-Orchestrator/blob/main/src/data/sample_prompt/ai_agent_prompt_20260127_093252.md"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github.com/hshujuan/MetaFeature-Orchestrator/blob/main/src/data/sample_prompt/template_prompt_20260127_093243.md"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2.svg"/></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4.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n abstract design with lines and financial symbols">
            <a:extLst>
              <a:ext uri="{FF2B5EF4-FFF2-40B4-BE49-F238E27FC236}">
                <a16:creationId xmlns:a16="http://schemas.microsoft.com/office/drawing/2014/main" id="{C727E689-16F4-D327-7DF1-1CD96B5817CE}"/>
              </a:ext>
            </a:extLst>
          </p:cNvPr>
          <p:cNvPicPr>
            <a:picLocks noChangeAspect="1"/>
          </p:cNvPicPr>
          <p:nvPr/>
        </p:nvPicPr>
        <p:blipFill>
          <a:blip r:embed="rId3"/>
          <a:srcRect l="14394" r="15284"/>
          <a:stretch>
            <a:fillRect/>
          </a:stretch>
        </p:blipFill>
        <p:spPr>
          <a:xfrm>
            <a:off x="2347826" y="10"/>
            <a:ext cx="7252231" cy="6857990"/>
          </a:xfrm>
          <a:prstGeom prst="rect">
            <a:avLst/>
          </a:prstGeom>
        </p:spPr>
      </p:pic>
      <p:sp>
        <p:nvSpPr>
          <p:cNvPr id="13" name="Rectangle 12">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542696"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p:cNvSpPr txBox="1"/>
          <p:nvPr/>
        </p:nvSpPr>
        <p:spPr>
          <a:xfrm>
            <a:off x="628650" y="2434202"/>
            <a:ext cx="7345311" cy="1143000"/>
          </a:xfrm>
          <a:prstGeom prst="rect">
            <a:avLst/>
          </a:prstGeom>
        </p:spPr>
        <p:txBody>
          <a:bodyPr vert="horz" lIns="91440" tIns="45720" rIns="91440" bIns="45720" rtlCol="0">
            <a:normAutofit/>
          </a:bodyPr>
          <a:lstStyle/>
          <a:p>
            <a:pPr defTabSz="914400">
              <a:lnSpc>
                <a:spcPct val="90000"/>
              </a:lnSpc>
            </a:pPr>
            <a:r>
              <a:rPr lang="en-US" sz="2800" dirty="0"/>
              <a:t>Automated Evaluation and Agentic Prompt Orchestration for Large‑Scale AI</a:t>
            </a:r>
          </a:p>
          <a:p>
            <a:pPr indent="-228600" defTabSz="914400">
              <a:lnSpc>
                <a:spcPct val="90000"/>
              </a:lnSpc>
              <a:buFont typeface="Arial" panose="020B0604020202020204" pitchFamily="34" charset="0"/>
              <a:buChar char="•"/>
              <a:defRPr sz="1800">
                <a:solidFill>
                  <a:srgbClr val="DCDCDC"/>
                </a:solidFill>
              </a:defRPr>
            </a:pPr>
            <a:endParaRPr lang="en-US" sz="1700" dirty="0"/>
          </a:p>
          <a:p>
            <a:pPr defTabSz="914400">
              <a:lnSpc>
                <a:spcPct val="90000"/>
              </a:lnSpc>
              <a:spcAft>
                <a:spcPts val="600"/>
              </a:spcAft>
              <a:defRPr sz="2000">
                <a:solidFill>
                  <a:srgbClr val="2A3A5A"/>
                </a:solidFill>
              </a:defRPr>
            </a:pPr>
            <a:endParaRPr lang="en-US" sz="1700" dirty="0"/>
          </a:p>
        </p:txBody>
      </p:sp>
      <p:sp>
        <p:nvSpPr>
          <p:cNvPr id="6" name="TextBox 5">
            <a:extLst>
              <a:ext uri="{FF2B5EF4-FFF2-40B4-BE49-F238E27FC236}">
                <a16:creationId xmlns:a16="http://schemas.microsoft.com/office/drawing/2014/main" id="{DD57470D-1F01-1281-38E8-8A86A0E5FEAC}"/>
              </a:ext>
            </a:extLst>
          </p:cNvPr>
          <p:cNvSpPr txBox="1"/>
          <p:nvPr/>
        </p:nvSpPr>
        <p:spPr>
          <a:xfrm>
            <a:off x="1170039" y="1809135"/>
            <a:ext cx="2497393" cy="1327355"/>
          </a:xfrm>
          <a:prstGeom prst="rect">
            <a:avLst/>
          </a:prstGeom>
          <a:noFill/>
        </p:spPr>
        <p:txBody>
          <a:bodyPr wrap="square" rtlCol="0">
            <a:spAutoFit/>
          </a:bodyPr>
          <a:lstStyle/>
          <a:p>
            <a:endParaRPr lang="en-US" dirty="0"/>
          </a:p>
        </p:txBody>
      </p:sp>
      <p:sp>
        <p:nvSpPr>
          <p:cNvPr id="7" name="Title 1">
            <a:extLst>
              <a:ext uri="{FF2B5EF4-FFF2-40B4-BE49-F238E27FC236}">
                <a16:creationId xmlns:a16="http://schemas.microsoft.com/office/drawing/2014/main" id="{690A5773-D69A-F49A-9469-56C51D612D75}"/>
              </a:ext>
            </a:extLst>
          </p:cNvPr>
          <p:cNvSpPr txBox="1">
            <a:spLocks/>
          </p:cNvSpPr>
          <p:nvPr/>
        </p:nvSpPr>
        <p:spPr>
          <a:xfrm>
            <a:off x="-117457" y="1237630"/>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t>MetaFeature‑Orchestrator</a:t>
            </a:r>
          </a:p>
        </p:txBody>
      </p:sp>
      <p:sp>
        <p:nvSpPr>
          <p:cNvPr id="8" name="TextBox 7">
            <a:extLst>
              <a:ext uri="{FF2B5EF4-FFF2-40B4-BE49-F238E27FC236}">
                <a16:creationId xmlns:a16="http://schemas.microsoft.com/office/drawing/2014/main" id="{B22EFA3A-5A8A-6F97-A86A-7AE982D4B37C}"/>
              </a:ext>
            </a:extLst>
          </p:cNvPr>
          <p:cNvSpPr txBox="1"/>
          <p:nvPr/>
        </p:nvSpPr>
        <p:spPr>
          <a:xfrm>
            <a:off x="1691148" y="3817225"/>
            <a:ext cx="2880852" cy="830997"/>
          </a:xfrm>
          <a:prstGeom prst="rect">
            <a:avLst/>
          </a:prstGeom>
          <a:noFill/>
        </p:spPr>
        <p:txBody>
          <a:bodyPr wrap="square" rtlCol="0">
            <a:spAutoFit/>
          </a:bodyPr>
          <a:lstStyle/>
          <a:p>
            <a:r>
              <a:rPr lang="en-US" sz="2400" dirty="0"/>
              <a:t>Jane Huang</a:t>
            </a:r>
          </a:p>
          <a:p>
            <a:r>
              <a:rPr lang="en-US" sz="2400" dirty="0"/>
              <a:t>01/26/2026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2" name="Rectangle 1031">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4" name="Rectangle 1033">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3504" y="232250"/>
            <a:ext cx="3574747" cy="1454051"/>
          </a:xfrm>
        </p:spPr>
        <p:txBody>
          <a:bodyPr>
            <a:normAutofit/>
          </a:bodyPr>
          <a:lstStyle/>
          <a:p>
            <a:r>
              <a:rPr lang="en-US" sz="3100" b="1" dirty="0">
                <a:solidFill>
                  <a:schemeClr val="tx2"/>
                </a:solidFill>
              </a:rPr>
              <a:t>Executive Summary</a:t>
            </a:r>
          </a:p>
        </p:txBody>
      </p:sp>
      <p:sp>
        <p:nvSpPr>
          <p:cNvPr id="3" name="Content Placeholder 2"/>
          <p:cNvSpPr>
            <a:spLocks noGrp="1"/>
          </p:cNvSpPr>
          <p:nvPr>
            <p:ph idx="1"/>
          </p:nvPr>
        </p:nvSpPr>
        <p:spPr>
          <a:xfrm>
            <a:off x="603504" y="1908501"/>
            <a:ext cx="4892728" cy="3353476"/>
          </a:xfrm>
        </p:spPr>
        <p:txBody>
          <a:bodyPr anchor="t">
            <a:noAutofit/>
          </a:bodyPr>
          <a:lstStyle/>
          <a:p>
            <a:pPr>
              <a:lnSpc>
                <a:spcPct val="90000"/>
              </a:lnSpc>
            </a:pPr>
            <a:r>
              <a:rPr lang="en-US" sz="2000" dirty="0">
                <a:solidFill>
                  <a:schemeClr val="tx2"/>
                </a:solidFill>
              </a:rPr>
              <a:t>Scale and autonomy make manual and ad-hoc AI evaluation untenable.</a:t>
            </a:r>
          </a:p>
          <a:p>
            <a:pPr>
              <a:lnSpc>
                <a:spcPct val="90000"/>
              </a:lnSpc>
            </a:pPr>
            <a:endParaRPr lang="en-US" sz="2000" dirty="0">
              <a:solidFill>
                <a:schemeClr val="tx2"/>
              </a:solidFill>
            </a:endParaRPr>
          </a:p>
          <a:p>
            <a:pPr>
              <a:lnSpc>
                <a:spcPct val="90000"/>
              </a:lnSpc>
            </a:pPr>
            <a:r>
              <a:rPr lang="en-US" sz="2000" dirty="0">
                <a:solidFill>
                  <a:schemeClr val="tx2"/>
                </a:solidFill>
              </a:rPr>
              <a:t>Evaluation must be treated as governed platform infrastructure, not a QA process.</a:t>
            </a:r>
          </a:p>
          <a:p>
            <a:pPr>
              <a:lnSpc>
                <a:spcPct val="90000"/>
              </a:lnSpc>
            </a:pPr>
            <a:endParaRPr lang="en-US" sz="2000" dirty="0">
              <a:solidFill>
                <a:schemeClr val="tx2"/>
              </a:solidFill>
            </a:endParaRPr>
          </a:p>
          <a:p>
            <a:pPr>
              <a:lnSpc>
                <a:spcPct val="90000"/>
              </a:lnSpc>
            </a:pPr>
            <a:r>
              <a:rPr lang="en-US" sz="2000" dirty="0">
                <a:solidFill>
                  <a:schemeClr val="tx2"/>
                </a:solidFill>
              </a:rPr>
              <a:t>Metadata-driven orchestration enables auditability and cross-feature consistency.</a:t>
            </a:r>
          </a:p>
          <a:p>
            <a:pPr>
              <a:lnSpc>
                <a:spcPct val="90000"/>
              </a:lnSpc>
            </a:pPr>
            <a:endParaRPr lang="en-US" sz="2000" dirty="0">
              <a:solidFill>
                <a:schemeClr val="tx2"/>
              </a:solidFill>
            </a:endParaRPr>
          </a:p>
          <a:p>
            <a:pPr>
              <a:lnSpc>
                <a:spcPct val="90000"/>
              </a:lnSpc>
            </a:pPr>
            <a:r>
              <a:rPr lang="en-US" sz="2000" dirty="0">
                <a:solidFill>
                  <a:schemeClr val="tx2"/>
                </a:solidFill>
              </a:rPr>
              <a:t>Responsible AI requirements are enforced structurally to scale innovation without eroding trust.</a:t>
            </a:r>
          </a:p>
        </p:txBody>
      </p:sp>
      <p:grpSp>
        <p:nvGrpSpPr>
          <p:cNvPr id="1036" name="Group 1035">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63680" y="-16714"/>
            <a:ext cx="4780320" cy="6874714"/>
            <a:chOff x="5818240" y="-1"/>
            <a:chExt cx="6373761" cy="6874714"/>
          </a:xfrm>
        </p:grpSpPr>
        <p:sp>
          <p:nvSpPr>
            <p:cNvPr id="1037" name="Freeform: Shape 1036">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8" name="Freeform: Shape 1037">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9" name="Freeform: Shape 1038">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0" name="Freeform: Shape 1039">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27" name="Picture 3" descr="What is scalability in data— a ...">
            <a:extLst>
              <a:ext uri="{FF2B5EF4-FFF2-40B4-BE49-F238E27FC236}">
                <a16:creationId xmlns:a16="http://schemas.microsoft.com/office/drawing/2014/main" id="{BE0210D3-DB4B-5457-4254-D8B4A7F890D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499122" y="1905553"/>
            <a:ext cx="2388845" cy="23362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94467" y="101796"/>
            <a:ext cx="3574747" cy="1454051"/>
          </a:xfrm>
        </p:spPr>
        <p:txBody>
          <a:bodyPr>
            <a:normAutofit/>
          </a:bodyPr>
          <a:lstStyle/>
          <a:p>
            <a:r>
              <a:rPr lang="en-US" sz="3100" b="1" dirty="0">
                <a:solidFill>
                  <a:schemeClr val="tx2"/>
                </a:solidFill>
              </a:rPr>
              <a:t>Problem Statement</a:t>
            </a:r>
          </a:p>
        </p:txBody>
      </p:sp>
      <p:grpSp>
        <p:nvGrpSpPr>
          <p:cNvPr id="14" name="Group 13">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63680" y="-16714"/>
            <a:ext cx="4780320" cy="6874714"/>
            <a:chOff x="5818240" y="-1"/>
            <a:chExt cx="6373761" cy="6874714"/>
          </a:xfrm>
        </p:grpSpPr>
        <p:sp>
          <p:nvSpPr>
            <p:cNvPr id="15" name="Freeform: Shape 14">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Error">
            <a:extLst>
              <a:ext uri="{FF2B5EF4-FFF2-40B4-BE49-F238E27FC236}">
                <a16:creationId xmlns:a16="http://schemas.microsoft.com/office/drawing/2014/main" id="{2AACF2DE-2D7F-787A-E6C3-2FCC989115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22250" y="1047978"/>
            <a:ext cx="2327283" cy="2327283"/>
          </a:xfrm>
          <a:prstGeom prst="rect">
            <a:avLst/>
          </a:prstGeom>
        </p:spPr>
      </p:pic>
      <p:graphicFrame>
        <p:nvGraphicFramePr>
          <p:cNvPr id="5" name="Diagram 4">
            <a:extLst>
              <a:ext uri="{FF2B5EF4-FFF2-40B4-BE49-F238E27FC236}">
                <a16:creationId xmlns:a16="http://schemas.microsoft.com/office/drawing/2014/main" id="{19D811D5-BB99-392B-0FCF-0E58327B776A}"/>
              </a:ext>
            </a:extLst>
          </p:cNvPr>
          <p:cNvGraphicFramePr/>
          <p:nvPr>
            <p:extLst>
              <p:ext uri="{D42A27DB-BD31-4B8C-83A1-F6EECF244321}">
                <p14:modId xmlns:p14="http://schemas.microsoft.com/office/powerpoint/2010/main" val="1985218139"/>
              </p:ext>
            </p:extLst>
          </p:nvPr>
        </p:nvGraphicFramePr>
        <p:xfrm>
          <a:off x="458475" y="1657642"/>
          <a:ext cx="5437042" cy="361713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7027" y="105088"/>
            <a:ext cx="7886700" cy="785815"/>
          </a:xfrm>
        </p:spPr>
        <p:txBody>
          <a:bodyPr>
            <a:normAutofit/>
          </a:bodyPr>
          <a:lstStyle/>
          <a:p>
            <a:r>
              <a:rPr lang="en-US" sz="3200" dirty="0"/>
              <a:t>Feature Taxonomy and Category</a:t>
            </a:r>
          </a:p>
        </p:txBody>
      </p:sp>
      <p:graphicFrame>
        <p:nvGraphicFramePr>
          <p:cNvPr id="5" name="Content Placeholder 2">
            <a:extLst>
              <a:ext uri="{FF2B5EF4-FFF2-40B4-BE49-F238E27FC236}">
                <a16:creationId xmlns:a16="http://schemas.microsoft.com/office/drawing/2014/main" id="{37F2DF54-764F-3B14-0FE3-183804C81BAC}"/>
              </a:ext>
            </a:extLst>
          </p:cNvPr>
          <p:cNvGraphicFramePr>
            <a:graphicFrameLocks noGrp="1"/>
          </p:cNvGraphicFramePr>
          <p:nvPr>
            <p:ph idx="1"/>
            <p:extLst>
              <p:ext uri="{D42A27DB-BD31-4B8C-83A1-F6EECF244321}">
                <p14:modId xmlns:p14="http://schemas.microsoft.com/office/powerpoint/2010/main" val="3371635342"/>
              </p:ext>
            </p:extLst>
          </p:nvPr>
        </p:nvGraphicFramePr>
        <p:xfrm>
          <a:off x="-414714" y="1101214"/>
          <a:ext cx="7886700" cy="13711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 name="Table 3">
            <a:extLst>
              <a:ext uri="{FF2B5EF4-FFF2-40B4-BE49-F238E27FC236}">
                <a16:creationId xmlns:a16="http://schemas.microsoft.com/office/drawing/2014/main" id="{F20FA013-9E2A-2D1A-6B90-34E308016E07}"/>
              </a:ext>
            </a:extLst>
          </p:cNvPr>
          <p:cNvGraphicFramePr>
            <a:graphicFrameLocks noGrp="1"/>
          </p:cNvGraphicFramePr>
          <p:nvPr>
            <p:extLst>
              <p:ext uri="{D42A27DB-BD31-4B8C-83A1-F6EECF244321}">
                <p14:modId xmlns:p14="http://schemas.microsoft.com/office/powerpoint/2010/main" val="3124149015"/>
              </p:ext>
            </p:extLst>
          </p:nvPr>
        </p:nvGraphicFramePr>
        <p:xfrm>
          <a:off x="211394" y="2727928"/>
          <a:ext cx="8229600" cy="3247831"/>
        </p:xfrm>
        <a:graphic>
          <a:graphicData uri="http://schemas.openxmlformats.org/drawingml/2006/table">
            <a:tbl>
              <a:tblPr firstRow="1" firstCol="1" bandRow="1">
                <a:tableStyleId>{5C22544A-7EE6-4342-B048-85BDC9FD1C3A}</a:tableStyleId>
              </a:tblPr>
              <a:tblGrid>
                <a:gridCol w="2743200">
                  <a:extLst>
                    <a:ext uri="{9D8B030D-6E8A-4147-A177-3AD203B41FA5}">
                      <a16:colId xmlns:a16="http://schemas.microsoft.com/office/drawing/2014/main" val="4283715513"/>
                    </a:ext>
                  </a:extLst>
                </a:gridCol>
                <a:gridCol w="2743200">
                  <a:extLst>
                    <a:ext uri="{9D8B030D-6E8A-4147-A177-3AD203B41FA5}">
                      <a16:colId xmlns:a16="http://schemas.microsoft.com/office/drawing/2014/main" val="1932108301"/>
                    </a:ext>
                  </a:extLst>
                </a:gridCol>
                <a:gridCol w="2743200">
                  <a:extLst>
                    <a:ext uri="{9D8B030D-6E8A-4147-A177-3AD203B41FA5}">
                      <a16:colId xmlns:a16="http://schemas.microsoft.com/office/drawing/2014/main" val="3708813989"/>
                    </a:ext>
                  </a:extLst>
                </a:gridCol>
              </a:tblGrid>
              <a:tr h="339284">
                <a:tc>
                  <a:txBody>
                    <a:bodyPr/>
                    <a:lstStyle/>
                    <a:p>
                      <a:pPr marL="0" marR="0">
                        <a:lnSpc>
                          <a:spcPct val="115000"/>
                        </a:lnSpc>
                        <a:spcAft>
                          <a:spcPts val="800"/>
                        </a:spcAft>
                        <a:buNone/>
                      </a:pPr>
                      <a:r>
                        <a:rPr lang="en-US" sz="1400" kern="100">
                          <a:effectLst/>
                        </a:rPr>
                        <a:t>Category</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Representative Features</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Primary Evaluation Focus</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844326991"/>
                  </a:ext>
                </a:extLst>
              </a:tr>
              <a:tr h="697036">
                <a:tc>
                  <a:txBody>
                    <a:bodyPr/>
                    <a:lstStyle/>
                    <a:p>
                      <a:pPr marL="0" marR="0">
                        <a:lnSpc>
                          <a:spcPct val="115000"/>
                        </a:lnSpc>
                        <a:spcAft>
                          <a:spcPts val="800"/>
                        </a:spcAft>
                        <a:buNone/>
                      </a:pPr>
                      <a:r>
                        <a:rPr lang="en-US" sz="1400" kern="100">
                          <a:effectLst/>
                        </a:rPr>
                        <a:t>Summarization</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Email summaries, article digests</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Faithfulness, coverage, hallucination avoidance</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55909411"/>
                  </a:ext>
                </a:extLst>
              </a:tr>
              <a:tr h="697036">
                <a:tc>
                  <a:txBody>
                    <a:bodyPr/>
                    <a:lstStyle/>
                    <a:p>
                      <a:pPr marL="0" marR="0">
                        <a:lnSpc>
                          <a:spcPct val="115000"/>
                        </a:lnSpc>
                        <a:spcAft>
                          <a:spcPts val="800"/>
                        </a:spcAft>
                        <a:buNone/>
                      </a:pPr>
                      <a:r>
                        <a:rPr lang="en-US" sz="1400" kern="100">
                          <a:effectLst/>
                        </a:rPr>
                        <a:t>Auto‑Reply &amp; Writing Assistance</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Smart Reply, Writing Tools</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Relevance, tone, privacy, social appropriateness</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24277650"/>
                  </a:ext>
                </a:extLst>
              </a:tr>
              <a:tr h="697036">
                <a:tc>
                  <a:txBody>
                    <a:bodyPr/>
                    <a:lstStyle/>
                    <a:p>
                      <a:pPr marL="0" marR="0">
                        <a:lnSpc>
                          <a:spcPct val="115000"/>
                        </a:lnSpc>
                        <a:spcAft>
                          <a:spcPts val="800"/>
                        </a:spcAft>
                        <a:buNone/>
                      </a:pPr>
                      <a:r>
                        <a:rPr lang="en-US" sz="1400" kern="100">
                          <a:effectLst/>
                        </a:rPr>
                        <a:t>Translation</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dirty="0">
                          <a:effectLst/>
                        </a:rPr>
                        <a:t>Live translation, message translation</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dirty="0">
                          <a:effectLst/>
                        </a:rPr>
                        <a:t>Semantic equivalence, fluency, cultural alignment</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71820656"/>
                  </a:ext>
                </a:extLst>
              </a:tr>
              <a:tr h="339284">
                <a:tc>
                  <a:txBody>
                    <a:bodyPr/>
                    <a:lstStyle/>
                    <a:p>
                      <a:pPr marL="0" marR="0">
                        <a:lnSpc>
                          <a:spcPct val="115000"/>
                        </a:lnSpc>
                        <a:spcAft>
                          <a:spcPts val="800"/>
                        </a:spcAft>
                        <a:buNone/>
                      </a:pPr>
                      <a:r>
                        <a:rPr lang="en-US" sz="1400" kern="100">
                          <a:effectLst/>
                        </a:rPr>
                        <a:t>Assistant &amp; Reasoning</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Task planning, shortcuts</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Correctness, grounding, reasoning validity</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275966607"/>
                  </a:ext>
                </a:extLst>
              </a:tr>
              <a:tr h="339284">
                <a:tc>
                  <a:txBody>
                    <a:bodyPr/>
                    <a:lstStyle/>
                    <a:p>
                      <a:pPr marL="0" marR="0">
                        <a:lnSpc>
                          <a:spcPct val="115000"/>
                        </a:lnSpc>
                        <a:spcAft>
                          <a:spcPts val="800"/>
                        </a:spcAft>
                        <a:buNone/>
                      </a:pPr>
                      <a:r>
                        <a:rPr lang="en-US" sz="1400" kern="100">
                          <a:effectLst/>
                        </a:rPr>
                        <a:t>Creative Generation</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Image Playground, Genmoji</a:t>
                      </a:r>
                      <a:endParaRPr lang="en-US" sz="1400" kern="10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dirty="0">
                          <a:effectLst/>
                        </a:rPr>
                        <a:t>Safety, bias, policy compliance</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589066480"/>
                  </a:ext>
                </a:extLst>
              </a:tr>
            </a:tbl>
          </a:graphicData>
        </a:graphic>
      </p:graphicFrame>
      <p:sp>
        <p:nvSpPr>
          <p:cNvPr id="7" name="TextBox 6">
            <a:extLst>
              <a:ext uri="{FF2B5EF4-FFF2-40B4-BE49-F238E27FC236}">
                <a16:creationId xmlns:a16="http://schemas.microsoft.com/office/drawing/2014/main" id="{362FA630-5A9A-BEFE-BF20-8505A92CCAE4}"/>
              </a:ext>
            </a:extLst>
          </p:cNvPr>
          <p:cNvSpPr txBox="1"/>
          <p:nvPr/>
        </p:nvSpPr>
        <p:spPr>
          <a:xfrm>
            <a:off x="2957051" y="6046609"/>
            <a:ext cx="4970206" cy="369332"/>
          </a:xfrm>
          <a:prstGeom prst="rect">
            <a:avLst/>
          </a:prstGeom>
          <a:noFill/>
        </p:spPr>
        <p:txBody>
          <a:bodyPr wrap="square">
            <a:spAutoFit/>
          </a:bodyPr>
          <a:lstStyle/>
          <a:p>
            <a:r>
              <a:rPr lang="en-US" b="1" dirty="0"/>
              <a:t>Canonical Feature Categories</a:t>
            </a:r>
            <a:endParaRPr lang="en-US" dirty="0"/>
          </a:p>
        </p:txBody>
      </p:sp>
      <p:pic>
        <p:nvPicPr>
          <p:cNvPr id="4098" name="Picture 2" descr="Apple Intelligence expands to more languages and regions in April - Apple">
            <a:extLst>
              <a:ext uri="{FF2B5EF4-FFF2-40B4-BE49-F238E27FC236}">
                <a16:creationId xmlns:a16="http://schemas.microsoft.com/office/drawing/2014/main" id="{A4326EFE-D955-F288-92AC-15B4B928E61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42128" y="172133"/>
            <a:ext cx="1347129" cy="13471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77362" y="547905"/>
            <a:ext cx="5689141" cy="1454051"/>
          </a:xfrm>
        </p:spPr>
        <p:txBody>
          <a:bodyPr>
            <a:normAutofit/>
          </a:bodyPr>
          <a:lstStyle/>
          <a:p>
            <a:r>
              <a:rPr lang="en-US" sz="3600" b="1" dirty="0">
                <a:solidFill>
                  <a:schemeClr val="tx2"/>
                </a:solidFill>
              </a:rPr>
              <a:t>System Design Principles</a:t>
            </a:r>
          </a:p>
        </p:txBody>
      </p:sp>
      <p:sp>
        <p:nvSpPr>
          <p:cNvPr id="3" name="Content Placeholder 2"/>
          <p:cNvSpPr>
            <a:spLocks noGrp="1"/>
          </p:cNvSpPr>
          <p:nvPr>
            <p:ph idx="1"/>
          </p:nvPr>
        </p:nvSpPr>
        <p:spPr>
          <a:xfrm>
            <a:off x="603503" y="2123077"/>
            <a:ext cx="4921760" cy="3353476"/>
          </a:xfrm>
        </p:spPr>
        <p:txBody>
          <a:bodyPr anchor="t">
            <a:noAutofit/>
          </a:bodyPr>
          <a:lstStyle/>
          <a:p>
            <a:pPr>
              <a:lnSpc>
                <a:spcPct val="150000"/>
              </a:lnSpc>
            </a:pPr>
            <a:r>
              <a:rPr lang="en-US" sz="2800" dirty="0">
                <a:solidFill>
                  <a:schemeClr val="tx2"/>
                </a:solidFill>
              </a:rPr>
              <a:t>Auditability &amp; traceability</a:t>
            </a:r>
          </a:p>
          <a:p>
            <a:pPr>
              <a:lnSpc>
                <a:spcPct val="150000"/>
              </a:lnSpc>
            </a:pPr>
            <a:r>
              <a:rPr lang="en-US" sz="2800" dirty="0">
                <a:solidFill>
                  <a:schemeClr val="tx2"/>
                </a:solidFill>
              </a:rPr>
              <a:t>Structural Responsible AI enforcement</a:t>
            </a:r>
          </a:p>
          <a:p>
            <a:pPr>
              <a:lnSpc>
                <a:spcPct val="150000"/>
              </a:lnSpc>
            </a:pPr>
            <a:r>
              <a:rPr lang="en-US" sz="2800" dirty="0">
                <a:solidFill>
                  <a:schemeClr val="tx2"/>
                </a:solidFill>
              </a:rPr>
              <a:t>Cost‑aware orchestration</a:t>
            </a:r>
          </a:p>
        </p:txBody>
      </p:sp>
      <p:grpSp>
        <p:nvGrpSpPr>
          <p:cNvPr id="14" name="Group 13">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63680" y="-16714"/>
            <a:ext cx="4780320" cy="6874714"/>
            <a:chOff x="5818240" y="-1"/>
            <a:chExt cx="6373761" cy="6874714"/>
          </a:xfrm>
        </p:grpSpPr>
        <p:sp>
          <p:nvSpPr>
            <p:cNvPr id="15" name="Freeform: Shape 14">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Laptop Secure">
            <a:extLst>
              <a:ext uri="{FF2B5EF4-FFF2-40B4-BE49-F238E27FC236}">
                <a16:creationId xmlns:a16="http://schemas.microsoft.com/office/drawing/2014/main" id="{94204DC9-FCF0-B28D-D8C7-785617DF110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81294" y="2337435"/>
            <a:ext cx="3106674" cy="310667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4695F26-39DB-450E-B464-9C76CD233B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2F42E55F-A297-474F-AF2D-6D3A15822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8" y="-1"/>
            <a:ext cx="914377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3504" y="338328"/>
            <a:ext cx="3758604" cy="1773936"/>
          </a:xfrm>
        </p:spPr>
        <p:txBody>
          <a:bodyPr>
            <a:normAutofit/>
          </a:bodyPr>
          <a:lstStyle/>
          <a:p>
            <a:r>
              <a:rPr lang="en-US" sz="3100" b="1">
                <a:solidFill>
                  <a:schemeClr val="tx2"/>
                </a:solidFill>
              </a:rPr>
              <a:t>Dual‑Mode Architecture</a:t>
            </a:r>
          </a:p>
        </p:txBody>
      </p:sp>
      <p:grpSp>
        <p:nvGrpSpPr>
          <p:cNvPr id="27" name="Group 26">
            <a:extLst>
              <a:ext uri="{FF2B5EF4-FFF2-40B4-BE49-F238E27FC236}">
                <a16:creationId xmlns:a16="http://schemas.microsoft.com/office/drawing/2014/main" id="{972070F7-E065-4D60-8938-9FB8CDB8AC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flipH="1">
            <a:off x="-449307" y="442101"/>
            <a:ext cx="2514948" cy="1630750"/>
            <a:chOff x="-305" y="-4155"/>
            <a:chExt cx="2514948" cy="2174333"/>
          </a:xfrm>
        </p:grpSpPr>
        <p:sp>
          <p:nvSpPr>
            <p:cNvPr id="28" name="Freeform: Shape 27">
              <a:extLst>
                <a:ext uri="{FF2B5EF4-FFF2-40B4-BE49-F238E27FC236}">
                  <a16:creationId xmlns:a16="http://schemas.microsoft.com/office/drawing/2014/main" id="{4F672C03-E63A-4F6B-96BD-0C4E3F1B82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9BB94CDF-5C33-4B0A-B53F-50762639C1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D3C92F9D-544D-4691-94A7-B937CF4BE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1" name="Freeform: Shape 30">
              <a:extLst>
                <a:ext uri="{FF2B5EF4-FFF2-40B4-BE49-F238E27FC236}">
                  <a16:creationId xmlns:a16="http://schemas.microsoft.com/office/drawing/2014/main" id="{DCA4DEE4-B7B4-47F4-A9C5-31AED8369A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Content Placeholder 2"/>
          <p:cNvSpPr>
            <a:spLocks noGrp="1"/>
          </p:cNvSpPr>
          <p:nvPr>
            <p:ph idx="1"/>
          </p:nvPr>
        </p:nvSpPr>
        <p:spPr>
          <a:xfrm>
            <a:off x="3803168" y="335235"/>
            <a:ext cx="5098498" cy="2314877"/>
          </a:xfrm>
        </p:spPr>
        <p:txBody>
          <a:bodyPr anchor="ctr">
            <a:normAutofit fontScale="77500" lnSpcReduction="20000"/>
          </a:bodyPr>
          <a:lstStyle/>
          <a:p>
            <a:pPr>
              <a:lnSpc>
                <a:spcPct val="150000"/>
              </a:lnSpc>
              <a:buFont typeface="Wingdings" panose="05000000000000000000" pitchFamily="2" charset="2"/>
              <a:buChar char="v"/>
            </a:pPr>
            <a:r>
              <a:rPr lang="en-US" sz="3400" dirty="0">
                <a:solidFill>
                  <a:schemeClr val="tx2"/>
                </a:solidFill>
              </a:rPr>
              <a:t>Template Mode – Canonical &amp; reproducible</a:t>
            </a:r>
          </a:p>
          <a:p>
            <a:pPr>
              <a:lnSpc>
                <a:spcPct val="150000"/>
              </a:lnSpc>
              <a:buFont typeface="Wingdings" panose="05000000000000000000" pitchFamily="2" charset="2"/>
              <a:buChar char="v"/>
            </a:pPr>
            <a:r>
              <a:rPr lang="en-US" sz="3400" dirty="0">
                <a:solidFill>
                  <a:schemeClr val="tx2"/>
                </a:solidFill>
              </a:rPr>
              <a:t>Agentic Mode – Novel &amp; complex features</a:t>
            </a:r>
          </a:p>
          <a:p>
            <a:endParaRPr lang="en-US" sz="1600" dirty="0">
              <a:solidFill>
                <a:schemeClr val="tx2"/>
              </a:solidFill>
            </a:endParaRPr>
          </a:p>
        </p:txBody>
      </p:sp>
      <p:pic>
        <p:nvPicPr>
          <p:cNvPr id="7" name="Graphic 6" descr="Network Diagram">
            <a:extLst>
              <a:ext uri="{FF2B5EF4-FFF2-40B4-BE49-F238E27FC236}">
                <a16:creationId xmlns:a16="http://schemas.microsoft.com/office/drawing/2014/main" id="{B938EDE4-4008-9F22-B62F-DB0E680F4F3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850" y="-64358"/>
            <a:ext cx="1595829" cy="1595829"/>
          </a:xfrm>
          <a:prstGeom prst="rect">
            <a:avLst/>
          </a:prstGeom>
        </p:spPr>
      </p:pic>
      <p:sp>
        <p:nvSpPr>
          <p:cNvPr id="6" name="AutoShape 2" descr="Image result for AI agent">
            <a:extLst>
              <a:ext uri="{FF2B5EF4-FFF2-40B4-BE49-F238E27FC236}">
                <a16:creationId xmlns:a16="http://schemas.microsoft.com/office/drawing/2014/main" id="{60D165B9-75E8-B5EE-4148-3BCF854CA1C0}"/>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 descr="Image result for AI agent">
            <a:extLst>
              <a:ext uri="{FF2B5EF4-FFF2-40B4-BE49-F238E27FC236}">
                <a16:creationId xmlns:a16="http://schemas.microsoft.com/office/drawing/2014/main" id="{6D651778-48A7-F1B4-C133-F76E598DA4B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6" descr="Image result for AI agent">
            <a:extLst>
              <a:ext uri="{FF2B5EF4-FFF2-40B4-BE49-F238E27FC236}">
                <a16:creationId xmlns:a16="http://schemas.microsoft.com/office/drawing/2014/main" id="{CD57F970-8B80-1382-9353-90DA338216F9}"/>
              </a:ext>
            </a:extLst>
          </p:cNvPr>
          <p:cNvSpPr>
            <a:spLocks noChangeAspect="1" noChangeArrowheads="1"/>
          </p:cNvSpPr>
          <p:nvPr/>
        </p:nvSpPr>
        <p:spPr bwMode="auto">
          <a:xfrm>
            <a:off x="4724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128" name="Picture 8" descr="See the source image">
            <a:extLst>
              <a:ext uri="{FF2B5EF4-FFF2-40B4-BE49-F238E27FC236}">
                <a16:creationId xmlns:a16="http://schemas.microsoft.com/office/drawing/2014/main" id="{FC46025F-9576-8C56-85B3-668DF385D3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43014" y="2609950"/>
            <a:ext cx="1617480" cy="9077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a:extLst>
              <a:ext uri="{FF2B5EF4-FFF2-40B4-BE49-F238E27FC236}">
                <a16:creationId xmlns:a16="http://schemas.microsoft.com/office/drawing/2014/main" id="{93ABB4E2-DBA6-8C25-D09F-101EBC6EBAF0}"/>
              </a:ext>
            </a:extLst>
          </p:cNvPr>
          <p:cNvGraphicFramePr>
            <a:graphicFrameLocks noGrp="1"/>
          </p:cNvGraphicFramePr>
          <p:nvPr>
            <p:extLst>
              <p:ext uri="{D42A27DB-BD31-4B8C-83A1-F6EECF244321}">
                <p14:modId xmlns:p14="http://schemas.microsoft.com/office/powerpoint/2010/main" val="1917322080"/>
              </p:ext>
            </p:extLst>
          </p:nvPr>
        </p:nvGraphicFramePr>
        <p:xfrm>
          <a:off x="546233" y="2722703"/>
          <a:ext cx="6513870" cy="3162848"/>
        </p:xfrm>
        <a:graphic>
          <a:graphicData uri="http://schemas.openxmlformats.org/drawingml/2006/table">
            <a:tbl>
              <a:tblPr>
                <a:tableStyleId>{BDBED569-4797-4DF1-A0F4-6AAB3CD982D8}</a:tableStyleId>
              </a:tblPr>
              <a:tblGrid>
                <a:gridCol w="1548038">
                  <a:extLst>
                    <a:ext uri="{9D8B030D-6E8A-4147-A177-3AD203B41FA5}">
                      <a16:colId xmlns:a16="http://schemas.microsoft.com/office/drawing/2014/main" val="2452849203"/>
                    </a:ext>
                  </a:extLst>
                </a:gridCol>
                <a:gridCol w="2482916">
                  <a:extLst>
                    <a:ext uri="{9D8B030D-6E8A-4147-A177-3AD203B41FA5}">
                      <a16:colId xmlns:a16="http://schemas.microsoft.com/office/drawing/2014/main" val="1364046716"/>
                    </a:ext>
                  </a:extLst>
                </a:gridCol>
                <a:gridCol w="2482916">
                  <a:extLst>
                    <a:ext uri="{9D8B030D-6E8A-4147-A177-3AD203B41FA5}">
                      <a16:colId xmlns:a16="http://schemas.microsoft.com/office/drawing/2014/main" val="1141500816"/>
                    </a:ext>
                  </a:extLst>
                </a:gridCol>
              </a:tblGrid>
              <a:tr h="294071">
                <a:tc>
                  <a:txBody>
                    <a:bodyPr/>
                    <a:lstStyle/>
                    <a:p>
                      <a:pPr>
                        <a:buNone/>
                      </a:pPr>
                      <a:r>
                        <a:rPr lang="en-US" sz="1400" b="1" dirty="0">
                          <a:effectLst/>
                        </a:rPr>
                        <a:t>Aspect</a:t>
                      </a:r>
                    </a:p>
                  </a:txBody>
                  <a:tcPr marL="99060" marR="99060" anchor="ctr">
                    <a:solidFill>
                      <a:schemeClr val="accent5">
                        <a:lumMod val="20000"/>
                        <a:lumOff val="80000"/>
                      </a:schemeClr>
                    </a:solidFill>
                  </a:tcPr>
                </a:tc>
                <a:tc>
                  <a:txBody>
                    <a:bodyPr/>
                    <a:lstStyle/>
                    <a:p>
                      <a:pPr>
                        <a:buNone/>
                      </a:pPr>
                      <a:r>
                        <a:rPr lang="en-US" sz="1400" b="1" dirty="0">
                          <a:effectLst/>
                        </a:rPr>
                        <a:t>Template Mode</a:t>
                      </a:r>
                    </a:p>
                  </a:txBody>
                  <a:tcPr marL="99060" marR="99060" anchor="ctr">
                    <a:solidFill>
                      <a:schemeClr val="accent5">
                        <a:lumMod val="20000"/>
                        <a:lumOff val="80000"/>
                      </a:schemeClr>
                    </a:solidFill>
                  </a:tcPr>
                </a:tc>
                <a:tc>
                  <a:txBody>
                    <a:bodyPr/>
                    <a:lstStyle/>
                    <a:p>
                      <a:pPr>
                        <a:buNone/>
                      </a:pPr>
                      <a:r>
                        <a:rPr lang="en-US" sz="1400" b="1" dirty="0">
                          <a:effectLst/>
                        </a:rPr>
                        <a:t>AI Agent Mode</a:t>
                      </a:r>
                    </a:p>
                  </a:txBody>
                  <a:tcPr marL="99060" marR="99060" anchor="ctr">
                    <a:solidFill>
                      <a:schemeClr val="accent5">
                        <a:lumMod val="20000"/>
                        <a:lumOff val="80000"/>
                      </a:schemeClr>
                    </a:solidFill>
                  </a:tcPr>
                </a:tc>
                <a:extLst>
                  <a:ext uri="{0D108BD9-81ED-4DB2-BD59-A6C34878D82A}">
                    <a16:rowId xmlns:a16="http://schemas.microsoft.com/office/drawing/2014/main" val="1362077409"/>
                  </a:ext>
                </a:extLst>
              </a:tr>
              <a:tr h="514624">
                <a:tc>
                  <a:txBody>
                    <a:bodyPr/>
                    <a:lstStyle/>
                    <a:p>
                      <a:pPr>
                        <a:buNone/>
                      </a:pPr>
                      <a:r>
                        <a:rPr lang="en-US" sz="1400" b="1">
                          <a:effectLst/>
                        </a:rPr>
                        <a:t>Framework</a:t>
                      </a:r>
                      <a:endParaRPr lang="en-US" sz="1400">
                        <a:effectLst/>
                      </a:endParaRPr>
                    </a:p>
                  </a:txBody>
                  <a:tcPr marL="99060" marR="99060" anchor="ctr">
                    <a:solidFill>
                      <a:schemeClr val="accent5">
                        <a:lumMod val="20000"/>
                        <a:lumOff val="80000"/>
                      </a:schemeClr>
                    </a:solidFill>
                  </a:tcPr>
                </a:tc>
                <a:tc>
                  <a:txBody>
                    <a:bodyPr/>
                    <a:lstStyle/>
                    <a:p>
                      <a:pPr>
                        <a:buNone/>
                      </a:pPr>
                      <a:r>
                        <a:rPr lang="en-US" sz="1400" dirty="0">
                          <a:effectLst/>
                        </a:rPr>
                        <a:t>Pure Python</a:t>
                      </a:r>
                    </a:p>
                  </a:txBody>
                  <a:tcPr marL="99060" marR="99060" anchor="ctr"/>
                </a:tc>
                <a:tc>
                  <a:txBody>
                    <a:bodyPr/>
                    <a:lstStyle/>
                    <a:p>
                      <a:pPr>
                        <a:buNone/>
                      </a:pPr>
                      <a:r>
                        <a:rPr lang="en-US" sz="1400" dirty="0">
                          <a:effectLst/>
                        </a:rPr>
                        <a:t>Microsoft Agent Framework</a:t>
                      </a:r>
                    </a:p>
                  </a:txBody>
                  <a:tcPr marL="99060" marR="99060" anchor="ctr"/>
                </a:tc>
                <a:extLst>
                  <a:ext uri="{0D108BD9-81ED-4DB2-BD59-A6C34878D82A}">
                    <a16:rowId xmlns:a16="http://schemas.microsoft.com/office/drawing/2014/main" val="3912419647"/>
                  </a:ext>
                </a:extLst>
              </a:tr>
              <a:tr h="294071">
                <a:tc>
                  <a:txBody>
                    <a:bodyPr/>
                    <a:lstStyle/>
                    <a:p>
                      <a:pPr>
                        <a:buNone/>
                      </a:pPr>
                      <a:r>
                        <a:rPr lang="en-US" sz="1400" b="1">
                          <a:effectLst/>
                        </a:rPr>
                        <a:t>Planning</a:t>
                      </a:r>
                      <a:endParaRPr lang="en-US" sz="1400">
                        <a:effectLst/>
                      </a:endParaRPr>
                    </a:p>
                  </a:txBody>
                  <a:tcPr marL="99060" marR="99060" anchor="ctr">
                    <a:solidFill>
                      <a:schemeClr val="accent5">
                        <a:lumMod val="20000"/>
                        <a:lumOff val="80000"/>
                      </a:schemeClr>
                    </a:solidFill>
                  </a:tcPr>
                </a:tc>
                <a:tc>
                  <a:txBody>
                    <a:bodyPr/>
                    <a:lstStyle/>
                    <a:p>
                      <a:pPr>
                        <a:buNone/>
                      </a:pPr>
                      <a:r>
                        <a:rPr lang="en-US" sz="1400" dirty="0">
                          <a:effectLst/>
                        </a:rPr>
                        <a:t>Hard-coded workflow</a:t>
                      </a:r>
                    </a:p>
                  </a:txBody>
                  <a:tcPr marL="99060" marR="99060" anchor="ctr"/>
                </a:tc>
                <a:tc>
                  <a:txBody>
                    <a:bodyPr/>
                    <a:lstStyle/>
                    <a:p>
                      <a:pPr>
                        <a:buNone/>
                      </a:pPr>
                      <a:r>
                        <a:rPr lang="en-US" sz="1400">
                          <a:effectLst/>
                        </a:rPr>
                        <a:t>Dynamic LLM reasoning</a:t>
                      </a:r>
                    </a:p>
                  </a:txBody>
                  <a:tcPr marL="99060" marR="99060" anchor="ctr"/>
                </a:tc>
                <a:extLst>
                  <a:ext uri="{0D108BD9-81ED-4DB2-BD59-A6C34878D82A}">
                    <a16:rowId xmlns:a16="http://schemas.microsoft.com/office/drawing/2014/main" val="982179545"/>
                  </a:ext>
                </a:extLst>
              </a:tr>
              <a:tr h="294071">
                <a:tc>
                  <a:txBody>
                    <a:bodyPr/>
                    <a:lstStyle/>
                    <a:p>
                      <a:pPr>
                        <a:buNone/>
                      </a:pPr>
                      <a:r>
                        <a:rPr lang="en-US" sz="1400" b="1">
                          <a:effectLst/>
                        </a:rPr>
                        <a:t>Tool Use</a:t>
                      </a:r>
                      <a:endParaRPr lang="en-US" sz="1400">
                        <a:effectLst/>
                      </a:endParaRPr>
                    </a:p>
                  </a:txBody>
                  <a:tcPr marL="99060" marR="99060" anchor="ctr">
                    <a:solidFill>
                      <a:schemeClr val="accent5">
                        <a:lumMod val="20000"/>
                        <a:lumOff val="80000"/>
                      </a:schemeClr>
                    </a:solidFill>
                  </a:tcPr>
                </a:tc>
                <a:tc>
                  <a:txBody>
                    <a:bodyPr/>
                    <a:lstStyle/>
                    <a:p>
                      <a:pPr>
                        <a:buNone/>
                      </a:pPr>
                      <a:r>
                        <a:rPr lang="en-US" sz="1400" dirty="0">
                          <a:effectLst/>
                        </a:rPr>
                        <a:t>None</a:t>
                      </a:r>
                    </a:p>
                  </a:txBody>
                  <a:tcPr marL="99060" marR="99060" anchor="ctr"/>
                </a:tc>
                <a:tc>
                  <a:txBody>
                    <a:bodyPr/>
                    <a:lstStyle/>
                    <a:p>
                      <a:pPr>
                        <a:buNone/>
                      </a:pPr>
                      <a:r>
                        <a:rPr lang="en-US" sz="1400" dirty="0">
                          <a:effectLst/>
                        </a:rPr>
                        <a:t>9 tools via @ai_function</a:t>
                      </a:r>
                    </a:p>
                  </a:txBody>
                  <a:tcPr marL="99060" marR="99060" anchor="ctr"/>
                </a:tc>
                <a:extLst>
                  <a:ext uri="{0D108BD9-81ED-4DB2-BD59-A6C34878D82A}">
                    <a16:rowId xmlns:a16="http://schemas.microsoft.com/office/drawing/2014/main" val="3963140833"/>
                  </a:ext>
                </a:extLst>
              </a:tr>
              <a:tr h="294071">
                <a:tc>
                  <a:txBody>
                    <a:bodyPr/>
                    <a:lstStyle/>
                    <a:p>
                      <a:pPr>
                        <a:buNone/>
                      </a:pPr>
                      <a:r>
                        <a:rPr lang="en-US" sz="1400" b="1">
                          <a:effectLst/>
                        </a:rPr>
                        <a:t>Memory</a:t>
                      </a:r>
                      <a:endParaRPr lang="en-US" sz="1400">
                        <a:effectLst/>
                      </a:endParaRPr>
                    </a:p>
                  </a:txBody>
                  <a:tcPr marL="99060" marR="99060" anchor="ctr">
                    <a:solidFill>
                      <a:schemeClr val="accent5">
                        <a:lumMod val="20000"/>
                        <a:lumOff val="80000"/>
                      </a:schemeClr>
                    </a:solidFill>
                  </a:tcPr>
                </a:tc>
                <a:tc>
                  <a:txBody>
                    <a:bodyPr/>
                    <a:lstStyle/>
                    <a:p>
                      <a:pPr>
                        <a:buNone/>
                      </a:pPr>
                      <a:r>
                        <a:rPr lang="en-US" sz="1400" dirty="0">
                          <a:effectLst/>
                        </a:rPr>
                        <a:t>Stateless</a:t>
                      </a:r>
                    </a:p>
                  </a:txBody>
                  <a:tcPr marL="99060" marR="99060" anchor="ctr"/>
                </a:tc>
                <a:tc>
                  <a:txBody>
                    <a:bodyPr/>
                    <a:lstStyle/>
                    <a:p>
                      <a:pPr>
                        <a:buNone/>
                      </a:pPr>
                      <a:r>
                        <a:rPr lang="en-US" sz="1400" dirty="0">
                          <a:effectLst/>
                        </a:rPr>
                        <a:t>Thread-based conversation</a:t>
                      </a:r>
                    </a:p>
                  </a:txBody>
                  <a:tcPr marL="99060" marR="99060" anchor="ctr"/>
                </a:tc>
                <a:extLst>
                  <a:ext uri="{0D108BD9-81ED-4DB2-BD59-A6C34878D82A}">
                    <a16:rowId xmlns:a16="http://schemas.microsoft.com/office/drawing/2014/main" val="2687659376"/>
                  </a:ext>
                </a:extLst>
              </a:tr>
              <a:tr h="294071">
                <a:tc>
                  <a:txBody>
                    <a:bodyPr/>
                    <a:lstStyle/>
                    <a:p>
                      <a:pPr>
                        <a:buNone/>
                      </a:pPr>
                      <a:r>
                        <a:rPr lang="en-US" sz="1400" b="1">
                          <a:effectLst/>
                        </a:rPr>
                        <a:t>Decision Making</a:t>
                      </a:r>
                      <a:endParaRPr lang="en-US" sz="1400">
                        <a:effectLst/>
                      </a:endParaRPr>
                    </a:p>
                  </a:txBody>
                  <a:tcPr marL="99060" marR="99060" anchor="ctr">
                    <a:solidFill>
                      <a:schemeClr val="accent5">
                        <a:lumMod val="20000"/>
                        <a:lumOff val="80000"/>
                      </a:schemeClr>
                    </a:solidFill>
                  </a:tcPr>
                </a:tc>
                <a:tc>
                  <a:txBody>
                    <a:bodyPr/>
                    <a:lstStyle/>
                    <a:p>
                      <a:pPr>
                        <a:buNone/>
                      </a:pPr>
                      <a:r>
                        <a:rPr lang="en-US" sz="1400">
                          <a:effectLst/>
                        </a:rPr>
                        <a:t>Deterministic code paths</a:t>
                      </a:r>
                    </a:p>
                  </a:txBody>
                  <a:tcPr marL="99060" marR="99060" anchor="ctr"/>
                </a:tc>
                <a:tc>
                  <a:txBody>
                    <a:bodyPr/>
                    <a:lstStyle/>
                    <a:p>
                      <a:pPr>
                        <a:buNone/>
                      </a:pPr>
                      <a:r>
                        <a:rPr lang="en-US" sz="1400" dirty="0">
                          <a:effectLst/>
                        </a:rPr>
                        <a:t>LLM-driven decisions</a:t>
                      </a:r>
                    </a:p>
                  </a:txBody>
                  <a:tcPr marL="99060" marR="99060" anchor="ctr"/>
                </a:tc>
                <a:extLst>
                  <a:ext uri="{0D108BD9-81ED-4DB2-BD59-A6C34878D82A}">
                    <a16:rowId xmlns:a16="http://schemas.microsoft.com/office/drawing/2014/main" val="1329372036"/>
                  </a:ext>
                </a:extLst>
              </a:tr>
              <a:tr h="294071">
                <a:tc>
                  <a:txBody>
                    <a:bodyPr/>
                    <a:lstStyle/>
                    <a:p>
                      <a:pPr>
                        <a:buNone/>
                      </a:pPr>
                      <a:r>
                        <a:rPr lang="en-US" sz="1400" b="1">
                          <a:effectLst/>
                        </a:rPr>
                        <a:t>Speed</a:t>
                      </a:r>
                      <a:endParaRPr lang="en-US" sz="1400">
                        <a:effectLst/>
                      </a:endParaRPr>
                    </a:p>
                  </a:txBody>
                  <a:tcPr marL="99060" marR="99060" anchor="ctr">
                    <a:solidFill>
                      <a:schemeClr val="accent5">
                        <a:lumMod val="20000"/>
                        <a:lumOff val="80000"/>
                      </a:schemeClr>
                    </a:solidFill>
                  </a:tcPr>
                </a:tc>
                <a:tc>
                  <a:txBody>
                    <a:bodyPr/>
                    <a:lstStyle/>
                    <a:p>
                      <a:pPr>
                        <a:buNone/>
                      </a:pPr>
                      <a:r>
                        <a:rPr lang="en-US" sz="1400">
                          <a:effectLst/>
                        </a:rPr>
                        <a:t>Instant</a:t>
                      </a:r>
                    </a:p>
                  </a:txBody>
                  <a:tcPr marL="99060" marR="99060" anchor="ctr"/>
                </a:tc>
                <a:tc>
                  <a:txBody>
                    <a:bodyPr/>
                    <a:lstStyle/>
                    <a:p>
                      <a:pPr>
                        <a:buNone/>
                      </a:pPr>
                      <a:r>
                        <a:rPr lang="en-US" sz="1400" dirty="0">
                          <a:effectLst/>
                        </a:rPr>
                        <a:t>Requires API calls</a:t>
                      </a:r>
                    </a:p>
                  </a:txBody>
                  <a:tcPr marL="99060" marR="99060" anchor="ctr"/>
                </a:tc>
                <a:extLst>
                  <a:ext uri="{0D108BD9-81ED-4DB2-BD59-A6C34878D82A}">
                    <a16:rowId xmlns:a16="http://schemas.microsoft.com/office/drawing/2014/main" val="1107177899"/>
                  </a:ext>
                </a:extLst>
              </a:tr>
              <a:tr h="294071">
                <a:tc>
                  <a:txBody>
                    <a:bodyPr/>
                    <a:lstStyle/>
                    <a:p>
                      <a:pPr>
                        <a:buNone/>
                      </a:pPr>
                      <a:r>
                        <a:rPr lang="en-US" sz="1400" b="1">
                          <a:effectLst/>
                        </a:rPr>
                        <a:t>Cost</a:t>
                      </a:r>
                      <a:endParaRPr lang="en-US" sz="1400">
                        <a:effectLst/>
                      </a:endParaRPr>
                    </a:p>
                  </a:txBody>
                  <a:tcPr marL="99060" marR="99060" anchor="ctr">
                    <a:solidFill>
                      <a:schemeClr val="accent5">
                        <a:lumMod val="20000"/>
                        <a:lumOff val="80000"/>
                      </a:schemeClr>
                    </a:solidFill>
                  </a:tcPr>
                </a:tc>
                <a:tc>
                  <a:txBody>
                    <a:bodyPr/>
                    <a:lstStyle/>
                    <a:p>
                      <a:pPr>
                        <a:buNone/>
                      </a:pPr>
                      <a:r>
                        <a:rPr lang="en-US" sz="1400">
                          <a:effectLst/>
                        </a:rPr>
                        <a:t>Free</a:t>
                      </a:r>
                    </a:p>
                  </a:txBody>
                  <a:tcPr marL="99060" marR="99060" anchor="ctr"/>
                </a:tc>
                <a:tc>
                  <a:txBody>
                    <a:bodyPr/>
                    <a:lstStyle/>
                    <a:p>
                      <a:pPr>
                        <a:buNone/>
                      </a:pPr>
                      <a:r>
                        <a:rPr lang="en-US" sz="1400" dirty="0">
                          <a:effectLst/>
                        </a:rPr>
                        <a:t>API costs</a:t>
                      </a:r>
                    </a:p>
                  </a:txBody>
                  <a:tcPr marL="99060" marR="99060" anchor="ctr"/>
                </a:tc>
                <a:extLst>
                  <a:ext uri="{0D108BD9-81ED-4DB2-BD59-A6C34878D82A}">
                    <a16:rowId xmlns:a16="http://schemas.microsoft.com/office/drawing/2014/main" val="3394875653"/>
                  </a:ext>
                </a:extLst>
              </a:tr>
              <a:tr h="514624">
                <a:tc>
                  <a:txBody>
                    <a:bodyPr/>
                    <a:lstStyle/>
                    <a:p>
                      <a:pPr>
                        <a:buNone/>
                      </a:pPr>
                      <a:r>
                        <a:rPr lang="en-US" sz="1400" b="1" dirty="0">
                          <a:effectLst/>
                        </a:rPr>
                        <a:t>Best For</a:t>
                      </a:r>
                      <a:endParaRPr lang="en-US" sz="1400" dirty="0">
                        <a:effectLst/>
                      </a:endParaRPr>
                    </a:p>
                  </a:txBody>
                  <a:tcPr marL="99060" marR="99060" anchor="ctr">
                    <a:solidFill>
                      <a:schemeClr val="accent5">
                        <a:lumMod val="20000"/>
                        <a:lumOff val="80000"/>
                      </a:schemeClr>
                    </a:solidFill>
                  </a:tcPr>
                </a:tc>
                <a:tc>
                  <a:txBody>
                    <a:bodyPr/>
                    <a:lstStyle/>
                    <a:p>
                      <a:pPr>
                        <a:buNone/>
                      </a:pPr>
                      <a:r>
                        <a:rPr lang="en-US" sz="1400">
                          <a:effectLst/>
                        </a:rPr>
                        <a:t>Simple, well-defined features</a:t>
                      </a:r>
                    </a:p>
                  </a:txBody>
                  <a:tcPr marL="99060" marR="99060" anchor="ctr"/>
                </a:tc>
                <a:tc>
                  <a:txBody>
                    <a:bodyPr/>
                    <a:lstStyle/>
                    <a:p>
                      <a:pPr>
                        <a:buNone/>
                      </a:pPr>
                      <a:r>
                        <a:rPr lang="en-US" sz="1400" dirty="0">
                          <a:effectLst/>
                        </a:rPr>
                        <a:t>Complex, novel features</a:t>
                      </a:r>
                    </a:p>
                  </a:txBody>
                  <a:tcPr marL="99060" marR="99060" anchor="ctr"/>
                </a:tc>
                <a:extLst>
                  <a:ext uri="{0D108BD9-81ED-4DB2-BD59-A6C34878D82A}">
                    <a16:rowId xmlns:a16="http://schemas.microsoft.com/office/drawing/2014/main" val="61345268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6357" y="242556"/>
            <a:ext cx="9498575" cy="176604"/>
          </a:xfrm>
        </p:spPr>
        <p:txBody>
          <a:bodyPr>
            <a:noAutofit/>
          </a:bodyPr>
          <a:lstStyle/>
          <a:p>
            <a:r>
              <a:rPr lang="en-US" sz="3200" dirty="0"/>
              <a:t>Template Mode: Prompt Orchestration Flow</a:t>
            </a:r>
          </a:p>
        </p:txBody>
      </p:sp>
      <p:graphicFrame>
        <p:nvGraphicFramePr>
          <p:cNvPr id="5" name="Content Placeholder 2">
            <a:extLst>
              <a:ext uri="{FF2B5EF4-FFF2-40B4-BE49-F238E27FC236}">
                <a16:creationId xmlns:a16="http://schemas.microsoft.com/office/drawing/2014/main" id="{9575C9A9-D256-E7B4-DB10-087F03604B94}"/>
              </a:ext>
            </a:extLst>
          </p:cNvPr>
          <p:cNvGraphicFramePr>
            <a:graphicFrameLocks noGrp="1"/>
          </p:cNvGraphicFramePr>
          <p:nvPr>
            <p:ph idx="1"/>
            <p:extLst>
              <p:ext uri="{D42A27DB-BD31-4B8C-83A1-F6EECF244321}">
                <p14:modId xmlns:p14="http://schemas.microsoft.com/office/powerpoint/2010/main" val="3764843080"/>
              </p:ext>
            </p:extLst>
          </p:nvPr>
        </p:nvGraphicFramePr>
        <p:xfrm>
          <a:off x="0" y="840183"/>
          <a:ext cx="7443634" cy="11080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00C90AA6-AC27-01E4-56F3-1EEA06FE4A15}"/>
              </a:ext>
            </a:extLst>
          </p:cNvPr>
          <p:cNvSpPr txBox="1"/>
          <p:nvPr/>
        </p:nvSpPr>
        <p:spPr>
          <a:xfrm>
            <a:off x="95865" y="2245757"/>
            <a:ext cx="4989870" cy="369332"/>
          </a:xfrm>
          <a:prstGeom prst="rect">
            <a:avLst/>
          </a:prstGeom>
          <a:noFill/>
        </p:spPr>
        <p:txBody>
          <a:bodyPr wrap="square">
            <a:spAutoFit/>
          </a:bodyPr>
          <a:lstStyle/>
          <a:p>
            <a:pPr algn="l">
              <a:spcBef>
                <a:spcPts val="1800"/>
              </a:spcBef>
              <a:spcAft>
                <a:spcPts val="1200"/>
              </a:spcAft>
              <a:buNone/>
            </a:pPr>
            <a:r>
              <a:rPr lang="en-US" b="1" i="0" dirty="0">
                <a:solidFill>
                  <a:srgbClr val="0070C0"/>
                </a:solidFill>
                <a:effectLst/>
                <a:latin typeface="-apple-system"/>
              </a:rPr>
              <a:t>Template Structure</a:t>
            </a:r>
          </a:p>
        </p:txBody>
      </p:sp>
      <p:graphicFrame>
        <p:nvGraphicFramePr>
          <p:cNvPr id="8" name="Table 7">
            <a:extLst>
              <a:ext uri="{FF2B5EF4-FFF2-40B4-BE49-F238E27FC236}">
                <a16:creationId xmlns:a16="http://schemas.microsoft.com/office/drawing/2014/main" id="{A246253C-0C83-E190-EA64-9A3B3DE04DBD}"/>
              </a:ext>
            </a:extLst>
          </p:cNvPr>
          <p:cNvGraphicFramePr>
            <a:graphicFrameLocks noGrp="1"/>
          </p:cNvGraphicFramePr>
          <p:nvPr>
            <p:extLst>
              <p:ext uri="{D42A27DB-BD31-4B8C-83A1-F6EECF244321}">
                <p14:modId xmlns:p14="http://schemas.microsoft.com/office/powerpoint/2010/main" val="2391992259"/>
              </p:ext>
            </p:extLst>
          </p:nvPr>
        </p:nvGraphicFramePr>
        <p:xfrm>
          <a:off x="95865" y="2653963"/>
          <a:ext cx="6035040" cy="2377440"/>
        </p:xfrm>
        <a:graphic>
          <a:graphicData uri="http://schemas.openxmlformats.org/drawingml/2006/table">
            <a:tbl>
              <a:tblPr/>
              <a:tblGrid>
                <a:gridCol w="2015613">
                  <a:extLst>
                    <a:ext uri="{9D8B030D-6E8A-4147-A177-3AD203B41FA5}">
                      <a16:colId xmlns:a16="http://schemas.microsoft.com/office/drawing/2014/main" val="3371552486"/>
                    </a:ext>
                  </a:extLst>
                </a:gridCol>
                <a:gridCol w="4019427">
                  <a:extLst>
                    <a:ext uri="{9D8B030D-6E8A-4147-A177-3AD203B41FA5}">
                      <a16:colId xmlns:a16="http://schemas.microsoft.com/office/drawing/2014/main" val="464594057"/>
                    </a:ext>
                  </a:extLst>
                </a:gridCol>
              </a:tblGrid>
              <a:tr h="274320">
                <a:tc>
                  <a:txBody>
                    <a:bodyPr/>
                    <a:lstStyle/>
                    <a:p>
                      <a:pPr>
                        <a:buNone/>
                      </a:pPr>
                      <a:r>
                        <a:rPr lang="en-US" sz="1200" b="1" dirty="0">
                          <a:effectLst/>
                        </a:rPr>
                        <a:t>Section</a:t>
                      </a:r>
                    </a:p>
                  </a:txBody>
                  <a:tcPr marL="99060" marR="99060"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chemeClr val="accent5">
                        <a:lumMod val="20000"/>
                        <a:lumOff val="80000"/>
                      </a:schemeClr>
                    </a:solidFill>
                  </a:tcPr>
                </a:tc>
                <a:tc>
                  <a:txBody>
                    <a:bodyPr/>
                    <a:lstStyle/>
                    <a:p>
                      <a:pPr>
                        <a:buNone/>
                      </a:pPr>
                      <a:r>
                        <a:rPr lang="en-US" sz="1200" b="1" dirty="0">
                          <a:effectLst/>
                        </a:rPr>
                        <a:t>Purpose</a:t>
                      </a:r>
                    </a:p>
                  </a:txBody>
                  <a:tcPr marL="99060" marR="99060"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639238181"/>
                  </a:ext>
                </a:extLst>
              </a:tr>
              <a:tr h="274320">
                <a:tc>
                  <a:txBody>
                    <a:bodyPr/>
                    <a:lstStyle/>
                    <a:p>
                      <a:pPr>
                        <a:buNone/>
                      </a:pPr>
                      <a:r>
                        <a:rPr lang="en-US" sz="1200" b="1" dirty="0">
                          <a:effectLst/>
                        </a:rPr>
                        <a:t>1. Evaluator Role &amp; Task</a:t>
                      </a:r>
                      <a:endParaRPr lang="en-US" sz="1200" dirty="0">
                        <a:effectLst/>
                      </a:endParaRPr>
                    </a:p>
                  </a:txBody>
                  <a:tcPr marL="99060" marR="99060"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chemeClr val="accent5">
                        <a:lumMod val="20000"/>
                        <a:lumOff val="80000"/>
                      </a:schemeClr>
                    </a:solidFill>
                  </a:tcPr>
                </a:tc>
                <a:tc>
                  <a:txBody>
                    <a:bodyPr/>
                    <a:lstStyle/>
                    <a:p>
                      <a:pPr>
                        <a:buNone/>
                      </a:pPr>
                      <a:r>
                        <a:rPr lang="en-US" sz="1200" dirty="0">
                          <a:effectLst/>
                        </a:rPr>
                        <a:t>Clear role definition and task description</a:t>
                      </a:r>
                    </a:p>
                  </a:txBody>
                  <a:tcPr marL="99060" marR="99060"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670086694"/>
                  </a:ext>
                </a:extLst>
              </a:tr>
              <a:tr h="274320">
                <a:tc>
                  <a:txBody>
                    <a:bodyPr/>
                    <a:lstStyle/>
                    <a:p>
                      <a:pPr>
                        <a:buNone/>
                      </a:pPr>
                      <a:r>
                        <a:rPr lang="en-US" sz="1200" b="1">
                          <a:effectLst/>
                        </a:rPr>
                        <a:t>2. Hard FAIL Gates</a:t>
                      </a:r>
                      <a:endParaRPr lang="en-US" sz="1200">
                        <a:effectLst/>
                      </a:endParaRPr>
                    </a:p>
                  </a:txBody>
                  <a:tcPr marL="99060" marR="99060"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chemeClr val="accent5">
                        <a:lumMod val="20000"/>
                        <a:lumOff val="80000"/>
                      </a:schemeClr>
                    </a:solidFill>
                  </a:tcPr>
                </a:tc>
                <a:tc>
                  <a:txBody>
                    <a:bodyPr/>
                    <a:lstStyle/>
                    <a:p>
                      <a:pPr>
                        <a:buNone/>
                      </a:pPr>
                      <a:r>
                        <a:rPr lang="en-US" sz="1200" dirty="0">
                          <a:effectLst/>
                        </a:rPr>
                        <a:t>Safety, Privacy, Toxicity, Legal gates with automatic override</a:t>
                      </a:r>
                    </a:p>
                  </a:txBody>
                  <a:tcPr marL="99060" marR="99060"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24254581"/>
                  </a:ext>
                </a:extLst>
              </a:tr>
              <a:tr h="274320">
                <a:tc>
                  <a:txBody>
                    <a:bodyPr/>
                    <a:lstStyle/>
                    <a:p>
                      <a:pPr>
                        <a:buNone/>
                      </a:pPr>
                      <a:r>
                        <a:rPr lang="en-US" sz="1200" b="1">
                          <a:effectLst/>
                        </a:rPr>
                        <a:t>3. Primary Metrics</a:t>
                      </a:r>
                      <a:endParaRPr lang="en-US" sz="1200">
                        <a:effectLst/>
                      </a:endParaRPr>
                    </a:p>
                  </a:txBody>
                  <a:tcPr marL="99060" marR="99060"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chemeClr val="accent5">
                        <a:lumMod val="20000"/>
                        <a:lumOff val="80000"/>
                      </a:schemeClr>
                    </a:solidFill>
                  </a:tcPr>
                </a:tc>
                <a:tc>
                  <a:txBody>
                    <a:bodyPr/>
                    <a:lstStyle/>
                    <a:p>
                      <a:pPr>
                        <a:buNone/>
                      </a:pPr>
                      <a:r>
                        <a:rPr lang="en-US" sz="1200" dirty="0">
                          <a:effectLst/>
                        </a:rPr>
                        <a:t>Metric definitions with weights and 1-5 scoring scale</a:t>
                      </a:r>
                    </a:p>
                  </a:txBody>
                  <a:tcPr marL="99060" marR="99060"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992064960"/>
                  </a:ext>
                </a:extLst>
              </a:tr>
              <a:tr h="274320">
                <a:tc>
                  <a:txBody>
                    <a:bodyPr/>
                    <a:lstStyle/>
                    <a:p>
                      <a:pPr>
                        <a:buNone/>
                      </a:pPr>
                      <a:r>
                        <a:rPr lang="en-US" sz="1200" b="1">
                          <a:effectLst/>
                        </a:rPr>
                        <a:t>4. Second-Order Signals</a:t>
                      </a:r>
                      <a:endParaRPr lang="en-US" sz="1200">
                        <a:effectLst/>
                      </a:endParaRPr>
                    </a:p>
                  </a:txBody>
                  <a:tcPr marL="99060" marR="99060"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chemeClr val="accent5">
                        <a:lumMod val="20000"/>
                        <a:lumOff val="80000"/>
                      </a:schemeClr>
                    </a:solidFill>
                  </a:tcPr>
                </a:tc>
                <a:tc>
                  <a:txBody>
                    <a:bodyPr/>
                    <a:lstStyle/>
                    <a:p>
                      <a:pPr>
                        <a:buNone/>
                      </a:pPr>
                      <a:r>
                        <a:rPr lang="en-US" sz="1200" dirty="0">
                          <a:effectLst/>
                        </a:rPr>
                        <a:t>Fluency, linguistic naturalness, localization quality, regional compliance</a:t>
                      </a:r>
                    </a:p>
                  </a:txBody>
                  <a:tcPr marL="99060" marR="99060"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78899349"/>
                  </a:ext>
                </a:extLst>
              </a:tr>
              <a:tr h="274320">
                <a:tc>
                  <a:txBody>
                    <a:bodyPr/>
                    <a:lstStyle/>
                    <a:p>
                      <a:pPr>
                        <a:buNone/>
                      </a:pPr>
                      <a:r>
                        <a:rPr lang="en-US" sz="1200" b="1">
                          <a:effectLst/>
                        </a:rPr>
                        <a:t>5. Evaluation Protocol</a:t>
                      </a:r>
                      <a:endParaRPr lang="en-US" sz="1200">
                        <a:effectLst/>
                      </a:endParaRPr>
                    </a:p>
                  </a:txBody>
                  <a:tcPr marL="99060" marR="99060"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chemeClr val="accent5">
                        <a:lumMod val="20000"/>
                        <a:lumOff val="80000"/>
                      </a:schemeClr>
                    </a:solidFill>
                  </a:tcPr>
                </a:tc>
                <a:tc>
                  <a:txBody>
                    <a:bodyPr/>
                    <a:lstStyle/>
                    <a:p>
                      <a:pPr>
                        <a:buNone/>
                      </a:pPr>
                      <a:r>
                        <a:rPr lang="en-US" sz="1200" dirty="0">
                          <a:effectLst/>
                        </a:rPr>
                        <a:t>Step-by-step evaluation process</a:t>
                      </a:r>
                    </a:p>
                  </a:txBody>
                  <a:tcPr marL="99060" marR="99060"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362937686"/>
                  </a:ext>
                </a:extLst>
              </a:tr>
              <a:tr h="274320">
                <a:tc>
                  <a:txBody>
                    <a:bodyPr/>
                    <a:lstStyle/>
                    <a:p>
                      <a:pPr>
                        <a:buNone/>
                      </a:pPr>
                      <a:r>
                        <a:rPr lang="en-US" sz="1200" b="1">
                          <a:effectLst/>
                        </a:rPr>
                        <a:t>6. Responsible AI Checklist</a:t>
                      </a:r>
                      <a:endParaRPr lang="en-US" sz="1200">
                        <a:effectLst/>
                      </a:endParaRPr>
                    </a:p>
                  </a:txBody>
                  <a:tcPr marL="99060" marR="99060"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chemeClr val="accent5">
                        <a:lumMod val="20000"/>
                        <a:lumOff val="80000"/>
                      </a:schemeClr>
                    </a:solidFill>
                  </a:tcPr>
                </a:tc>
                <a:tc>
                  <a:txBody>
                    <a:bodyPr/>
                    <a:lstStyle/>
                    <a:p>
                      <a:pPr>
                        <a:buNone/>
                      </a:pPr>
                      <a:r>
                        <a:rPr lang="en-US" sz="1200" dirty="0">
                          <a:effectLst/>
                        </a:rPr>
                        <a:t>Locale-specific RAI checks</a:t>
                      </a:r>
                    </a:p>
                  </a:txBody>
                  <a:tcPr marL="99060" marR="99060"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137728946"/>
                  </a:ext>
                </a:extLst>
              </a:tr>
              <a:tr h="274320">
                <a:tc>
                  <a:txBody>
                    <a:bodyPr/>
                    <a:lstStyle/>
                    <a:p>
                      <a:pPr>
                        <a:buNone/>
                      </a:pPr>
                      <a:r>
                        <a:rPr lang="en-US" sz="1200" b="1" dirty="0">
                          <a:effectLst/>
                        </a:rPr>
                        <a:t>7. Output Format</a:t>
                      </a:r>
                      <a:endParaRPr lang="en-US" sz="1200" dirty="0">
                        <a:effectLst/>
                      </a:endParaRPr>
                    </a:p>
                  </a:txBody>
                  <a:tcPr marL="99060" marR="99060"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chemeClr val="accent5">
                        <a:lumMod val="20000"/>
                        <a:lumOff val="80000"/>
                      </a:schemeClr>
                    </a:solidFill>
                  </a:tcPr>
                </a:tc>
                <a:tc>
                  <a:txBody>
                    <a:bodyPr/>
                    <a:lstStyle/>
                    <a:p>
                      <a:pPr>
                        <a:buNone/>
                      </a:pPr>
                      <a:r>
                        <a:rPr lang="en-US" sz="1200" dirty="0">
                          <a:effectLst/>
                        </a:rPr>
                        <a:t>Structured JSON schema</a:t>
                      </a:r>
                    </a:p>
                  </a:txBody>
                  <a:tcPr marL="99060" marR="99060"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722579380"/>
                  </a:ext>
                </a:extLst>
              </a:tr>
            </a:tbl>
          </a:graphicData>
        </a:graphic>
      </p:graphicFrame>
      <p:sp>
        <p:nvSpPr>
          <p:cNvPr id="10" name="TextBox 9">
            <a:extLst>
              <a:ext uri="{FF2B5EF4-FFF2-40B4-BE49-F238E27FC236}">
                <a16:creationId xmlns:a16="http://schemas.microsoft.com/office/drawing/2014/main" id="{12DA8330-425D-A477-7B9C-F10F946FDA9D}"/>
              </a:ext>
            </a:extLst>
          </p:cNvPr>
          <p:cNvSpPr txBox="1"/>
          <p:nvPr/>
        </p:nvSpPr>
        <p:spPr>
          <a:xfrm>
            <a:off x="2175387" y="2213206"/>
            <a:ext cx="4989870" cy="369332"/>
          </a:xfrm>
          <a:prstGeom prst="rect">
            <a:avLst/>
          </a:prstGeom>
          <a:noFill/>
        </p:spPr>
        <p:txBody>
          <a:bodyPr wrap="square">
            <a:spAutoFit/>
          </a:bodyPr>
          <a:lstStyle/>
          <a:p>
            <a:r>
              <a:rPr lang="en-US" sz="1400" b="0" i="0" dirty="0">
                <a:solidFill>
                  <a:srgbClr val="1F2328"/>
                </a:solidFill>
                <a:effectLst/>
                <a:latin typeface="-apple-system"/>
              </a:rPr>
              <a:t>Each generated prompt includes</a:t>
            </a:r>
            <a:r>
              <a:rPr lang="en-US" b="0" i="0" dirty="0">
                <a:solidFill>
                  <a:srgbClr val="1F2328"/>
                </a:solidFill>
                <a:effectLst/>
                <a:latin typeface="-apple-system"/>
              </a:rPr>
              <a:t>:</a:t>
            </a:r>
            <a:endParaRPr lang="en-US" dirty="0"/>
          </a:p>
        </p:txBody>
      </p:sp>
      <p:graphicFrame>
        <p:nvGraphicFramePr>
          <p:cNvPr id="11" name="Table 10">
            <a:extLst>
              <a:ext uri="{FF2B5EF4-FFF2-40B4-BE49-F238E27FC236}">
                <a16:creationId xmlns:a16="http://schemas.microsoft.com/office/drawing/2014/main" id="{F2C84B82-8810-026F-B331-94D256199AEF}"/>
              </a:ext>
            </a:extLst>
          </p:cNvPr>
          <p:cNvGraphicFramePr>
            <a:graphicFrameLocks noGrp="1"/>
          </p:cNvGraphicFramePr>
          <p:nvPr>
            <p:extLst>
              <p:ext uri="{D42A27DB-BD31-4B8C-83A1-F6EECF244321}">
                <p14:modId xmlns:p14="http://schemas.microsoft.com/office/powerpoint/2010/main" val="2979388262"/>
              </p:ext>
            </p:extLst>
          </p:nvPr>
        </p:nvGraphicFramePr>
        <p:xfrm>
          <a:off x="4935794" y="5137844"/>
          <a:ext cx="4041058" cy="1613714"/>
        </p:xfrm>
        <a:graphic>
          <a:graphicData uri="http://schemas.openxmlformats.org/drawingml/2006/table">
            <a:tbl>
              <a:tblPr>
                <a:tableStyleId>{BDBED569-4797-4DF1-A0F4-6AAB3CD982D8}</a:tableStyleId>
              </a:tblPr>
              <a:tblGrid>
                <a:gridCol w="1297858">
                  <a:extLst>
                    <a:ext uri="{9D8B030D-6E8A-4147-A177-3AD203B41FA5}">
                      <a16:colId xmlns:a16="http://schemas.microsoft.com/office/drawing/2014/main" val="2986608493"/>
                    </a:ext>
                  </a:extLst>
                </a:gridCol>
                <a:gridCol w="2743200">
                  <a:extLst>
                    <a:ext uri="{9D8B030D-6E8A-4147-A177-3AD203B41FA5}">
                      <a16:colId xmlns:a16="http://schemas.microsoft.com/office/drawing/2014/main" val="3681179965"/>
                    </a:ext>
                  </a:extLst>
                </a:gridCol>
              </a:tblGrid>
              <a:tr h="247531">
                <a:tc>
                  <a:txBody>
                    <a:bodyPr/>
                    <a:lstStyle/>
                    <a:p>
                      <a:pPr>
                        <a:buNone/>
                      </a:pPr>
                      <a:r>
                        <a:rPr lang="en-US" sz="1000" b="1" dirty="0">
                          <a:effectLst/>
                        </a:rPr>
                        <a:t>Template</a:t>
                      </a:r>
                    </a:p>
                  </a:txBody>
                  <a:tcPr marL="99060" marR="99060" anchor="ctr">
                    <a:solidFill>
                      <a:schemeClr val="accent5">
                        <a:lumMod val="20000"/>
                        <a:lumOff val="80000"/>
                      </a:schemeClr>
                    </a:solidFill>
                  </a:tcPr>
                </a:tc>
                <a:tc>
                  <a:txBody>
                    <a:bodyPr/>
                    <a:lstStyle/>
                    <a:p>
                      <a:pPr>
                        <a:buNone/>
                      </a:pPr>
                      <a:r>
                        <a:rPr lang="en-US" sz="1000" b="1" dirty="0">
                          <a:effectLst/>
                        </a:rPr>
                        <a:t>Hard Gates</a:t>
                      </a:r>
                    </a:p>
                  </a:txBody>
                  <a:tcPr marL="99060" marR="99060" anchor="ctr">
                    <a:solidFill>
                      <a:schemeClr val="accent5">
                        <a:lumMod val="20000"/>
                        <a:lumOff val="80000"/>
                      </a:schemeClr>
                    </a:solidFill>
                  </a:tcPr>
                </a:tc>
                <a:extLst>
                  <a:ext uri="{0D108BD9-81ED-4DB2-BD59-A6C34878D82A}">
                    <a16:rowId xmlns:a16="http://schemas.microsoft.com/office/drawing/2014/main" val="1171467814"/>
                  </a:ext>
                </a:extLst>
              </a:tr>
              <a:tr h="247531">
                <a:tc>
                  <a:txBody>
                    <a:bodyPr/>
                    <a:lstStyle/>
                    <a:p>
                      <a:pPr>
                        <a:buNone/>
                      </a:pPr>
                      <a:r>
                        <a:rPr lang="en-US" sz="1000" b="1" dirty="0">
                          <a:effectLst/>
                        </a:rPr>
                        <a:t>Generic</a:t>
                      </a:r>
                      <a:endParaRPr lang="en-US" sz="1000" dirty="0">
                        <a:effectLst/>
                      </a:endParaRPr>
                    </a:p>
                  </a:txBody>
                  <a:tcPr marL="99060" marR="99060" anchor="ctr">
                    <a:solidFill>
                      <a:schemeClr val="accent5">
                        <a:lumMod val="20000"/>
                        <a:lumOff val="80000"/>
                      </a:schemeClr>
                    </a:solidFill>
                  </a:tcPr>
                </a:tc>
                <a:tc>
                  <a:txBody>
                    <a:bodyPr/>
                    <a:lstStyle/>
                    <a:p>
                      <a:pPr>
                        <a:buNone/>
                      </a:pPr>
                      <a:r>
                        <a:rPr lang="en-US" sz="1000">
                          <a:effectLst/>
                        </a:rPr>
                        <a:t>Safety, Privacy, Toxicity, Legal</a:t>
                      </a:r>
                    </a:p>
                  </a:txBody>
                  <a:tcPr marL="99060" marR="99060" anchor="ctr"/>
                </a:tc>
                <a:extLst>
                  <a:ext uri="{0D108BD9-81ED-4DB2-BD59-A6C34878D82A}">
                    <a16:rowId xmlns:a16="http://schemas.microsoft.com/office/drawing/2014/main" val="2716766009"/>
                  </a:ext>
                </a:extLst>
              </a:tr>
              <a:tr h="247531">
                <a:tc>
                  <a:txBody>
                    <a:bodyPr/>
                    <a:lstStyle/>
                    <a:p>
                      <a:pPr>
                        <a:buNone/>
                      </a:pPr>
                      <a:r>
                        <a:rPr lang="en-US" sz="1000" b="1" dirty="0">
                          <a:effectLst/>
                        </a:rPr>
                        <a:t>Summarization</a:t>
                      </a:r>
                      <a:endParaRPr lang="en-US" sz="1000" dirty="0">
                        <a:effectLst/>
                      </a:endParaRPr>
                    </a:p>
                  </a:txBody>
                  <a:tcPr marL="99060" marR="99060" anchor="ctr">
                    <a:solidFill>
                      <a:schemeClr val="accent5">
                        <a:lumMod val="20000"/>
                        <a:lumOff val="80000"/>
                      </a:schemeClr>
                    </a:solidFill>
                  </a:tcPr>
                </a:tc>
                <a:tc>
                  <a:txBody>
                    <a:bodyPr/>
                    <a:lstStyle/>
                    <a:p>
                      <a:pPr>
                        <a:buNone/>
                      </a:pPr>
                      <a:r>
                        <a:rPr lang="en-US" sz="1000" dirty="0">
                          <a:effectLst/>
                        </a:rPr>
                        <a:t>Hallucination, Safety, Privacy, Factual</a:t>
                      </a:r>
                    </a:p>
                  </a:txBody>
                  <a:tcPr marL="99060" marR="99060" anchor="ctr"/>
                </a:tc>
                <a:extLst>
                  <a:ext uri="{0D108BD9-81ED-4DB2-BD59-A6C34878D82A}">
                    <a16:rowId xmlns:a16="http://schemas.microsoft.com/office/drawing/2014/main" val="3439235392"/>
                  </a:ext>
                </a:extLst>
              </a:tr>
              <a:tr h="247531">
                <a:tc>
                  <a:txBody>
                    <a:bodyPr/>
                    <a:lstStyle/>
                    <a:p>
                      <a:pPr>
                        <a:buNone/>
                      </a:pPr>
                      <a:r>
                        <a:rPr lang="en-US" sz="1000" b="1">
                          <a:effectLst/>
                        </a:rPr>
                        <a:t>Translation</a:t>
                      </a:r>
                      <a:endParaRPr lang="en-US" sz="1000">
                        <a:effectLst/>
                      </a:endParaRPr>
                    </a:p>
                  </a:txBody>
                  <a:tcPr marL="99060" marR="99060" anchor="ctr">
                    <a:solidFill>
                      <a:schemeClr val="accent5">
                        <a:lumMod val="20000"/>
                        <a:lumOff val="80000"/>
                      </a:schemeClr>
                    </a:solidFill>
                  </a:tcPr>
                </a:tc>
                <a:tc>
                  <a:txBody>
                    <a:bodyPr/>
                    <a:lstStyle/>
                    <a:p>
                      <a:pPr>
                        <a:buNone/>
                      </a:pPr>
                      <a:r>
                        <a:rPr lang="en-US" sz="1000" dirty="0">
                          <a:effectLst/>
                        </a:rPr>
                        <a:t>Meaning, Offensive, Safety, Legal</a:t>
                      </a:r>
                    </a:p>
                  </a:txBody>
                  <a:tcPr marL="99060" marR="99060" anchor="ctr"/>
                </a:tc>
                <a:extLst>
                  <a:ext uri="{0D108BD9-81ED-4DB2-BD59-A6C34878D82A}">
                    <a16:rowId xmlns:a16="http://schemas.microsoft.com/office/drawing/2014/main" val="1351565990"/>
                  </a:ext>
                </a:extLst>
              </a:tr>
              <a:tr h="247531">
                <a:tc>
                  <a:txBody>
                    <a:bodyPr/>
                    <a:lstStyle/>
                    <a:p>
                      <a:pPr>
                        <a:buNone/>
                      </a:pPr>
                      <a:r>
                        <a:rPr lang="en-US" sz="1000" b="1">
                          <a:effectLst/>
                        </a:rPr>
                        <a:t>Auto-Reply</a:t>
                      </a:r>
                      <a:endParaRPr lang="en-US" sz="1000">
                        <a:effectLst/>
                      </a:endParaRPr>
                    </a:p>
                  </a:txBody>
                  <a:tcPr marL="99060" marR="99060" anchor="ctr">
                    <a:solidFill>
                      <a:schemeClr val="accent5">
                        <a:lumMod val="20000"/>
                        <a:lumOff val="80000"/>
                      </a:schemeClr>
                    </a:solidFill>
                  </a:tcPr>
                </a:tc>
                <a:tc>
                  <a:txBody>
                    <a:bodyPr/>
                    <a:lstStyle/>
                    <a:p>
                      <a:pPr>
                        <a:buNone/>
                      </a:pPr>
                      <a:r>
                        <a:rPr lang="en-US" sz="1000" dirty="0">
                          <a:effectLst/>
                        </a:rPr>
                        <a:t>Relevance, Safety, Privacy, Tone</a:t>
                      </a:r>
                    </a:p>
                  </a:txBody>
                  <a:tcPr marL="99060" marR="99060" anchor="ctr"/>
                </a:tc>
                <a:extLst>
                  <a:ext uri="{0D108BD9-81ED-4DB2-BD59-A6C34878D82A}">
                    <a16:rowId xmlns:a16="http://schemas.microsoft.com/office/drawing/2014/main" val="3522485910"/>
                  </a:ext>
                </a:extLst>
              </a:tr>
              <a:tr h="376059">
                <a:tc>
                  <a:txBody>
                    <a:bodyPr/>
                    <a:lstStyle/>
                    <a:p>
                      <a:pPr>
                        <a:buNone/>
                      </a:pPr>
                      <a:r>
                        <a:rPr lang="en-US" sz="1000" b="1" dirty="0">
                          <a:effectLst/>
                        </a:rPr>
                        <a:t>Personal Assistant</a:t>
                      </a:r>
                      <a:endParaRPr lang="en-US" sz="1000" dirty="0">
                        <a:effectLst/>
                      </a:endParaRPr>
                    </a:p>
                  </a:txBody>
                  <a:tcPr marL="99060" marR="99060" anchor="ctr">
                    <a:solidFill>
                      <a:schemeClr val="accent5">
                        <a:lumMod val="20000"/>
                        <a:lumOff val="80000"/>
                      </a:schemeClr>
                    </a:solidFill>
                  </a:tcPr>
                </a:tc>
                <a:tc>
                  <a:txBody>
                    <a:bodyPr/>
                    <a:lstStyle/>
                    <a:p>
                      <a:pPr>
                        <a:buNone/>
                      </a:pPr>
                      <a:r>
                        <a:rPr lang="en-US" sz="1000" dirty="0">
                          <a:effectLst/>
                        </a:rPr>
                        <a:t>Privacy, Consent, Safety, Medical, Financial</a:t>
                      </a:r>
                    </a:p>
                  </a:txBody>
                  <a:tcPr marL="99060" marR="99060" anchor="ctr"/>
                </a:tc>
                <a:extLst>
                  <a:ext uri="{0D108BD9-81ED-4DB2-BD59-A6C34878D82A}">
                    <a16:rowId xmlns:a16="http://schemas.microsoft.com/office/drawing/2014/main" val="3269970303"/>
                  </a:ext>
                </a:extLst>
              </a:tr>
            </a:tbl>
          </a:graphicData>
        </a:graphic>
      </p:graphicFrame>
      <p:sp>
        <p:nvSpPr>
          <p:cNvPr id="13" name="TextBox 12">
            <a:extLst>
              <a:ext uri="{FF2B5EF4-FFF2-40B4-BE49-F238E27FC236}">
                <a16:creationId xmlns:a16="http://schemas.microsoft.com/office/drawing/2014/main" id="{567365C6-FE47-E51E-B6A9-8997BB3248E2}"/>
              </a:ext>
            </a:extLst>
          </p:cNvPr>
          <p:cNvSpPr txBox="1"/>
          <p:nvPr/>
        </p:nvSpPr>
        <p:spPr>
          <a:xfrm>
            <a:off x="5424949" y="4808301"/>
            <a:ext cx="4989870" cy="338554"/>
          </a:xfrm>
          <a:prstGeom prst="rect">
            <a:avLst/>
          </a:prstGeom>
          <a:noFill/>
        </p:spPr>
        <p:txBody>
          <a:bodyPr wrap="square">
            <a:spAutoFit/>
          </a:bodyPr>
          <a:lstStyle/>
          <a:p>
            <a:pPr algn="l">
              <a:spcBef>
                <a:spcPts val="1800"/>
              </a:spcBef>
              <a:spcAft>
                <a:spcPts val="1200"/>
              </a:spcAft>
              <a:buNone/>
            </a:pPr>
            <a:r>
              <a:rPr lang="en-US" sz="1600" b="1" i="0" dirty="0">
                <a:solidFill>
                  <a:srgbClr val="1F2328"/>
                </a:solidFill>
                <a:effectLst/>
                <a:latin typeface="-apple-system"/>
              </a:rPr>
              <a:t>Category-Specific Hard Gates</a:t>
            </a:r>
          </a:p>
        </p:txBody>
      </p:sp>
      <p:pic>
        <p:nvPicPr>
          <p:cNvPr id="2051" name="Picture 3" descr="4+ Thousand Organisation Cartoon ...">
            <a:extLst>
              <a:ext uri="{FF2B5EF4-FFF2-40B4-BE49-F238E27FC236}">
                <a16:creationId xmlns:a16="http://schemas.microsoft.com/office/drawing/2014/main" id="{D156EF94-6EDA-CBD4-1B4C-5A871329F06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26045" y="2540078"/>
            <a:ext cx="1235177" cy="1332390"/>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Hand drawn gate cartoon vector ...">
            <a:extLst>
              <a:ext uri="{FF2B5EF4-FFF2-40B4-BE49-F238E27FC236}">
                <a16:creationId xmlns:a16="http://schemas.microsoft.com/office/drawing/2014/main" id="{5F1255C6-B666-07EA-67DF-A2D27047F97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79686" y="5503953"/>
            <a:ext cx="1137930" cy="11379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CD32F9-C9C6-D94B-582A-B833B65FC539}"/>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CC7202EA-4C89-4971-10E0-B3489FA31A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EC6704-DBB4-BF78-6CDB-529550DDE49C}"/>
              </a:ext>
            </a:extLst>
          </p:cNvPr>
          <p:cNvSpPr>
            <a:spLocks noGrp="1"/>
          </p:cNvSpPr>
          <p:nvPr>
            <p:ph type="title"/>
          </p:nvPr>
        </p:nvSpPr>
        <p:spPr>
          <a:xfrm>
            <a:off x="-1403287" y="242556"/>
            <a:ext cx="5457291" cy="176604"/>
          </a:xfrm>
        </p:spPr>
        <p:txBody>
          <a:bodyPr>
            <a:noAutofit/>
          </a:bodyPr>
          <a:lstStyle/>
          <a:p>
            <a:r>
              <a:rPr lang="en-US" sz="3200" dirty="0"/>
              <a:t>Agent Mode</a:t>
            </a:r>
          </a:p>
        </p:txBody>
      </p:sp>
      <p:sp>
        <p:nvSpPr>
          <p:cNvPr id="6" name="Content Placeholder 5">
            <a:extLst>
              <a:ext uri="{FF2B5EF4-FFF2-40B4-BE49-F238E27FC236}">
                <a16:creationId xmlns:a16="http://schemas.microsoft.com/office/drawing/2014/main" id="{98A3D5B4-AEA9-CBFE-024D-04B6441F14AD}"/>
              </a:ext>
            </a:extLst>
          </p:cNvPr>
          <p:cNvSpPr>
            <a:spLocks noGrp="1"/>
          </p:cNvSpPr>
          <p:nvPr>
            <p:ph idx="1"/>
          </p:nvPr>
        </p:nvSpPr>
        <p:spPr>
          <a:xfrm>
            <a:off x="285184" y="661716"/>
            <a:ext cx="8229600" cy="2184027"/>
          </a:xfrm>
        </p:spPr>
        <p:txBody>
          <a:bodyPr>
            <a:normAutofit/>
          </a:bodyPr>
          <a:lstStyle/>
          <a:p>
            <a:pPr marL="0" indent="0">
              <a:buNone/>
            </a:pPr>
            <a:r>
              <a:rPr lang="en-US" sz="1800" dirty="0"/>
              <a:t>An AI agent built on </a:t>
            </a:r>
            <a:r>
              <a:rPr lang="en-US" sz="1800" dirty="0">
                <a:hlinkClick r:id="rId3"/>
              </a:rPr>
              <a:t>Microsoft Agent Framework </a:t>
            </a:r>
            <a:r>
              <a:rPr lang="en-US" sz="1800" dirty="0"/>
              <a:t>that uses LLMs to make dynamic decisions about metric selection, RAI compliance, and prompt generation.</a:t>
            </a:r>
          </a:p>
        </p:txBody>
      </p:sp>
      <p:graphicFrame>
        <p:nvGraphicFramePr>
          <p:cNvPr id="7" name="Table 6">
            <a:extLst>
              <a:ext uri="{FF2B5EF4-FFF2-40B4-BE49-F238E27FC236}">
                <a16:creationId xmlns:a16="http://schemas.microsoft.com/office/drawing/2014/main" id="{5B436B94-757E-3C53-D730-EAB74527F33F}"/>
              </a:ext>
            </a:extLst>
          </p:cNvPr>
          <p:cNvGraphicFramePr>
            <a:graphicFrameLocks noGrp="1"/>
          </p:cNvGraphicFramePr>
          <p:nvPr>
            <p:extLst>
              <p:ext uri="{D42A27DB-BD31-4B8C-83A1-F6EECF244321}">
                <p14:modId xmlns:p14="http://schemas.microsoft.com/office/powerpoint/2010/main" val="3362251069"/>
              </p:ext>
            </p:extLst>
          </p:nvPr>
        </p:nvGraphicFramePr>
        <p:xfrm>
          <a:off x="1260527" y="3307174"/>
          <a:ext cx="3635078" cy="3080340"/>
        </p:xfrm>
        <a:graphic>
          <a:graphicData uri="http://schemas.openxmlformats.org/drawingml/2006/table">
            <a:tbl>
              <a:tblPr>
                <a:tableStyleId>{BDBED569-4797-4DF1-A0F4-6AAB3CD982D8}</a:tableStyleId>
              </a:tblPr>
              <a:tblGrid>
                <a:gridCol w="1338511">
                  <a:extLst>
                    <a:ext uri="{9D8B030D-6E8A-4147-A177-3AD203B41FA5}">
                      <a16:colId xmlns:a16="http://schemas.microsoft.com/office/drawing/2014/main" val="3305647289"/>
                    </a:ext>
                  </a:extLst>
                </a:gridCol>
                <a:gridCol w="2296567">
                  <a:extLst>
                    <a:ext uri="{9D8B030D-6E8A-4147-A177-3AD203B41FA5}">
                      <a16:colId xmlns:a16="http://schemas.microsoft.com/office/drawing/2014/main" val="3645904136"/>
                    </a:ext>
                  </a:extLst>
                </a:gridCol>
              </a:tblGrid>
              <a:tr h="209601">
                <a:tc>
                  <a:txBody>
                    <a:bodyPr/>
                    <a:lstStyle/>
                    <a:p>
                      <a:pPr>
                        <a:buNone/>
                      </a:pPr>
                      <a:r>
                        <a:rPr lang="en-US" sz="1100" b="1" dirty="0">
                          <a:effectLst/>
                        </a:rPr>
                        <a:t>Tool</a:t>
                      </a:r>
                    </a:p>
                  </a:txBody>
                  <a:tcPr marL="68099" marR="68099" marT="31430" marB="31430" anchor="ctr">
                    <a:solidFill>
                      <a:schemeClr val="accent5">
                        <a:lumMod val="20000"/>
                        <a:lumOff val="80000"/>
                      </a:schemeClr>
                    </a:solidFill>
                  </a:tcPr>
                </a:tc>
                <a:tc>
                  <a:txBody>
                    <a:bodyPr/>
                    <a:lstStyle/>
                    <a:p>
                      <a:pPr>
                        <a:buNone/>
                      </a:pPr>
                      <a:r>
                        <a:rPr lang="en-US" sz="1100" b="1" dirty="0">
                          <a:effectLst/>
                        </a:rPr>
                        <a:t>Purpose</a:t>
                      </a:r>
                    </a:p>
                  </a:txBody>
                  <a:tcPr marL="68099" marR="68099" marT="31430" marB="31430" anchor="ctr">
                    <a:solidFill>
                      <a:schemeClr val="accent5">
                        <a:lumMod val="20000"/>
                        <a:lumOff val="80000"/>
                      </a:schemeClr>
                    </a:solidFill>
                  </a:tcPr>
                </a:tc>
                <a:extLst>
                  <a:ext uri="{0D108BD9-81ED-4DB2-BD59-A6C34878D82A}">
                    <a16:rowId xmlns:a16="http://schemas.microsoft.com/office/drawing/2014/main" val="821053788"/>
                  </a:ext>
                </a:extLst>
              </a:tr>
              <a:tr h="209601">
                <a:tc>
                  <a:txBody>
                    <a:bodyPr/>
                    <a:lstStyle/>
                    <a:p>
                      <a:pPr>
                        <a:buNone/>
                      </a:pPr>
                      <a:r>
                        <a:rPr lang="en-US" sz="1100" b="1">
                          <a:effectLst/>
                        </a:rPr>
                        <a:t>lookup_metrics</a:t>
                      </a:r>
                    </a:p>
                  </a:txBody>
                  <a:tcPr marL="68099" marR="68099" marT="31430" marB="31430" anchor="ctr">
                    <a:solidFill>
                      <a:schemeClr val="accent5">
                        <a:lumMod val="20000"/>
                        <a:lumOff val="80000"/>
                      </a:schemeClr>
                    </a:solidFill>
                  </a:tcPr>
                </a:tc>
                <a:tc>
                  <a:txBody>
                    <a:bodyPr/>
                    <a:lstStyle/>
                    <a:p>
                      <a:pPr>
                        <a:buNone/>
                      </a:pPr>
                      <a:r>
                        <a:rPr lang="en-US" sz="1100" b="0">
                          <a:effectLst/>
                        </a:rPr>
                        <a:t>Find metrics for a category</a:t>
                      </a:r>
                    </a:p>
                  </a:txBody>
                  <a:tcPr marL="68099" marR="68099" marT="31430" marB="31430" anchor="ctr"/>
                </a:tc>
                <a:extLst>
                  <a:ext uri="{0D108BD9-81ED-4DB2-BD59-A6C34878D82A}">
                    <a16:rowId xmlns:a16="http://schemas.microsoft.com/office/drawing/2014/main" val="1633098138"/>
                  </a:ext>
                </a:extLst>
              </a:tr>
              <a:tr h="362042">
                <a:tc>
                  <a:txBody>
                    <a:bodyPr/>
                    <a:lstStyle/>
                    <a:p>
                      <a:pPr>
                        <a:buNone/>
                      </a:pPr>
                      <a:r>
                        <a:rPr lang="en-US" sz="1100" b="1" dirty="0" err="1">
                          <a:effectLst/>
                        </a:rPr>
                        <a:t>suggest_metrics</a:t>
                      </a:r>
                      <a:endParaRPr lang="en-US" sz="1100" b="1" dirty="0">
                        <a:effectLst/>
                      </a:endParaRPr>
                    </a:p>
                  </a:txBody>
                  <a:tcPr marL="68099" marR="68099" marT="31430" marB="31430" anchor="ctr">
                    <a:solidFill>
                      <a:schemeClr val="accent5">
                        <a:lumMod val="20000"/>
                        <a:lumOff val="80000"/>
                      </a:schemeClr>
                    </a:solidFill>
                  </a:tcPr>
                </a:tc>
                <a:tc>
                  <a:txBody>
                    <a:bodyPr/>
                    <a:lstStyle/>
                    <a:p>
                      <a:pPr>
                        <a:buNone/>
                      </a:pPr>
                      <a:r>
                        <a:rPr lang="en-US" sz="1100" b="0" dirty="0">
                          <a:effectLst/>
                        </a:rPr>
                        <a:t>Get recommendations for additional metrics</a:t>
                      </a:r>
                    </a:p>
                  </a:txBody>
                  <a:tcPr marL="68099" marR="68099" marT="31430" marB="31430" anchor="ctr"/>
                </a:tc>
                <a:extLst>
                  <a:ext uri="{0D108BD9-81ED-4DB2-BD59-A6C34878D82A}">
                    <a16:rowId xmlns:a16="http://schemas.microsoft.com/office/drawing/2014/main" val="808940467"/>
                  </a:ext>
                </a:extLst>
              </a:tr>
              <a:tr h="362042">
                <a:tc>
                  <a:txBody>
                    <a:bodyPr/>
                    <a:lstStyle/>
                    <a:p>
                      <a:pPr>
                        <a:buNone/>
                      </a:pPr>
                      <a:r>
                        <a:rPr lang="en-US" sz="1100" b="1" dirty="0" err="1">
                          <a:effectLst/>
                        </a:rPr>
                        <a:t>recommend_metrics</a:t>
                      </a:r>
                      <a:endParaRPr lang="en-US" sz="1100" b="1" dirty="0">
                        <a:effectLst/>
                      </a:endParaRPr>
                    </a:p>
                  </a:txBody>
                  <a:tcPr marL="68099" marR="68099" marT="31430" marB="31430" anchor="ctr">
                    <a:solidFill>
                      <a:schemeClr val="accent5">
                        <a:lumMod val="20000"/>
                        <a:lumOff val="80000"/>
                      </a:schemeClr>
                    </a:solidFill>
                  </a:tcPr>
                </a:tc>
                <a:tc>
                  <a:txBody>
                    <a:bodyPr/>
                    <a:lstStyle/>
                    <a:p>
                      <a:pPr>
                        <a:buNone/>
                      </a:pPr>
                      <a:r>
                        <a:rPr lang="en-US" sz="1100" b="0" dirty="0">
                          <a:effectLst/>
                        </a:rPr>
                        <a:t>Intelligent metric selection with architecture detection</a:t>
                      </a:r>
                    </a:p>
                  </a:txBody>
                  <a:tcPr marL="68099" marR="68099" marT="31430" marB="31430" anchor="ctr"/>
                </a:tc>
                <a:extLst>
                  <a:ext uri="{0D108BD9-81ED-4DB2-BD59-A6C34878D82A}">
                    <a16:rowId xmlns:a16="http://schemas.microsoft.com/office/drawing/2014/main" val="1235880680"/>
                  </a:ext>
                </a:extLst>
              </a:tr>
              <a:tr h="362042">
                <a:tc>
                  <a:txBody>
                    <a:bodyPr/>
                    <a:lstStyle/>
                    <a:p>
                      <a:pPr>
                        <a:buNone/>
                      </a:pPr>
                      <a:r>
                        <a:rPr lang="en-US" sz="1100" b="1">
                          <a:effectLst/>
                        </a:rPr>
                        <a:t>get_locale_info</a:t>
                      </a:r>
                    </a:p>
                  </a:txBody>
                  <a:tcPr marL="68099" marR="68099" marT="31430" marB="31430" anchor="ctr">
                    <a:solidFill>
                      <a:schemeClr val="accent5">
                        <a:lumMod val="20000"/>
                        <a:lumOff val="80000"/>
                      </a:schemeClr>
                    </a:solidFill>
                  </a:tcPr>
                </a:tc>
                <a:tc>
                  <a:txBody>
                    <a:bodyPr/>
                    <a:lstStyle/>
                    <a:p>
                      <a:pPr>
                        <a:buNone/>
                      </a:pPr>
                      <a:r>
                        <a:rPr lang="en-US" sz="1100" b="0" dirty="0">
                          <a:effectLst/>
                        </a:rPr>
                        <a:t>Get cultural/regulatory info for a locale</a:t>
                      </a:r>
                    </a:p>
                  </a:txBody>
                  <a:tcPr marL="68099" marR="68099" marT="31430" marB="31430" anchor="ctr"/>
                </a:tc>
                <a:extLst>
                  <a:ext uri="{0D108BD9-81ED-4DB2-BD59-A6C34878D82A}">
                    <a16:rowId xmlns:a16="http://schemas.microsoft.com/office/drawing/2014/main" val="4035277566"/>
                  </a:ext>
                </a:extLst>
              </a:tr>
              <a:tr h="362042">
                <a:tc>
                  <a:txBody>
                    <a:bodyPr/>
                    <a:lstStyle/>
                    <a:p>
                      <a:pPr>
                        <a:buNone/>
                      </a:pPr>
                      <a:r>
                        <a:rPr lang="en-US" sz="1100" b="1">
                          <a:effectLst/>
                        </a:rPr>
                        <a:t>validate_rai_compliance</a:t>
                      </a:r>
                    </a:p>
                  </a:txBody>
                  <a:tcPr marL="68099" marR="68099" marT="31430" marB="31430" anchor="ctr">
                    <a:solidFill>
                      <a:schemeClr val="accent5">
                        <a:lumMod val="20000"/>
                        <a:lumOff val="80000"/>
                      </a:schemeClr>
                    </a:solidFill>
                  </a:tcPr>
                </a:tc>
                <a:tc>
                  <a:txBody>
                    <a:bodyPr/>
                    <a:lstStyle/>
                    <a:p>
                      <a:pPr>
                        <a:buNone/>
                      </a:pPr>
                      <a:r>
                        <a:rPr lang="en-US" sz="1100" b="0" dirty="0">
                          <a:effectLst/>
                        </a:rPr>
                        <a:t>Check if metrics meet RAI requirements</a:t>
                      </a:r>
                    </a:p>
                  </a:txBody>
                  <a:tcPr marL="68099" marR="68099" marT="31430" marB="31430" anchor="ctr"/>
                </a:tc>
                <a:extLst>
                  <a:ext uri="{0D108BD9-81ED-4DB2-BD59-A6C34878D82A}">
                    <a16:rowId xmlns:a16="http://schemas.microsoft.com/office/drawing/2014/main" val="2651091832"/>
                  </a:ext>
                </a:extLst>
              </a:tr>
              <a:tr h="362042">
                <a:tc>
                  <a:txBody>
                    <a:bodyPr/>
                    <a:lstStyle/>
                    <a:p>
                      <a:pPr>
                        <a:buNone/>
                      </a:pPr>
                      <a:r>
                        <a:rPr lang="en-US" sz="1100" b="1">
                          <a:effectLst/>
                        </a:rPr>
                        <a:t>build_prompt</a:t>
                      </a:r>
                    </a:p>
                  </a:txBody>
                  <a:tcPr marL="68099" marR="68099" marT="31430" marB="31430" anchor="ctr">
                    <a:solidFill>
                      <a:schemeClr val="accent5">
                        <a:lumMod val="20000"/>
                        <a:lumOff val="80000"/>
                      </a:schemeClr>
                    </a:solidFill>
                  </a:tcPr>
                </a:tc>
                <a:tc>
                  <a:txBody>
                    <a:bodyPr/>
                    <a:lstStyle/>
                    <a:p>
                      <a:pPr>
                        <a:buNone/>
                      </a:pPr>
                      <a:r>
                        <a:rPr lang="en-US" sz="1100" b="0" dirty="0">
                          <a:effectLst/>
                        </a:rPr>
                        <a:t>Generate the v2.2 evaluation prompt with additive metric policy</a:t>
                      </a:r>
                    </a:p>
                  </a:txBody>
                  <a:tcPr marL="68099" marR="68099" marT="31430" marB="31430" anchor="ctr"/>
                </a:tc>
                <a:extLst>
                  <a:ext uri="{0D108BD9-81ED-4DB2-BD59-A6C34878D82A}">
                    <a16:rowId xmlns:a16="http://schemas.microsoft.com/office/drawing/2014/main" val="1269635738"/>
                  </a:ext>
                </a:extLst>
              </a:tr>
              <a:tr h="209601">
                <a:tc>
                  <a:txBody>
                    <a:bodyPr/>
                    <a:lstStyle/>
                    <a:p>
                      <a:pPr>
                        <a:buNone/>
                      </a:pPr>
                      <a:r>
                        <a:rPr lang="en-US" sz="1100" b="1">
                          <a:effectLst/>
                        </a:rPr>
                        <a:t>get_code_metrics</a:t>
                      </a:r>
                    </a:p>
                  </a:txBody>
                  <a:tcPr marL="68099" marR="68099" marT="31430" marB="31430" anchor="ctr">
                    <a:solidFill>
                      <a:schemeClr val="accent5">
                        <a:lumMod val="20000"/>
                        <a:lumOff val="80000"/>
                      </a:schemeClr>
                    </a:solidFill>
                  </a:tcPr>
                </a:tc>
                <a:tc>
                  <a:txBody>
                    <a:bodyPr/>
                    <a:lstStyle/>
                    <a:p>
                      <a:pPr>
                        <a:buNone/>
                      </a:pPr>
                      <a:r>
                        <a:rPr lang="en-US" sz="1100" b="0" dirty="0">
                          <a:effectLst/>
                        </a:rPr>
                        <a:t>Get programmatic metrics sample</a:t>
                      </a:r>
                    </a:p>
                  </a:txBody>
                  <a:tcPr marL="68099" marR="68099" marT="31430" marB="31430" anchor="ctr"/>
                </a:tc>
                <a:extLst>
                  <a:ext uri="{0D108BD9-81ED-4DB2-BD59-A6C34878D82A}">
                    <a16:rowId xmlns:a16="http://schemas.microsoft.com/office/drawing/2014/main" val="1752986272"/>
                  </a:ext>
                </a:extLst>
              </a:tr>
              <a:tr h="362042">
                <a:tc>
                  <a:txBody>
                    <a:bodyPr/>
                    <a:lstStyle/>
                    <a:p>
                      <a:pPr>
                        <a:buNone/>
                      </a:pPr>
                      <a:r>
                        <a:rPr lang="en-US" sz="1100" b="1" dirty="0" err="1">
                          <a:effectLst/>
                        </a:rPr>
                        <a:t>analyze_feature_description</a:t>
                      </a:r>
                      <a:endParaRPr lang="en-US" sz="1100" b="1" dirty="0">
                        <a:effectLst/>
                      </a:endParaRPr>
                    </a:p>
                  </a:txBody>
                  <a:tcPr marL="68099" marR="68099" marT="31430" marB="31430" anchor="ctr">
                    <a:solidFill>
                      <a:schemeClr val="accent5">
                        <a:lumMod val="20000"/>
                        <a:lumOff val="80000"/>
                      </a:schemeClr>
                    </a:solidFill>
                  </a:tcPr>
                </a:tc>
                <a:tc>
                  <a:txBody>
                    <a:bodyPr/>
                    <a:lstStyle/>
                    <a:p>
                      <a:pPr>
                        <a:buNone/>
                      </a:pPr>
                      <a:r>
                        <a:rPr lang="en-US" sz="1100" b="0" dirty="0">
                          <a:effectLst/>
                        </a:rPr>
                        <a:t>Extract attributes from natural language</a:t>
                      </a:r>
                    </a:p>
                  </a:txBody>
                  <a:tcPr marL="68099" marR="68099" marT="31430" marB="31430" anchor="ctr"/>
                </a:tc>
                <a:extLst>
                  <a:ext uri="{0D108BD9-81ED-4DB2-BD59-A6C34878D82A}">
                    <a16:rowId xmlns:a16="http://schemas.microsoft.com/office/drawing/2014/main" val="20165907"/>
                  </a:ext>
                </a:extLst>
              </a:tr>
            </a:tbl>
          </a:graphicData>
        </a:graphic>
      </p:graphicFrame>
      <p:graphicFrame>
        <p:nvGraphicFramePr>
          <p:cNvPr id="14" name="Diagram 13">
            <a:extLst>
              <a:ext uri="{FF2B5EF4-FFF2-40B4-BE49-F238E27FC236}">
                <a16:creationId xmlns:a16="http://schemas.microsoft.com/office/drawing/2014/main" id="{D81C63D8-4ABC-0DFD-5DAC-63FDB42F135E}"/>
              </a:ext>
            </a:extLst>
          </p:cNvPr>
          <p:cNvGraphicFramePr/>
          <p:nvPr>
            <p:extLst>
              <p:ext uri="{D42A27DB-BD31-4B8C-83A1-F6EECF244321}">
                <p14:modId xmlns:p14="http://schemas.microsoft.com/office/powerpoint/2010/main" val="116918016"/>
              </p:ext>
            </p:extLst>
          </p:nvPr>
        </p:nvGraphicFramePr>
        <p:xfrm>
          <a:off x="-924882" y="1397418"/>
          <a:ext cx="6083230" cy="177835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6" name="Picture 15">
            <a:extLst>
              <a:ext uri="{FF2B5EF4-FFF2-40B4-BE49-F238E27FC236}">
                <a16:creationId xmlns:a16="http://schemas.microsoft.com/office/drawing/2014/main" id="{ADD58447-CF7F-11DC-5AB5-EFDE7386BD9C}"/>
              </a:ext>
            </a:extLst>
          </p:cNvPr>
          <p:cNvPicPr>
            <a:picLocks noChangeAspect="1"/>
          </p:cNvPicPr>
          <p:nvPr/>
        </p:nvPicPr>
        <p:blipFill>
          <a:blip r:embed="rId9"/>
          <a:stretch>
            <a:fillRect/>
          </a:stretch>
        </p:blipFill>
        <p:spPr>
          <a:xfrm>
            <a:off x="6355646" y="1367118"/>
            <a:ext cx="2503170" cy="4874958"/>
          </a:xfrm>
          <a:prstGeom prst="rect">
            <a:avLst/>
          </a:prstGeom>
        </p:spPr>
      </p:pic>
      <p:pic>
        <p:nvPicPr>
          <p:cNvPr id="4099" name="Picture 3" descr="How AI Agents Will Revolutionize Your ...">
            <a:extLst>
              <a:ext uri="{FF2B5EF4-FFF2-40B4-BE49-F238E27FC236}">
                <a16:creationId xmlns:a16="http://schemas.microsoft.com/office/drawing/2014/main" id="{056FFAEA-04B4-229F-76F9-02F24E02DA6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99984" y="2226712"/>
            <a:ext cx="1537392" cy="8609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4164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0CB9C-A64E-BF2F-4A64-53D385A0BA5A}"/>
              </a:ext>
            </a:extLst>
          </p:cNvPr>
          <p:cNvSpPr>
            <a:spLocks noGrp="1"/>
          </p:cNvSpPr>
          <p:nvPr>
            <p:ph type="title"/>
          </p:nvPr>
        </p:nvSpPr>
        <p:spPr>
          <a:xfrm>
            <a:off x="457200" y="274638"/>
            <a:ext cx="3816036" cy="286677"/>
          </a:xfrm>
        </p:spPr>
        <p:txBody>
          <a:bodyPr>
            <a:noAutofit/>
          </a:bodyPr>
          <a:lstStyle/>
          <a:p>
            <a:r>
              <a:rPr lang="en-US" sz="2000" b="1" dirty="0"/>
              <a:t>Case Study: Prompt Comparison</a:t>
            </a:r>
          </a:p>
        </p:txBody>
      </p:sp>
      <p:graphicFrame>
        <p:nvGraphicFramePr>
          <p:cNvPr id="4" name="Table 3">
            <a:extLst>
              <a:ext uri="{FF2B5EF4-FFF2-40B4-BE49-F238E27FC236}">
                <a16:creationId xmlns:a16="http://schemas.microsoft.com/office/drawing/2014/main" id="{A8A8B17E-02CF-E75C-2F9A-B564028E970A}"/>
              </a:ext>
            </a:extLst>
          </p:cNvPr>
          <p:cNvGraphicFramePr>
            <a:graphicFrameLocks noGrp="1"/>
          </p:cNvGraphicFramePr>
          <p:nvPr>
            <p:extLst>
              <p:ext uri="{D42A27DB-BD31-4B8C-83A1-F6EECF244321}">
                <p14:modId xmlns:p14="http://schemas.microsoft.com/office/powerpoint/2010/main" val="428913795"/>
              </p:ext>
            </p:extLst>
          </p:nvPr>
        </p:nvGraphicFramePr>
        <p:xfrm>
          <a:off x="457200" y="733331"/>
          <a:ext cx="7699973" cy="5420607"/>
        </p:xfrm>
        <a:graphic>
          <a:graphicData uri="http://schemas.openxmlformats.org/drawingml/2006/table">
            <a:tbl>
              <a:tblPr>
                <a:tableStyleId>{BDBED569-4797-4DF1-A0F4-6AAB3CD982D8}</a:tableStyleId>
              </a:tblPr>
              <a:tblGrid>
                <a:gridCol w="1760901">
                  <a:extLst>
                    <a:ext uri="{9D8B030D-6E8A-4147-A177-3AD203B41FA5}">
                      <a16:colId xmlns:a16="http://schemas.microsoft.com/office/drawing/2014/main" val="3747058526"/>
                    </a:ext>
                  </a:extLst>
                </a:gridCol>
                <a:gridCol w="2969536">
                  <a:extLst>
                    <a:ext uri="{9D8B030D-6E8A-4147-A177-3AD203B41FA5}">
                      <a16:colId xmlns:a16="http://schemas.microsoft.com/office/drawing/2014/main" val="1941422512"/>
                    </a:ext>
                  </a:extLst>
                </a:gridCol>
                <a:gridCol w="2969536">
                  <a:extLst>
                    <a:ext uri="{9D8B030D-6E8A-4147-A177-3AD203B41FA5}">
                      <a16:colId xmlns:a16="http://schemas.microsoft.com/office/drawing/2014/main" val="296835097"/>
                    </a:ext>
                  </a:extLst>
                </a:gridCol>
              </a:tblGrid>
              <a:tr h="209873">
                <a:tc>
                  <a:txBody>
                    <a:bodyPr/>
                    <a:lstStyle/>
                    <a:p>
                      <a:pPr algn="ctr" fontAlgn="ctr">
                        <a:buNone/>
                      </a:pPr>
                      <a:r>
                        <a:rPr lang="en-US" sz="1200" b="1" u="none" strike="noStrike" dirty="0">
                          <a:effectLst/>
                        </a:rPr>
                        <a:t>Dimension</a:t>
                      </a:r>
                      <a:endParaRPr lang="en-US" sz="1200" b="1" i="0" u="none" strike="noStrike" dirty="0">
                        <a:solidFill>
                          <a:srgbClr val="000000"/>
                        </a:solidFill>
                        <a:effectLst/>
                        <a:latin typeface="Aptos Narrow" panose="020B0004020202020204" pitchFamily="34" charset="0"/>
                      </a:endParaRPr>
                    </a:p>
                  </a:txBody>
                  <a:tcPr marL="2514" marR="2514" marT="2514" marB="0" anchor="ctr">
                    <a:solidFill>
                      <a:schemeClr val="accent5">
                        <a:lumMod val="20000"/>
                        <a:lumOff val="80000"/>
                      </a:schemeClr>
                    </a:solidFill>
                  </a:tcPr>
                </a:tc>
                <a:tc>
                  <a:txBody>
                    <a:bodyPr/>
                    <a:lstStyle/>
                    <a:p>
                      <a:pPr algn="ctr" fontAlgn="ctr">
                        <a:buNone/>
                      </a:pPr>
                      <a:r>
                        <a:rPr lang="en-US" sz="1200" b="1" u="none" strike="noStrike" dirty="0">
                          <a:effectLst/>
                        </a:rPr>
                        <a:t>AI Agent–Generated Prompt </a:t>
                      </a:r>
                      <a:endParaRPr lang="en-US" sz="1200" b="1" i="0" u="none" strike="noStrike" dirty="0">
                        <a:solidFill>
                          <a:srgbClr val="000000"/>
                        </a:solidFill>
                        <a:effectLst/>
                        <a:latin typeface="Aptos Narrow" panose="020B0004020202020204" pitchFamily="34" charset="0"/>
                      </a:endParaRPr>
                    </a:p>
                  </a:txBody>
                  <a:tcPr marL="2514" marR="2514" marT="2514" marB="0" anchor="ctr">
                    <a:solidFill>
                      <a:schemeClr val="accent5">
                        <a:lumMod val="20000"/>
                        <a:lumOff val="80000"/>
                      </a:schemeClr>
                    </a:solidFill>
                  </a:tcPr>
                </a:tc>
                <a:tc>
                  <a:txBody>
                    <a:bodyPr/>
                    <a:lstStyle/>
                    <a:p>
                      <a:pPr algn="ctr" fontAlgn="ctr">
                        <a:buNone/>
                      </a:pPr>
                      <a:r>
                        <a:rPr lang="en-US" sz="1200" b="1" u="none" strike="noStrike" dirty="0">
                          <a:effectLst/>
                        </a:rPr>
                        <a:t>Deterministic Template Prompt </a:t>
                      </a:r>
                      <a:endParaRPr lang="en-US" sz="1200" b="1" i="0" u="none" strike="noStrike" dirty="0">
                        <a:solidFill>
                          <a:srgbClr val="000000"/>
                        </a:solidFill>
                        <a:effectLst/>
                        <a:latin typeface="Aptos Narrow" panose="020B0004020202020204" pitchFamily="34" charset="0"/>
                      </a:endParaRPr>
                    </a:p>
                  </a:txBody>
                  <a:tcPr marL="2514" marR="2514" marT="2514" marB="0" anchor="ctr">
                    <a:solidFill>
                      <a:schemeClr val="accent5">
                        <a:lumMod val="20000"/>
                        <a:lumOff val="80000"/>
                      </a:schemeClr>
                    </a:solidFill>
                  </a:tcPr>
                </a:tc>
                <a:extLst>
                  <a:ext uri="{0D108BD9-81ED-4DB2-BD59-A6C34878D82A}">
                    <a16:rowId xmlns:a16="http://schemas.microsoft.com/office/drawing/2014/main" val="713327051"/>
                  </a:ext>
                </a:extLst>
              </a:tr>
              <a:tr h="345890">
                <a:tc>
                  <a:txBody>
                    <a:bodyPr/>
                    <a:lstStyle/>
                    <a:p>
                      <a:pPr algn="l" fontAlgn="ctr">
                        <a:buNone/>
                      </a:pPr>
                      <a:r>
                        <a:rPr lang="en-US" sz="1200" b="1" u="none" strike="noStrike" dirty="0">
                          <a:effectLst/>
                        </a:rPr>
                        <a:t>Source</a:t>
                      </a:r>
                      <a:endParaRPr lang="en-US" sz="1200" b="1" i="0" u="none" strike="noStrike" dirty="0">
                        <a:solidFill>
                          <a:srgbClr val="000000"/>
                        </a:solidFill>
                        <a:effectLst/>
                        <a:latin typeface="Aptos Narrow" panose="020B0004020202020204" pitchFamily="34" charset="0"/>
                      </a:endParaRPr>
                    </a:p>
                  </a:txBody>
                  <a:tcPr marL="2514" marR="2514" marT="2514" marB="0" anchor="ctr">
                    <a:solidFill>
                      <a:schemeClr val="accent5">
                        <a:lumMod val="20000"/>
                        <a:lumOff val="80000"/>
                      </a:schemeClr>
                    </a:solidFill>
                  </a:tcPr>
                </a:tc>
                <a:tc>
                  <a:txBody>
                    <a:bodyPr/>
                    <a:lstStyle/>
                    <a:p>
                      <a:pPr algn="l" fontAlgn="ctr">
                        <a:buNone/>
                      </a:pPr>
                      <a:r>
                        <a:rPr lang="en-US" sz="1200" u="none" strike="noStrike" dirty="0">
                          <a:effectLst/>
                        </a:rPr>
                        <a:t>AI agent–generated</a:t>
                      </a:r>
                      <a:endParaRPr lang="en-US" sz="1200" b="0" i="0" u="none" strike="noStrike" dirty="0">
                        <a:solidFill>
                          <a:srgbClr val="000000"/>
                        </a:solidFill>
                        <a:effectLst/>
                        <a:latin typeface="Aptos Narrow" panose="020B0004020202020204" pitchFamily="34" charset="0"/>
                      </a:endParaRPr>
                    </a:p>
                  </a:txBody>
                  <a:tcPr marL="2514" marR="2514" marT="2514" marB="0" anchor="ctr"/>
                </a:tc>
                <a:tc>
                  <a:txBody>
                    <a:bodyPr/>
                    <a:lstStyle/>
                    <a:p>
                      <a:pPr algn="l" fontAlgn="ctr">
                        <a:buNone/>
                      </a:pPr>
                      <a:r>
                        <a:rPr lang="en-US" sz="1200" u="none" strike="noStrike">
                          <a:effectLst/>
                        </a:rPr>
                        <a:t>Human-authored deterministic template</a:t>
                      </a:r>
                      <a:endParaRPr lang="en-US" sz="1200" b="0" i="0" u="none" strike="noStrike">
                        <a:solidFill>
                          <a:srgbClr val="000000"/>
                        </a:solidFill>
                        <a:effectLst/>
                        <a:latin typeface="Aptos Narrow" panose="020B0004020202020204" pitchFamily="34" charset="0"/>
                      </a:endParaRPr>
                    </a:p>
                  </a:txBody>
                  <a:tcPr marL="2514" marR="2514" marT="2514" marB="0" anchor="ctr"/>
                </a:tc>
                <a:extLst>
                  <a:ext uri="{0D108BD9-81ED-4DB2-BD59-A6C34878D82A}">
                    <a16:rowId xmlns:a16="http://schemas.microsoft.com/office/drawing/2014/main" val="231273765"/>
                  </a:ext>
                </a:extLst>
              </a:tr>
              <a:tr h="362497">
                <a:tc>
                  <a:txBody>
                    <a:bodyPr/>
                    <a:lstStyle/>
                    <a:p>
                      <a:pPr algn="l" fontAlgn="ctr">
                        <a:buNone/>
                      </a:pPr>
                      <a:r>
                        <a:rPr lang="en-US" sz="1200" b="1" u="none" strike="noStrike" dirty="0">
                          <a:effectLst/>
                        </a:rPr>
                        <a:t>Primary goal</a:t>
                      </a:r>
                      <a:endParaRPr lang="en-US" sz="1200" b="1" i="0" u="none" strike="noStrike" dirty="0">
                        <a:solidFill>
                          <a:srgbClr val="000000"/>
                        </a:solidFill>
                        <a:effectLst/>
                        <a:latin typeface="Aptos Narrow" panose="020B0004020202020204" pitchFamily="34" charset="0"/>
                      </a:endParaRPr>
                    </a:p>
                  </a:txBody>
                  <a:tcPr marL="2514" marR="2514" marT="2514" marB="0" anchor="ctr">
                    <a:solidFill>
                      <a:schemeClr val="accent5">
                        <a:lumMod val="20000"/>
                        <a:lumOff val="80000"/>
                      </a:schemeClr>
                    </a:solidFill>
                  </a:tcPr>
                </a:tc>
                <a:tc>
                  <a:txBody>
                    <a:bodyPr/>
                    <a:lstStyle/>
                    <a:p>
                      <a:pPr algn="l" fontAlgn="ctr">
                        <a:buNone/>
                      </a:pPr>
                      <a:r>
                        <a:rPr lang="en-US" sz="1200" u="none" strike="noStrike" dirty="0">
                          <a:effectLst/>
                        </a:rPr>
                        <a:t>Deep, feature-specific agentic evaluation</a:t>
                      </a:r>
                      <a:endParaRPr lang="en-US" sz="1200" b="0" i="0" u="none" strike="noStrike" dirty="0">
                        <a:solidFill>
                          <a:srgbClr val="000000"/>
                        </a:solidFill>
                        <a:effectLst/>
                        <a:latin typeface="Aptos Narrow" panose="020B0004020202020204" pitchFamily="34" charset="0"/>
                      </a:endParaRPr>
                    </a:p>
                  </a:txBody>
                  <a:tcPr marL="2514" marR="2514" marT="2514" marB="0" anchor="ctr"/>
                </a:tc>
                <a:tc>
                  <a:txBody>
                    <a:bodyPr/>
                    <a:lstStyle/>
                    <a:p>
                      <a:pPr algn="l" fontAlgn="ctr">
                        <a:buNone/>
                      </a:pPr>
                      <a:r>
                        <a:rPr lang="en-US" sz="1200" u="none" strike="noStrike">
                          <a:effectLst/>
                        </a:rPr>
                        <a:t>Stable, repeatable quality &amp; compliance contract</a:t>
                      </a:r>
                      <a:endParaRPr lang="en-US" sz="1200" b="0" i="0" u="none" strike="noStrike">
                        <a:solidFill>
                          <a:srgbClr val="000000"/>
                        </a:solidFill>
                        <a:effectLst/>
                        <a:latin typeface="Aptos Narrow" panose="020B0004020202020204" pitchFamily="34" charset="0"/>
                      </a:endParaRPr>
                    </a:p>
                  </a:txBody>
                  <a:tcPr marL="2514" marR="2514" marT="2514" marB="0" anchor="ctr"/>
                </a:tc>
                <a:extLst>
                  <a:ext uri="{0D108BD9-81ED-4DB2-BD59-A6C34878D82A}">
                    <a16:rowId xmlns:a16="http://schemas.microsoft.com/office/drawing/2014/main" val="441559882"/>
                  </a:ext>
                </a:extLst>
              </a:tr>
              <a:tr h="345890">
                <a:tc>
                  <a:txBody>
                    <a:bodyPr/>
                    <a:lstStyle/>
                    <a:p>
                      <a:pPr algn="l" fontAlgn="ctr">
                        <a:buNone/>
                      </a:pPr>
                      <a:r>
                        <a:rPr lang="en-US" sz="1200" b="1" u="none" strike="noStrike">
                          <a:effectLst/>
                        </a:rPr>
                        <a:t>Design philosophy</a:t>
                      </a:r>
                      <a:endParaRPr lang="en-US" sz="1200" b="1" i="0" u="none" strike="noStrike">
                        <a:solidFill>
                          <a:srgbClr val="000000"/>
                        </a:solidFill>
                        <a:effectLst/>
                        <a:latin typeface="Aptos Narrow" panose="020B0004020202020204" pitchFamily="34" charset="0"/>
                      </a:endParaRPr>
                    </a:p>
                  </a:txBody>
                  <a:tcPr marL="2514" marR="2514" marT="2514" marB="0" anchor="ctr">
                    <a:solidFill>
                      <a:schemeClr val="accent5">
                        <a:lumMod val="20000"/>
                        <a:lumOff val="80000"/>
                      </a:schemeClr>
                    </a:solidFill>
                  </a:tcPr>
                </a:tc>
                <a:tc>
                  <a:txBody>
                    <a:bodyPr/>
                    <a:lstStyle/>
                    <a:p>
                      <a:pPr algn="l" fontAlgn="ctr">
                        <a:buNone/>
                      </a:pPr>
                      <a:r>
                        <a:rPr lang="en-US" sz="1200" u="none" strike="noStrike" dirty="0">
                          <a:effectLst/>
                        </a:rPr>
                        <a:t>Maximalist, adaptive, research-grade</a:t>
                      </a:r>
                      <a:endParaRPr lang="en-US" sz="1200" b="0" i="0" u="none" strike="noStrike" dirty="0">
                        <a:solidFill>
                          <a:srgbClr val="000000"/>
                        </a:solidFill>
                        <a:effectLst/>
                        <a:latin typeface="Aptos Narrow" panose="020B0004020202020204" pitchFamily="34" charset="0"/>
                      </a:endParaRPr>
                    </a:p>
                  </a:txBody>
                  <a:tcPr marL="2514" marR="2514" marT="2514" marB="0" anchor="ctr"/>
                </a:tc>
                <a:tc>
                  <a:txBody>
                    <a:bodyPr/>
                    <a:lstStyle/>
                    <a:p>
                      <a:pPr algn="l" fontAlgn="ctr">
                        <a:buNone/>
                      </a:pPr>
                      <a:r>
                        <a:rPr lang="en-US" sz="1200" u="none" strike="noStrike" dirty="0">
                          <a:effectLst/>
                        </a:rPr>
                        <a:t>Minimalist, conservative, production-grade</a:t>
                      </a:r>
                      <a:endParaRPr lang="en-US" sz="1200" b="0" i="0" u="none" strike="noStrike" dirty="0">
                        <a:solidFill>
                          <a:srgbClr val="000000"/>
                        </a:solidFill>
                        <a:effectLst/>
                        <a:latin typeface="Aptos Narrow" panose="020B0004020202020204" pitchFamily="34" charset="0"/>
                      </a:endParaRPr>
                    </a:p>
                  </a:txBody>
                  <a:tcPr marL="2514" marR="2514" marT="2514" marB="0" anchor="ctr"/>
                </a:tc>
                <a:extLst>
                  <a:ext uri="{0D108BD9-81ED-4DB2-BD59-A6C34878D82A}">
                    <a16:rowId xmlns:a16="http://schemas.microsoft.com/office/drawing/2014/main" val="4278330418"/>
                  </a:ext>
                </a:extLst>
              </a:tr>
              <a:tr h="345890">
                <a:tc>
                  <a:txBody>
                    <a:bodyPr/>
                    <a:lstStyle/>
                    <a:p>
                      <a:pPr algn="l" fontAlgn="ctr">
                        <a:buNone/>
                      </a:pPr>
                      <a:r>
                        <a:rPr lang="en-US" sz="1200" b="1" u="none" strike="noStrike">
                          <a:effectLst/>
                        </a:rPr>
                        <a:t>Reasoning transparency</a:t>
                      </a:r>
                      <a:endParaRPr lang="en-US" sz="1200" b="1" i="0" u="none" strike="noStrike">
                        <a:solidFill>
                          <a:srgbClr val="000000"/>
                        </a:solidFill>
                        <a:effectLst/>
                        <a:latin typeface="Aptos Narrow" panose="020B0004020202020204" pitchFamily="34" charset="0"/>
                      </a:endParaRPr>
                    </a:p>
                  </a:txBody>
                  <a:tcPr marL="2514" marR="2514" marT="2514" marB="0" anchor="ctr">
                    <a:solidFill>
                      <a:schemeClr val="accent5">
                        <a:lumMod val="20000"/>
                        <a:lumOff val="80000"/>
                      </a:schemeClr>
                    </a:solidFill>
                  </a:tcPr>
                </a:tc>
                <a:tc>
                  <a:txBody>
                    <a:bodyPr/>
                    <a:lstStyle/>
                    <a:p>
                      <a:pPr algn="l" fontAlgn="ctr">
                        <a:buNone/>
                      </a:pPr>
                      <a:r>
                        <a:rPr lang="en-US" sz="1200" u="none" strike="noStrike" dirty="0">
                          <a:effectLst/>
                        </a:rPr>
                        <a:t>Required and scored</a:t>
                      </a:r>
                      <a:endParaRPr lang="en-US" sz="1200" b="0" i="0" u="none" strike="noStrike" dirty="0">
                        <a:solidFill>
                          <a:srgbClr val="000000"/>
                        </a:solidFill>
                        <a:effectLst/>
                        <a:latin typeface="Aptos Narrow" panose="020B0004020202020204" pitchFamily="34" charset="0"/>
                      </a:endParaRPr>
                    </a:p>
                  </a:txBody>
                  <a:tcPr marL="2514" marR="2514" marT="2514" marB="0" anchor="ctr"/>
                </a:tc>
                <a:tc>
                  <a:txBody>
                    <a:bodyPr/>
                    <a:lstStyle/>
                    <a:p>
                      <a:pPr algn="l" fontAlgn="ctr">
                        <a:buNone/>
                      </a:pPr>
                      <a:r>
                        <a:rPr lang="en-US" sz="1200" u="none" strike="noStrike" dirty="0">
                          <a:effectLst/>
                        </a:rPr>
                        <a:t>Partial / indirect</a:t>
                      </a:r>
                      <a:endParaRPr lang="en-US" sz="1200" b="0" i="0" u="none" strike="noStrike" dirty="0">
                        <a:solidFill>
                          <a:srgbClr val="000000"/>
                        </a:solidFill>
                        <a:effectLst/>
                        <a:latin typeface="Aptos Narrow" panose="020B0004020202020204" pitchFamily="34" charset="0"/>
                      </a:endParaRPr>
                    </a:p>
                  </a:txBody>
                  <a:tcPr marL="2514" marR="2514" marT="2514" marB="0" anchor="ctr"/>
                </a:tc>
                <a:extLst>
                  <a:ext uri="{0D108BD9-81ED-4DB2-BD59-A6C34878D82A}">
                    <a16:rowId xmlns:a16="http://schemas.microsoft.com/office/drawing/2014/main" val="3579380976"/>
                  </a:ext>
                </a:extLst>
              </a:tr>
              <a:tr h="345890">
                <a:tc>
                  <a:txBody>
                    <a:bodyPr/>
                    <a:lstStyle/>
                    <a:p>
                      <a:pPr algn="l" fontAlgn="ctr">
                        <a:buNone/>
                      </a:pPr>
                      <a:r>
                        <a:rPr lang="en-US" sz="1200" b="1" u="none" strike="noStrike">
                          <a:effectLst/>
                        </a:rPr>
                        <a:t>Temporal reasoning depth</a:t>
                      </a:r>
                      <a:endParaRPr lang="en-US" sz="1200" b="1" i="0" u="none" strike="noStrike">
                        <a:solidFill>
                          <a:srgbClr val="000000"/>
                        </a:solidFill>
                        <a:effectLst/>
                        <a:latin typeface="Aptos Narrow" panose="020B0004020202020204" pitchFamily="34" charset="0"/>
                      </a:endParaRPr>
                    </a:p>
                  </a:txBody>
                  <a:tcPr marL="2514" marR="2514" marT="2514" marB="0" anchor="ctr">
                    <a:solidFill>
                      <a:schemeClr val="accent5">
                        <a:lumMod val="20000"/>
                        <a:lumOff val="80000"/>
                      </a:schemeClr>
                    </a:solidFill>
                  </a:tcPr>
                </a:tc>
                <a:tc>
                  <a:txBody>
                    <a:bodyPr/>
                    <a:lstStyle/>
                    <a:p>
                      <a:pPr algn="l" fontAlgn="ctr">
                        <a:buNone/>
                      </a:pPr>
                      <a:r>
                        <a:rPr lang="en-US" sz="1200" u="none" strike="noStrike" dirty="0">
                          <a:effectLst/>
                        </a:rPr>
                        <a:t>Very high (temporal accuracy emphasized)</a:t>
                      </a:r>
                      <a:endParaRPr lang="en-US" sz="1200" b="0" i="0" u="none" strike="noStrike" dirty="0">
                        <a:solidFill>
                          <a:srgbClr val="000000"/>
                        </a:solidFill>
                        <a:effectLst/>
                        <a:latin typeface="Aptos Narrow" panose="020B0004020202020204" pitchFamily="34" charset="0"/>
                      </a:endParaRPr>
                    </a:p>
                  </a:txBody>
                  <a:tcPr marL="2514" marR="2514" marT="2514" marB="0" anchor="ctr"/>
                </a:tc>
                <a:tc>
                  <a:txBody>
                    <a:bodyPr/>
                    <a:lstStyle/>
                    <a:p>
                      <a:pPr algn="l" fontAlgn="ctr">
                        <a:buNone/>
                      </a:pPr>
                      <a:r>
                        <a:rPr lang="en-US" sz="1200" u="none" strike="noStrike" dirty="0">
                          <a:effectLst/>
                        </a:rPr>
                        <a:t>Medium</a:t>
                      </a:r>
                      <a:endParaRPr lang="en-US" sz="1200" b="0" i="0" u="none" strike="noStrike" dirty="0">
                        <a:solidFill>
                          <a:srgbClr val="000000"/>
                        </a:solidFill>
                        <a:effectLst/>
                        <a:latin typeface="Aptos Narrow" panose="020B0004020202020204" pitchFamily="34" charset="0"/>
                      </a:endParaRPr>
                    </a:p>
                  </a:txBody>
                  <a:tcPr marL="2514" marR="2514" marT="2514" marB="0" anchor="ctr"/>
                </a:tc>
                <a:extLst>
                  <a:ext uri="{0D108BD9-81ED-4DB2-BD59-A6C34878D82A}">
                    <a16:rowId xmlns:a16="http://schemas.microsoft.com/office/drawing/2014/main" val="4082322263"/>
                  </a:ext>
                </a:extLst>
              </a:tr>
              <a:tr h="345890">
                <a:tc>
                  <a:txBody>
                    <a:bodyPr/>
                    <a:lstStyle/>
                    <a:p>
                      <a:pPr algn="l" fontAlgn="ctr">
                        <a:buNone/>
                      </a:pPr>
                      <a:r>
                        <a:rPr lang="en-US" sz="1200" b="1" u="none" strike="noStrike" dirty="0">
                          <a:effectLst/>
                        </a:rPr>
                        <a:t>Privacy model</a:t>
                      </a:r>
                      <a:endParaRPr lang="en-US" sz="1200" b="1" i="0" u="none" strike="noStrike" dirty="0">
                        <a:solidFill>
                          <a:srgbClr val="000000"/>
                        </a:solidFill>
                        <a:effectLst/>
                        <a:latin typeface="Aptos Narrow" panose="020B0004020202020204" pitchFamily="34" charset="0"/>
                      </a:endParaRPr>
                    </a:p>
                  </a:txBody>
                  <a:tcPr marL="2514" marR="2514" marT="2514" marB="0" anchor="ctr">
                    <a:solidFill>
                      <a:schemeClr val="accent5">
                        <a:lumMod val="20000"/>
                        <a:lumOff val="80000"/>
                      </a:schemeClr>
                    </a:solidFill>
                  </a:tcPr>
                </a:tc>
                <a:tc>
                  <a:txBody>
                    <a:bodyPr/>
                    <a:lstStyle/>
                    <a:p>
                      <a:pPr algn="l" fontAlgn="ctr">
                        <a:buNone/>
                      </a:pPr>
                      <a:r>
                        <a:rPr lang="en-US" sz="1200" u="none" strike="noStrike" dirty="0">
                          <a:effectLst/>
                        </a:rPr>
                        <a:t>Dynamic (over-inference, modality leakage)</a:t>
                      </a:r>
                      <a:endParaRPr lang="en-US" sz="1200" b="0" i="0" u="none" strike="noStrike" dirty="0">
                        <a:solidFill>
                          <a:srgbClr val="000000"/>
                        </a:solidFill>
                        <a:effectLst/>
                        <a:latin typeface="Aptos Narrow" panose="020B0004020202020204" pitchFamily="34" charset="0"/>
                      </a:endParaRPr>
                    </a:p>
                  </a:txBody>
                  <a:tcPr marL="2514" marR="2514" marT="2514" marB="0" anchor="ctr"/>
                </a:tc>
                <a:tc>
                  <a:txBody>
                    <a:bodyPr/>
                    <a:lstStyle/>
                    <a:p>
                      <a:pPr algn="l" fontAlgn="ctr">
                        <a:buNone/>
                      </a:pPr>
                      <a:r>
                        <a:rPr lang="en-US" sz="1200" u="none" strike="noStrike" dirty="0">
                          <a:effectLst/>
                        </a:rPr>
                        <a:t>Static (PII, consent, minimization)</a:t>
                      </a:r>
                      <a:endParaRPr lang="en-US" sz="1200" b="0" i="0" u="none" strike="noStrike" dirty="0">
                        <a:solidFill>
                          <a:srgbClr val="000000"/>
                        </a:solidFill>
                        <a:effectLst/>
                        <a:latin typeface="Aptos Narrow" panose="020B0004020202020204" pitchFamily="34" charset="0"/>
                      </a:endParaRPr>
                    </a:p>
                  </a:txBody>
                  <a:tcPr marL="2514" marR="2514" marT="2514" marB="0" anchor="ctr"/>
                </a:tc>
                <a:extLst>
                  <a:ext uri="{0D108BD9-81ED-4DB2-BD59-A6C34878D82A}">
                    <a16:rowId xmlns:a16="http://schemas.microsoft.com/office/drawing/2014/main" val="47897664"/>
                  </a:ext>
                </a:extLst>
              </a:tr>
              <a:tr h="345890">
                <a:tc>
                  <a:txBody>
                    <a:bodyPr/>
                    <a:lstStyle/>
                    <a:p>
                      <a:pPr algn="l" fontAlgn="ctr">
                        <a:buNone/>
                      </a:pPr>
                      <a:r>
                        <a:rPr lang="en-US" sz="1200" b="1" u="none" strike="noStrike">
                          <a:effectLst/>
                        </a:rPr>
                        <a:t>Responsible AI framing</a:t>
                      </a:r>
                      <a:endParaRPr lang="en-US" sz="1200" b="1" i="0" u="none" strike="noStrike">
                        <a:solidFill>
                          <a:srgbClr val="000000"/>
                        </a:solidFill>
                        <a:effectLst/>
                        <a:latin typeface="Aptos Narrow" panose="020B0004020202020204" pitchFamily="34" charset="0"/>
                      </a:endParaRPr>
                    </a:p>
                  </a:txBody>
                  <a:tcPr marL="2514" marR="2514" marT="2514" marB="0" anchor="ctr">
                    <a:solidFill>
                      <a:schemeClr val="accent5">
                        <a:lumMod val="20000"/>
                        <a:lumOff val="80000"/>
                      </a:schemeClr>
                    </a:solidFill>
                  </a:tcPr>
                </a:tc>
                <a:tc>
                  <a:txBody>
                    <a:bodyPr/>
                    <a:lstStyle/>
                    <a:p>
                      <a:pPr algn="l" fontAlgn="ctr">
                        <a:buNone/>
                      </a:pPr>
                      <a:r>
                        <a:rPr lang="en-US" sz="1200" u="none" strike="noStrike" dirty="0">
                          <a:effectLst/>
                        </a:rPr>
                        <a:t>Embedded throughout metrics</a:t>
                      </a:r>
                      <a:endParaRPr lang="en-US" sz="1200" b="0" i="0" u="none" strike="noStrike" dirty="0">
                        <a:solidFill>
                          <a:srgbClr val="000000"/>
                        </a:solidFill>
                        <a:effectLst/>
                        <a:latin typeface="Aptos Narrow" panose="020B0004020202020204" pitchFamily="34" charset="0"/>
                      </a:endParaRPr>
                    </a:p>
                  </a:txBody>
                  <a:tcPr marL="2514" marR="2514" marT="2514" marB="0" anchor="ctr"/>
                </a:tc>
                <a:tc>
                  <a:txBody>
                    <a:bodyPr/>
                    <a:lstStyle/>
                    <a:p>
                      <a:pPr algn="l" fontAlgn="ctr">
                        <a:buNone/>
                      </a:pPr>
                      <a:r>
                        <a:rPr lang="en-US" sz="1200" u="none" strike="noStrike" dirty="0">
                          <a:effectLst/>
                        </a:rPr>
                        <a:t>Checklist-driven</a:t>
                      </a:r>
                      <a:endParaRPr lang="en-US" sz="1200" b="0" i="0" u="none" strike="noStrike" dirty="0">
                        <a:solidFill>
                          <a:srgbClr val="000000"/>
                        </a:solidFill>
                        <a:effectLst/>
                        <a:latin typeface="Aptos Narrow" panose="020B0004020202020204" pitchFamily="34" charset="0"/>
                      </a:endParaRPr>
                    </a:p>
                  </a:txBody>
                  <a:tcPr marL="2514" marR="2514" marT="2514" marB="0" anchor="ctr"/>
                </a:tc>
                <a:extLst>
                  <a:ext uri="{0D108BD9-81ED-4DB2-BD59-A6C34878D82A}">
                    <a16:rowId xmlns:a16="http://schemas.microsoft.com/office/drawing/2014/main" val="1398405582"/>
                  </a:ext>
                </a:extLst>
              </a:tr>
              <a:tr h="345890">
                <a:tc>
                  <a:txBody>
                    <a:bodyPr/>
                    <a:lstStyle/>
                    <a:p>
                      <a:pPr algn="l" fontAlgn="ctr">
                        <a:buNone/>
                      </a:pPr>
                      <a:r>
                        <a:rPr lang="en-US" sz="1200" b="1" u="none" strike="noStrike">
                          <a:effectLst/>
                        </a:rPr>
                        <a:t>Metric count</a:t>
                      </a:r>
                      <a:endParaRPr lang="en-US" sz="1200" b="1" i="0" u="none" strike="noStrike">
                        <a:solidFill>
                          <a:srgbClr val="000000"/>
                        </a:solidFill>
                        <a:effectLst/>
                        <a:latin typeface="Aptos Narrow" panose="020B0004020202020204" pitchFamily="34" charset="0"/>
                      </a:endParaRPr>
                    </a:p>
                  </a:txBody>
                  <a:tcPr marL="2514" marR="2514" marT="2514" marB="0" anchor="ctr">
                    <a:solidFill>
                      <a:schemeClr val="accent5">
                        <a:lumMod val="20000"/>
                        <a:lumOff val="80000"/>
                      </a:schemeClr>
                    </a:solidFill>
                  </a:tcPr>
                </a:tc>
                <a:tc>
                  <a:txBody>
                    <a:bodyPr/>
                    <a:lstStyle/>
                    <a:p>
                      <a:pPr algn="l" fontAlgn="ctr">
                        <a:buNone/>
                      </a:pPr>
                      <a:r>
                        <a:rPr lang="en-US" sz="1200" u="none" strike="noStrike" dirty="0">
                          <a:effectLst/>
                        </a:rPr>
                        <a:t>Very high (≈20+ primary metrics)</a:t>
                      </a:r>
                      <a:endParaRPr lang="en-US" sz="1200" b="0" i="0" u="none" strike="noStrike" dirty="0">
                        <a:solidFill>
                          <a:srgbClr val="000000"/>
                        </a:solidFill>
                        <a:effectLst/>
                        <a:latin typeface="Aptos Narrow" panose="020B0004020202020204" pitchFamily="34" charset="0"/>
                      </a:endParaRPr>
                    </a:p>
                  </a:txBody>
                  <a:tcPr marL="2514" marR="2514" marT="2514" marB="0" anchor="ctr"/>
                </a:tc>
                <a:tc>
                  <a:txBody>
                    <a:bodyPr/>
                    <a:lstStyle/>
                    <a:p>
                      <a:pPr algn="l" fontAlgn="ctr">
                        <a:buNone/>
                      </a:pPr>
                      <a:r>
                        <a:rPr lang="en-US" sz="1200" u="none" strike="noStrike" dirty="0">
                          <a:effectLst/>
                        </a:rPr>
                        <a:t>Moderate</a:t>
                      </a:r>
                      <a:endParaRPr lang="en-US" sz="1200" b="0" i="0" u="none" strike="noStrike" dirty="0">
                        <a:solidFill>
                          <a:srgbClr val="000000"/>
                        </a:solidFill>
                        <a:effectLst/>
                        <a:latin typeface="Aptos Narrow" panose="020B0004020202020204" pitchFamily="34" charset="0"/>
                      </a:endParaRPr>
                    </a:p>
                  </a:txBody>
                  <a:tcPr marL="2514" marR="2514" marT="2514" marB="0" anchor="ctr"/>
                </a:tc>
                <a:extLst>
                  <a:ext uri="{0D108BD9-81ED-4DB2-BD59-A6C34878D82A}">
                    <a16:rowId xmlns:a16="http://schemas.microsoft.com/office/drawing/2014/main" val="659482596"/>
                  </a:ext>
                </a:extLst>
              </a:tr>
              <a:tr h="345890">
                <a:tc>
                  <a:txBody>
                    <a:bodyPr/>
                    <a:lstStyle/>
                    <a:p>
                      <a:pPr algn="l" fontAlgn="ctr">
                        <a:buNone/>
                      </a:pPr>
                      <a:r>
                        <a:rPr lang="en-US" sz="1200" b="1" u="none" strike="noStrike" dirty="0">
                          <a:effectLst/>
                        </a:rPr>
                        <a:t>Scoring granularity</a:t>
                      </a:r>
                      <a:endParaRPr lang="en-US" sz="1200" b="1" i="0" u="none" strike="noStrike" dirty="0">
                        <a:solidFill>
                          <a:srgbClr val="000000"/>
                        </a:solidFill>
                        <a:effectLst/>
                        <a:latin typeface="Aptos Narrow" panose="020B0004020202020204" pitchFamily="34" charset="0"/>
                      </a:endParaRPr>
                    </a:p>
                  </a:txBody>
                  <a:tcPr marL="2514" marR="2514" marT="2514" marB="0" anchor="ctr">
                    <a:solidFill>
                      <a:schemeClr val="accent5">
                        <a:lumMod val="20000"/>
                        <a:lumOff val="80000"/>
                      </a:schemeClr>
                    </a:solidFill>
                  </a:tcPr>
                </a:tc>
                <a:tc>
                  <a:txBody>
                    <a:bodyPr/>
                    <a:lstStyle/>
                    <a:p>
                      <a:pPr algn="l" fontAlgn="ctr">
                        <a:buNone/>
                      </a:pPr>
                      <a:r>
                        <a:rPr lang="en-US" sz="1200" u="none" strike="noStrike">
                          <a:effectLst/>
                        </a:rPr>
                        <a:t>Fine-grained, weighted</a:t>
                      </a:r>
                      <a:endParaRPr lang="en-US" sz="1200" b="0" i="0" u="none" strike="noStrike">
                        <a:solidFill>
                          <a:srgbClr val="000000"/>
                        </a:solidFill>
                        <a:effectLst/>
                        <a:latin typeface="Aptos Narrow" panose="020B0004020202020204" pitchFamily="34" charset="0"/>
                      </a:endParaRPr>
                    </a:p>
                  </a:txBody>
                  <a:tcPr marL="2514" marR="2514" marT="2514" marB="0" anchor="ctr"/>
                </a:tc>
                <a:tc>
                  <a:txBody>
                    <a:bodyPr/>
                    <a:lstStyle/>
                    <a:p>
                      <a:pPr algn="l" fontAlgn="ctr">
                        <a:buNone/>
                      </a:pPr>
                      <a:r>
                        <a:rPr lang="en-US" sz="1200" u="none" strike="noStrike" dirty="0">
                          <a:effectLst/>
                        </a:rPr>
                        <a:t>Coarser, simpler</a:t>
                      </a:r>
                      <a:endParaRPr lang="en-US" sz="1200" b="0" i="0" u="none" strike="noStrike" dirty="0">
                        <a:solidFill>
                          <a:srgbClr val="000000"/>
                        </a:solidFill>
                        <a:effectLst/>
                        <a:latin typeface="Aptos Narrow" panose="020B0004020202020204" pitchFamily="34" charset="0"/>
                      </a:endParaRPr>
                    </a:p>
                  </a:txBody>
                  <a:tcPr marL="2514" marR="2514" marT="2514" marB="0" anchor="ctr"/>
                </a:tc>
                <a:extLst>
                  <a:ext uri="{0D108BD9-81ED-4DB2-BD59-A6C34878D82A}">
                    <a16:rowId xmlns:a16="http://schemas.microsoft.com/office/drawing/2014/main" val="2074063651"/>
                  </a:ext>
                </a:extLst>
              </a:tr>
              <a:tr h="345890">
                <a:tc>
                  <a:txBody>
                    <a:bodyPr/>
                    <a:lstStyle/>
                    <a:p>
                      <a:pPr algn="l" fontAlgn="ctr">
                        <a:buNone/>
                      </a:pPr>
                      <a:r>
                        <a:rPr lang="en-US" sz="1200" b="1" u="none" strike="noStrike">
                          <a:effectLst/>
                        </a:rPr>
                        <a:t>Evaluator cognitive load</a:t>
                      </a:r>
                      <a:endParaRPr lang="en-US" sz="1200" b="1" i="0" u="none" strike="noStrike">
                        <a:solidFill>
                          <a:srgbClr val="000000"/>
                        </a:solidFill>
                        <a:effectLst/>
                        <a:latin typeface="Aptos Narrow" panose="020B0004020202020204" pitchFamily="34" charset="0"/>
                      </a:endParaRPr>
                    </a:p>
                  </a:txBody>
                  <a:tcPr marL="2514" marR="2514" marT="2514" marB="0" anchor="ctr">
                    <a:solidFill>
                      <a:schemeClr val="accent5">
                        <a:lumMod val="20000"/>
                        <a:lumOff val="80000"/>
                      </a:schemeClr>
                    </a:solidFill>
                  </a:tcPr>
                </a:tc>
                <a:tc>
                  <a:txBody>
                    <a:bodyPr/>
                    <a:lstStyle/>
                    <a:p>
                      <a:pPr algn="l" fontAlgn="ctr">
                        <a:buNone/>
                      </a:pPr>
                      <a:r>
                        <a:rPr lang="en-US" sz="1200" u="none" strike="noStrike" dirty="0">
                          <a:effectLst/>
                        </a:rPr>
                        <a:t>High</a:t>
                      </a:r>
                      <a:endParaRPr lang="en-US" sz="1200" b="0" i="0" u="none" strike="noStrike" dirty="0">
                        <a:solidFill>
                          <a:srgbClr val="000000"/>
                        </a:solidFill>
                        <a:effectLst/>
                        <a:latin typeface="Aptos Narrow" panose="020B0004020202020204" pitchFamily="34" charset="0"/>
                      </a:endParaRPr>
                    </a:p>
                  </a:txBody>
                  <a:tcPr marL="2514" marR="2514" marT="2514" marB="0" anchor="ctr"/>
                </a:tc>
                <a:tc>
                  <a:txBody>
                    <a:bodyPr/>
                    <a:lstStyle/>
                    <a:p>
                      <a:pPr algn="l" fontAlgn="ctr">
                        <a:buNone/>
                      </a:pPr>
                      <a:r>
                        <a:rPr lang="en-US" sz="1200" u="none" strike="noStrike" dirty="0">
                          <a:effectLst/>
                        </a:rPr>
                        <a:t>Low–medium</a:t>
                      </a:r>
                      <a:endParaRPr lang="en-US" sz="1200" b="0" i="0" u="none" strike="noStrike" dirty="0">
                        <a:solidFill>
                          <a:srgbClr val="000000"/>
                        </a:solidFill>
                        <a:effectLst/>
                        <a:latin typeface="Aptos Narrow" panose="020B0004020202020204" pitchFamily="34" charset="0"/>
                      </a:endParaRPr>
                    </a:p>
                  </a:txBody>
                  <a:tcPr marL="2514" marR="2514" marT="2514" marB="0" anchor="ctr"/>
                </a:tc>
                <a:extLst>
                  <a:ext uri="{0D108BD9-81ED-4DB2-BD59-A6C34878D82A}">
                    <a16:rowId xmlns:a16="http://schemas.microsoft.com/office/drawing/2014/main" val="1317419203"/>
                  </a:ext>
                </a:extLst>
              </a:tr>
              <a:tr h="345890">
                <a:tc>
                  <a:txBody>
                    <a:bodyPr/>
                    <a:lstStyle/>
                    <a:p>
                      <a:pPr algn="l" fontAlgn="ctr">
                        <a:buNone/>
                      </a:pPr>
                      <a:r>
                        <a:rPr lang="en-US" sz="1200" b="1" u="none" strike="noStrike" dirty="0">
                          <a:effectLst/>
                        </a:rPr>
                        <a:t>Automation readiness</a:t>
                      </a:r>
                      <a:endParaRPr lang="en-US" sz="1200" b="1" i="0" u="none" strike="noStrike" dirty="0">
                        <a:solidFill>
                          <a:srgbClr val="000000"/>
                        </a:solidFill>
                        <a:effectLst/>
                        <a:latin typeface="Aptos Narrow" panose="020B0004020202020204" pitchFamily="34" charset="0"/>
                      </a:endParaRPr>
                    </a:p>
                  </a:txBody>
                  <a:tcPr marL="2514" marR="2514" marT="2514" marB="0" anchor="ctr">
                    <a:solidFill>
                      <a:schemeClr val="accent5">
                        <a:lumMod val="20000"/>
                        <a:lumOff val="80000"/>
                      </a:schemeClr>
                    </a:solidFill>
                  </a:tcPr>
                </a:tc>
                <a:tc>
                  <a:txBody>
                    <a:bodyPr/>
                    <a:lstStyle/>
                    <a:p>
                      <a:pPr algn="l" fontAlgn="ctr">
                        <a:buNone/>
                      </a:pPr>
                      <a:r>
                        <a:rPr lang="en-US" sz="1200" u="none" strike="noStrike" dirty="0">
                          <a:effectLst/>
                        </a:rPr>
                        <a:t>Medium</a:t>
                      </a:r>
                      <a:endParaRPr lang="en-US" sz="1200" b="0" i="0" u="none" strike="noStrike" dirty="0">
                        <a:solidFill>
                          <a:srgbClr val="000000"/>
                        </a:solidFill>
                        <a:effectLst/>
                        <a:latin typeface="Aptos Narrow" panose="020B0004020202020204" pitchFamily="34" charset="0"/>
                      </a:endParaRPr>
                    </a:p>
                  </a:txBody>
                  <a:tcPr marL="2514" marR="2514" marT="2514" marB="0" anchor="ctr"/>
                </a:tc>
                <a:tc>
                  <a:txBody>
                    <a:bodyPr/>
                    <a:lstStyle/>
                    <a:p>
                      <a:pPr algn="l" fontAlgn="ctr">
                        <a:buNone/>
                      </a:pPr>
                      <a:r>
                        <a:rPr lang="en-US" sz="1200" u="none" strike="noStrike" dirty="0">
                          <a:effectLst/>
                        </a:rPr>
                        <a:t>High</a:t>
                      </a:r>
                      <a:endParaRPr lang="en-US" sz="1200" b="0" i="0" u="none" strike="noStrike" dirty="0">
                        <a:solidFill>
                          <a:srgbClr val="000000"/>
                        </a:solidFill>
                        <a:effectLst/>
                        <a:latin typeface="Aptos Narrow" panose="020B0004020202020204" pitchFamily="34" charset="0"/>
                      </a:endParaRPr>
                    </a:p>
                  </a:txBody>
                  <a:tcPr marL="2514" marR="2514" marT="2514" marB="0" anchor="ctr"/>
                </a:tc>
                <a:extLst>
                  <a:ext uri="{0D108BD9-81ED-4DB2-BD59-A6C34878D82A}">
                    <a16:rowId xmlns:a16="http://schemas.microsoft.com/office/drawing/2014/main" val="1516838616"/>
                  </a:ext>
                </a:extLst>
              </a:tr>
              <a:tr h="345890">
                <a:tc>
                  <a:txBody>
                    <a:bodyPr/>
                    <a:lstStyle/>
                    <a:p>
                      <a:pPr algn="l" fontAlgn="ctr">
                        <a:buNone/>
                      </a:pPr>
                      <a:r>
                        <a:rPr lang="en-US" sz="1200" b="1" u="none" strike="noStrike" dirty="0">
                          <a:effectLst/>
                        </a:rPr>
                        <a:t>Best suited for</a:t>
                      </a:r>
                      <a:endParaRPr lang="en-US" sz="1200" b="1" i="0" u="none" strike="noStrike" dirty="0">
                        <a:solidFill>
                          <a:srgbClr val="000000"/>
                        </a:solidFill>
                        <a:effectLst/>
                        <a:latin typeface="Aptos Narrow" panose="020B0004020202020204" pitchFamily="34" charset="0"/>
                      </a:endParaRPr>
                    </a:p>
                  </a:txBody>
                  <a:tcPr marL="2514" marR="2514" marT="2514" marB="0" anchor="ctr">
                    <a:solidFill>
                      <a:schemeClr val="accent5">
                        <a:lumMod val="20000"/>
                        <a:lumOff val="80000"/>
                      </a:schemeClr>
                    </a:solidFill>
                  </a:tcPr>
                </a:tc>
                <a:tc>
                  <a:txBody>
                    <a:bodyPr/>
                    <a:lstStyle/>
                    <a:p>
                      <a:pPr algn="l" fontAlgn="ctr">
                        <a:buNone/>
                      </a:pPr>
                      <a:r>
                        <a:rPr lang="en-US" sz="1200" u="none" strike="noStrike" dirty="0">
                          <a:effectLst/>
                        </a:rPr>
                        <a:t>Research, red-teaming, pre-launch deep dives</a:t>
                      </a:r>
                      <a:endParaRPr lang="en-US" sz="1200" b="0" i="0" u="none" strike="noStrike" dirty="0">
                        <a:solidFill>
                          <a:srgbClr val="000000"/>
                        </a:solidFill>
                        <a:effectLst/>
                        <a:latin typeface="Aptos Narrow" panose="020B0004020202020204" pitchFamily="34" charset="0"/>
                      </a:endParaRPr>
                    </a:p>
                  </a:txBody>
                  <a:tcPr marL="2514" marR="2514" marT="2514" marB="0" anchor="ctr"/>
                </a:tc>
                <a:tc>
                  <a:txBody>
                    <a:bodyPr/>
                    <a:lstStyle/>
                    <a:p>
                      <a:pPr algn="l" fontAlgn="ctr">
                        <a:buNone/>
                      </a:pPr>
                      <a:r>
                        <a:rPr lang="fr-FR" sz="1200" u="none" strike="noStrike" dirty="0">
                          <a:effectLst/>
                        </a:rPr>
                        <a:t>Production QA, compliance, large-</a:t>
                      </a:r>
                      <a:r>
                        <a:rPr lang="fr-FR" sz="1200" u="none" strike="noStrike" dirty="0" err="1">
                          <a:effectLst/>
                        </a:rPr>
                        <a:t>scale</a:t>
                      </a:r>
                      <a:r>
                        <a:rPr lang="fr-FR" sz="1200" u="none" strike="noStrike" dirty="0">
                          <a:effectLst/>
                        </a:rPr>
                        <a:t> </a:t>
                      </a:r>
                      <a:r>
                        <a:rPr lang="fr-FR" sz="1200" u="none" strike="noStrike" dirty="0" err="1">
                          <a:effectLst/>
                        </a:rPr>
                        <a:t>evals</a:t>
                      </a:r>
                      <a:endParaRPr lang="fr-FR" sz="1200" b="0" i="0" u="none" strike="noStrike" dirty="0">
                        <a:solidFill>
                          <a:srgbClr val="000000"/>
                        </a:solidFill>
                        <a:effectLst/>
                        <a:latin typeface="Aptos Narrow" panose="020B0004020202020204" pitchFamily="34" charset="0"/>
                      </a:endParaRPr>
                    </a:p>
                  </a:txBody>
                  <a:tcPr marL="2514" marR="2514" marT="2514" marB="0" anchor="ctr"/>
                </a:tc>
                <a:extLst>
                  <a:ext uri="{0D108BD9-81ED-4DB2-BD59-A6C34878D82A}">
                    <a16:rowId xmlns:a16="http://schemas.microsoft.com/office/drawing/2014/main" val="1017146831"/>
                  </a:ext>
                </a:extLst>
              </a:tr>
              <a:tr h="345890">
                <a:tc>
                  <a:txBody>
                    <a:bodyPr/>
                    <a:lstStyle/>
                    <a:p>
                      <a:pPr algn="l" fontAlgn="ctr">
                        <a:buNone/>
                      </a:pPr>
                      <a:r>
                        <a:rPr lang="en-US" sz="1200" b="1" u="none" strike="noStrike" dirty="0">
                          <a:effectLst/>
                        </a:rPr>
                        <a:t>Core strength</a:t>
                      </a:r>
                      <a:endParaRPr lang="en-US" sz="1200" b="1" i="0" u="none" strike="noStrike" dirty="0">
                        <a:solidFill>
                          <a:srgbClr val="000000"/>
                        </a:solidFill>
                        <a:effectLst/>
                        <a:latin typeface="Aptos Narrow" panose="020B0004020202020204" pitchFamily="34" charset="0"/>
                      </a:endParaRPr>
                    </a:p>
                  </a:txBody>
                  <a:tcPr marL="2514" marR="2514" marT="2514" marB="0" anchor="ctr">
                    <a:solidFill>
                      <a:schemeClr val="accent5">
                        <a:lumMod val="20000"/>
                        <a:lumOff val="80000"/>
                      </a:schemeClr>
                    </a:solidFill>
                  </a:tcPr>
                </a:tc>
                <a:tc>
                  <a:txBody>
                    <a:bodyPr/>
                    <a:lstStyle/>
                    <a:p>
                      <a:pPr algn="l" fontAlgn="ctr">
                        <a:buNone/>
                      </a:pPr>
                      <a:r>
                        <a:rPr lang="en-US" sz="1200" u="none" strike="noStrike" dirty="0">
                          <a:effectLst/>
                        </a:rPr>
                        <a:t>Insight, coverage, agent failure detection</a:t>
                      </a:r>
                      <a:endParaRPr lang="en-US" sz="1200" b="1" i="0" u="none" strike="noStrike" dirty="0">
                        <a:solidFill>
                          <a:srgbClr val="000000"/>
                        </a:solidFill>
                        <a:effectLst/>
                        <a:latin typeface="Aptos Narrow" panose="020B0004020202020204" pitchFamily="34" charset="0"/>
                      </a:endParaRPr>
                    </a:p>
                  </a:txBody>
                  <a:tcPr marL="2514" marR="2514" marT="2514" marB="0" anchor="ctr"/>
                </a:tc>
                <a:tc>
                  <a:txBody>
                    <a:bodyPr/>
                    <a:lstStyle/>
                    <a:p>
                      <a:pPr algn="l" fontAlgn="ctr">
                        <a:buNone/>
                      </a:pPr>
                      <a:r>
                        <a:rPr lang="en-US" sz="1200" u="none" strike="noStrike" dirty="0">
                          <a:effectLst/>
                        </a:rPr>
                        <a:t>Stability, consistency, operational clarity</a:t>
                      </a:r>
                      <a:endParaRPr lang="en-US" sz="1200" b="1" i="0" u="none" strike="noStrike" dirty="0">
                        <a:solidFill>
                          <a:srgbClr val="000000"/>
                        </a:solidFill>
                        <a:effectLst/>
                        <a:latin typeface="Aptos Narrow" panose="020B0004020202020204" pitchFamily="34" charset="0"/>
                      </a:endParaRPr>
                    </a:p>
                  </a:txBody>
                  <a:tcPr marL="2514" marR="2514" marT="2514" marB="0" anchor="ctr"/>
                </a:tc>
                <a:extLst>
                  <a:ext uri="{0D108BD9-81ED-4DB2-BD59-A6C34878D82A}">
                    <a16:rowId xmlns:a16="http://schemas.microsoft.com/office/drawing/2014/main" val="833706603"/>
                  </a:ext>
                </a:extLst>
              </a:tr>
              <a:tr h="345890">
                <a:tc>
                  <a:txBody>
                    <a:bodyPr/>
                    <a:lstStyle/>
                    <a:p>
                      <a:pPr algn="l" fontAlgn="ctr">
                        <a:buNone/>
                      </a:pPr>
                      <a:r>
                        <a:rPr lang="en-US" sz="1200" b="1" u="none" strike="noStrike" dirty="0">
                          <a:effectLst/>
                        </a:rPr>
                        <a:t>Core limitation</a:t>
                      </a:r>
                      <a:endParaRPr lang="en-US" sz="1200" b="1" i="0" u="none" strike="noStrike" dirty="0">
                        <a:solidFill>
                          <a:srgbClr val="000000"/>
                        </a:solidFill>
                        <a:effectLst/>
                        <a:latin typeface="Aptos Narrow" panose="020B0004020202020204" pitchFamily="34" charset="0"/>
                      </a:endParaRPr>
                    </a:p>
                  </a:txBody>
                  <a:tcPr marL="2514" marR="2514" marT="2514" marB="0" anchor="ctr">
                    <a:solidFill>
                      <a:schemeClr val="accent5">
                        <a:lumMod val="20000"/>
                        <a:lumOff val="80000"/>
                      </a:schemeClr>
                    </a:solidFill>
                  </a:tcPr>
                </a:tc>
                <a:tc>
                  <a:txBody>
                    <a:bodyPr/>
                    <a:lstStyle/>
                    <a:p>
                      <a:pPr algn="l" fontAlgn="ctr">
                        <a:buNone/>
                      </a:pPr>
                      <a:r>
                        <a:rPr lang="en-US" sz="1200" u="none" strike="noStrike">
                          <a:effectLst/>
                        </a:rPr>
                        <a:t>Complexity, evaluator fatigue</a:t>
                      </a:r>
                      <a:endParaRPr lang="en-US" sz="1200" b="0" i="0" u="none" strike="noStrike">
                        <a:solidFill>
                          <a:srgbClr val="000000"/>
                        </a:solidFill>
                        <a:effectLst/>
                        <a:latin typeface="Aptos Narrow" panose="020B0004020202020204" pitchFamily="34" charset="0"/>
                      </a:endParaRPr>
                    </a:p>
                  </a:txBody>
                  <a:tcPr marL="2514" marR="2514" marT="2514" marB="0" anchor="ctr"/>
                </a:tc>
                <a:tc>
                  <a:txBody>
                    <a:bodyPr/>
                    <a:lstStyle/>
                    <a:p>
                      <a:pPr algn="l" fontAlgn="ctr">
                        <a:buNone/>
                      </a:pPr>
                      <a:r>
                        <a:rPr lang="en-US" sz="1200" u="none" strike="noStrike" dirty="0">
                          <a:effectLst/>
                        </a:rPr>
                        <a:t>Blind spots for agentic failures</a:t>
                      </a:r>
                      <a:endParaRPr lang="en-US" sz="1200" b="0" i="0" u="none" strike="noStrike" dirty="0">
                        <a:solidFill>
                          <a:srgbClr val="000000"/>
                        </a:solidFill>
                        <a:effectLst/>
                        <a:latin typeface="Aptos Narrow" panose="020B0004020202020204" pitchFamily="34" charset="0"/>
                      </a:endParaRPr>
                    </a:p>
                  </a:txBody>
                  <a:tcPr marL="2514" marR="2514" marT="2514" marB="0" anchor="ctr"/>
                </a:tc>
                <a:extLst>
                  <a:ext uri="{0D108BD9-81ED-4DB2-BD59-A6C34878D82A}">
                    <a16:rowId xmlns:a16="http://schemas.microsoft.com/office/drawing/2014/main" val="2576498305"/>
                  </a:ext>
                </a:extLst>
              </a:tr>
              <a:tr h="345890">
                <a:tc>
                  <a:txBody>
                    <a:bodyPr/>
                    <a:lstStyle/>
                    <a:p>
                      <a:pPr algn="l" fontAlgn="ctr">
                        <a:buNone/>
                      </a:pPr>
                      <a:r>
                        <a:rPr lang="en-US" sz="1200" b="1" u="none" strike="noStrike" dirty="0">
                          <a:effectLst/>
                        </a:rPr>
                        <a:t>Bottom-line role</a:t>
                      </a:r>
                      <a:endParaRPr lang="en-US" sz="1200" b="1" i="0" u="none" strike="noStrike" dirty="0">
                        <a:solidFill>
                          <a:srgbClr val="000000"/>
                        </a:solidFill>
                        <a:effectLst/>
                        <a:latin typeface="Aptos Narrow" panose="020B0004020202020204" pitchFamily="34" charset="0"/>
                      </a:endParaRPr>
                    </a:p>
                  </a:txBody>
                  <a:tcPr marL="2514" marR="2514" marT="2514" marB="0" anchor="ctr">
                    <a:solidFill>
                      <a:schemeClr val="accent5">
                        <a:lumMod val="20000"/>
                        <a:lumOff val="80000"/>
                      </a:schemeClr>
                    </a:solidFill>
                  </a:tcPr>
                </a:tc>
                <a:tc>
                  <a:txBody>
                    <a:bodyPr/>
                    <a:lstStyle/>
                    <a:p>
                      <a:pPr algn="l" fontAlgn="ctr">
                        <a:buNone/>
                      </a:pPr>
                      <a:r>
                        <a:rPr lang="en-US" sz="1200" u="none" strike="noStrike">
                          <a:effectLst/>
                        </a:rPr>
                        <a:t>Improves the system</a:t>
                      </a:r>
                      <a:endParaRPr lang="en-US" sz="1200" b="0" i="0" u="none" strike="noStrike">
                        <a:solidFill>
                          <a:srgbClr val="000000"/>
                        </a:solidFill>
                        <a:effectLst/>
                        <a:latin typeface="Aptos Narrow" panose="020B0004020202020204" pitchFamily="34" charset="0"/>
                      </a:endParaRPr>
                    </a:p>
                  </a:txBody>
                  <a:tcPr marL="2514" marR="2514" marT="2514" marB="0" anchor="ctr"/>
                </a:tc>
                <a:tc>
                  <a:txBody>
                    <a:bodyPr/>
                    <a:lstStyle/>
                    <a:p>
                      <a:pPr algn="l" fontAlgn="ctr">
                        <a:buNone/>
                      </a:pPr>
                      <a:r>
                        <a:rPr lang="en-US" sz="1200" u="none" strike="noStrike" dirty="0">
                          <a:effectLst/>
                        </a:rPr>
                        <a:t>Protects the system</a:t>
                      </a:r>
                      <a:endParaRPr lang="en-US" sz="1200" b="0" i="0" u="none" strike="noStrike" dirty="0">
                        <a:solidFill>
                          <a:srgbClr val="000000"/>
                        </a:solidFill>
                        <a:effectLst/>
                        <a:latin typeface="Aptos Narrow" panose="020B0004020202020204" pitchFamily="34" charset="0"/>
                      </a:endParaRPr>
                    </a:p>
                  </a:txBody>
                  <a:tcPr marL="2514" marR="2514" marT="2514" marB="0" anchor="ctr"/>
                </a:tc>
                <a:extLst>
                  <a:ext uri="{0D108BD9-81ED-4DB2-BD59-A6C34878D82A}">
                    <a16:rowId xmlns:a16="http://schemas.microsoft.com/office/drawing/2014/main" val="414334399"/>
                  </a:ext>
                </a:extLst>
              </a:tr>
            </a:tbl>
          </a:graphicData>
        </a:graphic>
      </p:graphicFrame>
      <p:sp>
        <p:nvSpPr>
          <p:cNvPr id="5" name="TextBox 4">
            <a:extLst>
              <a:ext uri="{FF2B5EF4-FFF2-40B4-BE49-F238E27FC236}">
                <a16:creationId xmlns:a16="http://schemas.microsoft.com/office/drawing/2014/main" id="{DE328666-80D2-BE1A-166D-D2515698AFA6}"/>
              </a:ext>
            </a:extLst>
          </p:cNvPr>
          <p:cNvSpPr txBox="1"/>
          <p:nvPr/>
        </p:nvSpPr>
        <p:spPr>
          <a:xfrm>
            <a:off x="2889565" y="6187454"/>
            <a:ext cx="2372008" cy="276999"/>
          </a:xfrm>
          <a:prstGeom prst="rect">
            <a:avLst/>
          </a:prstGeom>
          <a:noFill/>
        </p:spPr>
        <p:txBody>
          <a:bodyPr wrap="square" rtlCol="0">
            <a:spAutoFit/>
          </a:bodyPr>
          <a:lstStyle/>
          <a:p>
            <a:r>
              <a:rPr lang="en-US" sz="1200" dirty="0">
                <a:hlinkClick r:id="rId3"/>
              </a:rPr>
              <a:t>Sample Prompt</a:t>
            </a:r>
            <a:endParaRPr lang="en-US" sz="1200" dirty="0"/>
          </a:p>
        </p:txBody>
      </p:sp>
      <p:sp>
        <p:nvSpPr>
          <p:cNvPr id="6" name="TextBox 5">
            <a:extLst>
              <a:ext uri="{FF2B5EF4-FFF2-40B4-BE49-F238E27FC236}">
                <a16:creationId xmlns:a16="http://schemas.microsoft.com/office/drawing/2014/main" id="{E533E546-61D7-9716-E661-7D9398787D67}"/>
              </a:ext>
            </a:extLst>
          </p:cNvPr>
          <p:cNvSpPr txBox="1"/>
          <p:nvPr/>
        </p:nvSpPr>
        <p:spPr>
          <a:xfrm>
            <a:off x="6254436" y="6171775"/>
            <a:ext cx="2372008" cy="276999"/>
          </a:xfrm>
          <a:prstGeom prst="rect">
            <a:avLst/>
          </a:prstGeom>
          <a:noFill/>
        </p:spPr>
        <p:txBody>
          <a:bodyPr wrap="square" rtlCol="0">
            <a:spAutoFit/>
          </a:bodyPr>
          <a:lstStyle/>
          <a:p>
            <a:r>
              <a:rPr lang="en-US" sz="1200" dirty="0">
                <a:hlinkClick r:id="rId4"/>
              </a:rPr>
              <a:t>Sample Prompt</a:t>
            </a:r>
            <a:endParaRPr lang="en-US" sz="1200" dirty="0"/>
          </a:p>
        </p:txBody>
      </p:sp>
    </p:spTree>
    <p:extLst>
      <p:ext uri="{BB962C8B-B14F-4D97-AF65-F5344CB8AC3E}">
        <p14:creationId xmlns:p14="http://schemas.microsoft.com/office/powerpoint/2010/main" val="3944104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557188"/>
            <a:ext cx="7886700" cy="1133499"/>
          </a:xfrm>
        </p:spPr>
        <p:txBody>
          <a:bodyPr>
            <a:normAutofit/>
          </a:bodyPr>
          <a:lstStyle/>
          <a:p>
            <a:r>
              <a:rPr lang="en-US" sz="4500"/>
              <a:t>Responsible AI by Construction</a:t>
            </a:r>
          </a:p>
        </p:txBody>
      </p:sp>
      <p:graphicFrame>
        <p:nvGraphicFramePr>
          <p:cNvPr id="5" name="Content Placeholder 2">
            <a:extLst>
              <a:ext uri="{FF2B5EF4-FFF2-40B4-BE49-F238E27FC236}">
                <a16:creationId xmlns:a16="http://schemas.microsoft.com/office/drawing/2014/main" id="{4BD6603E-59D2-FA31-EC0A-3E3BDDAF9AD9}"/>
              </a:ext>
            </a:extLst>
          </p:cNvPr>
          <p:cNvGraphicFramePr>
            <a:graphicFrameLocks noGrp="1"/>
          </p:cNvGraphicFramePr>
          <p:nvPr>
            <p:ph idx="1"/>
            <p:extLst>
              <p:ext uri="{D42A27DB-BD31-4B8C-83A1-F6EECF244321}">
                <p14:modId xmlns:p14="http://schemas.microsoft.com/office/powerpoint/2010/main" val="2399803582"/>
              </p:ext>
            </p:extLst>
          </p:nvPr>
        </p:nvGraphicFramePr>
        <p:xfrm>
          <a:off x="805631" y="776749"/>
          <a:ext cx="7001182" cy="33693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a:extLst>
              <a:ext uri="{FF2B5EF4-FFF2-40B4-BE49-F238E27FC236}">
                <a16:creationId xmlns:a16="http://schemas.microsoft.com/office/drawing/2014/main" id="{100B7AF8-144D-DFDC-ADF4-B336EC9FD3D0}"/>
              </a:ext>
            </a:extLst>
          </p:cNvPr>
          <p:cNvPicPr>
            <a:picLocks noChangeAspect="1"/>
          </p:cNvPicPr>
          <p:nvPr/>
        </p:nvPicPr>
        <p:blipFill>
          <a:blip r:embed="rId8"/>
          <a:stretch>
            <a:fillRect/>
          </a:stretch>
        </p:blipFill>
        <p:spPr>
          <a:xfrm>
            <a:off x="412955" y="3429000"/>
            <a:ext cx="8563897" cy="258386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65219498-D544-41AC-98FE-8F956EF66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500DBFC-17A9-4E0A-AEE2-A49F9AEEF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57D62F-D668-F09E-2613-849B9FF598AD}"/>
              </a:ext>
            </a:extLst>
          </p:cNvPr>
          <p:cNvSpPr>
            <a:spLocks noGrp="1"/>
          </p:cNvSpPr>
          <p:nvPr>
            <p:ph type="title"/>
          </p:nvPr>
        </p:nvSpPr>
        <p:spPr>
          <a:xfrm>
            <a:off x="1390084" y="1780270"/>
            <a:ext cx="3604497" cy="1297115"/>
          </a:xfrm>
        </p:spPr>
        <p:txBody>
          <a:bodyPr vert="horz" lIns="91440" tIns="45720" rIns="91440" bIns="45720" rtlCol="0" anchor="t">
            <a:normAutofit/>
          </a:bodyPr>
          <a:lstStyle/>
          <a:p>
            <a:pPr algn="l" defTabSz="914400">
              <a:lnSpc>
                <a:spcPct val="90000"/>
              </a:lnSpc>
            </a:pPr>
            <a:r>
              <a:rPr lang="en-US" sz="5400" kern="1200" dirty="0">
                <a:solidFill>
                  <a:schemeClr val="tx2"/>
                </a:solidFill>
                <a:latin typeface="+mj-lt"/>
                <a:ea typeface="+mj-ea"/>
                <a:cs typeface="+mj-cs"/>
              </a:rPr>
              <a:t>Demo</a:t>
            </a:r>
          </a:p>
        </p:txBody>
      </p:sp>
      <p:grpSp>
        <p:nvGrpSpPr>
          <p:cNvPr id="22" name="Group 21">
            <a:extLst>
              <a:ext uri="{FF2B5EF4-FFF2-40B4-BE49-F238E27FC236}">
                <a16:creationId xmlns:a16="http://schemas.microsoft.com/office/drawing/2014/main" id="{D74613BB-817C-4C4F-8A24-4936F2F064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575767" y="52996"/>
            <a:ext cx="4570022" cy="6805005"/>
            <a:chOff x="6101023" y="52996"/>
            <a:chExt cx="6093363" cy="6805005"/>
          </a:xfrm>
        </p:grpSpPr>
        <p:sp>
          <p:nvSpPr>
            <p:cNvPr id="23" name="Freeform: Shape 22">
              <a:extLst>
                <a:ext uri="{FF2B5EF4-FFF2-40B4-BE49-F238E27FC236}">
                  <a16:creationId xmlns:a16="http://schemas.microsoft.com/office/drawing/2014/main" id="{926C820D-9A01-44F0-AE18-C2DAB089B8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4" y="52997"/>
              <a:ext cx="6093362" cy="6805004"/>
            </a:xfrm>
            <a:custGeom>
              <a:avLst/>
              <a:gdLst>
                <a:gd name="connsiteX0" fmla="*/ 3517682 w 5890490"/>
                <a:gd name="connsiteY0" fmla="*/ 0 h 6578439"/>
                <a:gd name="connsiteX1" fmla="*/ 5849513 w 5890490"/>
                <a:gd name="connsiteY1" fmla="*/ 841730 h 6578439"/>
                <a:gd name="connsiteX2" fmla="*/ 5890490 w 5890490"/>
                <a:gd name="connsiteY2" fmla="*/ 879060 h 6578439"/>
                <a:gd name="connsiteX3" fmla="*/ 5890490 w 5890490"/>
                <a:gd name="connsiteY3" fmla="*/ 1816052 h 6578439"/>
                <a:gd name="connsiteX4" fmla="*/ 5856961 w 5890490"/>
                <a:gd name="connsiteY4" fmla="*/ 1771023 h 6578439"/>
                <a:gd name="connsiteX5" fmla="*/ 5655397 w 5890490"/>
                <a:gd name="connsiteY5" fmla="*/ 1548813 h 6578439"/>
                <a:gd name="connsiteX6" fmla="*/ 3517682 w 5890490"/>
                <a:gd name="connsiteY6" fmla="*/ 658717 h 6578439"/>
                <a:gd name="connsiteX7" fmla="*/ 2395696 w 5890490"/>
                <a:gd name="connsiteY7" fmla="*/ 850721 h 6578439"/>
                <a:gd name="connsiteX8" fmla="*/ 1519955 w 5890490"/>
                <a:gd name="connsiteY8" fmla="*/ 1450441 h 6578439"/>
                <a:gd name="connsiteX9" fmla="*/ 1223630 w 5890490"/>
                <a:gd name="connsiteY9" fmla="*/ 1841430 h 6578439"/>
                <a:gd name="connsiteX10" fmla="*/ 1075857 w 5890490"/>
                <a:gd name="connsiteY10" fmla="*/ 2329343 h 6578439"/>
                <a:gd name="connsiteX11" fmla="*/ 731010 w 5890490"/>
                <a:gd name="connsiteY11" fmla="*/ 3483744 h 6578439"/>
                <a:gd name="connsiteX12" fmla="*/ 741000 w 5890490"/>
                <a:gd name="connsiteY12" fmla="*/ 4479719 h 6578439"/>
                <a:gd name="connsiteX13" fmla="*/ 1315615 w 5890490"/>
                <a:gd name="connsiteY13" fmla="*/ 5443827 h 6578439"/>
                <a:gd name="connsiteX14" fmla="*/ 2277503 w 5890490"/>
                <a:gd name="connsiteY14" fmla="*/ 6259386 h 6578439"/>
                <a:gd name="connsiteX15" fmla="*/ 3439448 w 5890490"/>
                <a:gd name="connsiteY15" fmla="*/ 6551739 h 6578439"/>
                <a:gd name="connsiteX16" fmla="*/ 4408732 w 5890490"/>
                <a:gd name="connsiteY16" fmla="*/ 6255172 h 6578439"/>
                <a:gd name="connsiteX17" fmla="*/ 5343243 w 5890490"/>
                <a:gd name="connsiteY17" fmla="*/ 5442509 h 6578439"/>
                <a:gd name="connsiteX18" fmla="*/ 5745566 w 5890490"/>
                <a:gd name="connsiteY18" fmla="*/ 5056656 h 6578439"/>
                <a:gd name="connsiteX19" fmla="*/ 5890490 w 5890490"/>
                <a:gd name="connsiteY19" fmla="*/ 4920880 h 6578439"/>
                <a:gd name="connsiteX20" fmla="*/ 5890490 w 5890490"/>
                <a:gd name="connsiteY20" fmla="*/ 5821966 h 6578439"/>
                <a:gd name="connsiteX21" fmla="*/ 5802002 w 5890490"/>
                <a:gd name="connsiteY21" fmla="*/ 5907904 h 6578439"/>
                <a:gd name="connsiteX22" fmla="*/ 5294358 w 5890490"/>
                <a:gd name="connsiteY22" fmla="*/ 6397505 h 6578439"/>
                <a:gd name="connsiteX23" fmla="*/ 5077178 w 5890490"/>
                <a:gd name="connsiteY23" fmla="*/ 6578439 h 6578439"/>
                <a:gd name="connsiteX24" fmla="*/ 1567290 w 5890490"/>
                <a:gd name="connsiteY24" fmla="*/ 6578439 h 6578439"/>
                <a:gd name="connsiteX25" fmla="*/ 1508588 w 5890490"/>
                <a:gd name="connsiteY25" fmla="*/ 6535186 h 6578439"/>
                <a:gd name="connsiteX26" fmla="*/ 826498 w 5890490"/>
                <a:gd name="connsiteY26" fmla="*/ 5876034 h 6578439"/>
                <a:gd name="connsiteX27" fmla="*/ 122403 w 5890490"/>
                <a:gd name="connsiteY27" fmla="*/ 3255655 h 6578439"/>
                <a:gd name="connsiteX28" fmla="*/ 1061197 w 5890490"/>
                <a:gd name="connsiteY28" fmla="*/ 984650 h 6578439"/>
                <a:gd name="connsiteX29" fmla="*/ 3517682 w 5890490"/>
                <a:gd name="connsiteY29"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890490" h="6578439">
                  <a:moveTo>
                    <a:pt x="3517682" y="0"/>
                  </a:moveTo>
                  <a:cubicBezTo>
                    <a:pt x="4402016" y="0"/>
                    <a:pt x="5213741" y="315483"/>
                    <a:pt x="5849513" y="841730"/>
                  </a:cubicBezTo>
                  <a:lnTo>
                    <a:pt x="5890490" y="879060"/>
                  </a:lnTo>
                  <a:lnTo>
                    <a:pt x="5890490" y="1816052"/>
                  </a:lnTo>
                  <a:lnTo>
                    <a:pt x="5856961" y="1771023"/>
                  </a:lnTo>
                  <a:cubicBezTo>
                    <a:pt x="5793650" y="1694076"/>
                    <a:pt x="5726429" y="1619959"/>
                    <a:pt x="5655397" y="1548813"/>
                  </a:cubicBezTo>
                  <a:cubicBezTo>
                    <a:pt x="5082208" y="974906"/>
                    <a:pt x="4322973" y="658717"/>
                    <a:pt x="3517682" y="658717"/>
                  </a:cubicBezTo>
                  <a:cubicBezTo>
                    <a:pt x="3085520" y="658717"/>
                    <a:pt x="2718488" y="721533"/>
                    <a:pt x="2395696" y="850721"/>
                  </a:cubicBezTo>
                  <a:cubicBezTo>
                    <a:pt x="2079132" y="977407"/>
                    <a:pt x="1792668" y="1173626"/>
                    <a:pt x="1519955" y="1450441"/>
                  </a:cubicBezTo>
                  <a:cubicBezTo>
                    <a:pt x="1330275" y="1642840"/>
                    <a:pt x="1263719" y="1756094"/>
                    <a:pt x="1223630" y="1841430"/>
                  </a:cubicBezTo>
                  <a:cubicBezTo>
                    <a:pt x="1166545" y="1962981"/>
                    <a:pt x="1128532" y="2116663"/>
                    <a:pt x="1075857" y="2329343"/>
                  </a:cubicBezTo>
                  <a:cubicBezTo>
                    <a:pt x="1008652" y="2601153"/>
                    <a:pt x="916537" y="2973574"/>
                    <a:pt x="731010" y="3483744"/>
                  </a:cubicBezTo>
                  <a:cubicBezTo>
                    <a:pt x="617488" y="3795981"/>
                    <a:pt x="620731" y="4121653"/>
                    <a:pt x="741000" y="4479719"/>
                  </a:cubicBezTo>
                  <a:cubicBezTo>
                    <a:pt x="847257" y="4796172"/>
                    <a:pt x="1045888" y="5129481"/>
                    <a:pt x="1315615" y="5443827"/>
                  </a:cubicBezTo>
                  <a:cubicBezTo>
                    <a:pt x="1630753" y="5810980"/>
                    <a:pt x="1945371" y="6077784"/>
                    <a:pt x="2277503" y="6259386"/>
                  </a:cubicBezTo>
                  <a:cubicBezTo>
                    <a:pt x="2637530" y="6456133"/>
                    <a:pt x="3017536" y="6551739"/>
                    <a:pt x="3439448" y="6551739"/>
                  </a:cubicBezTo>
                  <a:cubicBezTo>
                    <a:pt x="3781571" y="6551739"/>
                    <a:pt x="4089573" y="6457449"/>
                    <a:pt x="4408732" y="6255172"/>
                  </a:cubicBezTo>
                  <a:cubicBezTo>
                    <a:pt x="4738010" y="6046310"/>
                    <a:pt x="5050941" y="5739207"/>
                    <a:pt x="5343243" y="5442509"/>
                  </a:cubicBezTo>
                  <a:cubicBezTo>
                    <a:pt x="5479860" y="5303970"/>
                    <a:pt x="5614918" y="5178206"/>
                    <a:pt x="5745566" y="5056656"/>
                  </a:cubicBezTo>
                  <a:lnTo>
                    <a:pt x="5890490" y="4920880"/>
                  </a:lnTo>
                  <a:lnTo>
                    <a:pt x="5890490" y="5821966"/>
                  </a:lnTo>
                  <a:lnTo>
                    <a:pt x="5802002"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5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458B604F-996E-4349-B131-E04ED285D8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5"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5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27CCEAF3-651B-4605-AE58-F96E227036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3"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flip="none" rotWithShape="1">
              <a:gsLst>
                <a:gs pos="2000">
                  <a:schemeClr val="bg1"/>
                </a:gs>
                <a:gs pos="16000">
                  <a:schemeClr val="accent6">
                    <a:alpha val="10000"/>
                  </a:schemeClr>
                </a:gs>
                <a:gs pos="100000">
                  <a:schemeClr val="bg1">
                    <a:alpha val="10000"/>
                  </a:schemeClr>
                </a:gs>
                <a:gs pos="85000">
                  <a:schemeClr val="accent1">
                    <a:alpha val="1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ED519330-E5F1-4248-B58C-1AA0D9E6DA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4"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1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6" name="Graphic 5" descr="Play">
            <a:extLst>
              <a:ext uri="{FF2B5EF4-FFF2-40B4-BE49-F238E27FC236}">
                <a16:creationId xmlns:a16="http://schemas.microsoft.com/office/drawing/2014/main" id="{11D0C7E5-79CF-DDFC-2442-681E516235D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76992" y="2216469"/>
            <a:ext cx="3106320" cy="3106320"/>
          </a:xfrm>
          <a:prstGeom prst="rect">
            <a:avLst/>
          </a:prstGeom>
          <a:ln>
            <a:noFill/>
          </a:ln>
        </p:spPr>
      </p:pic>
    </p:spTree>
    <p:extLst>
      <p:ext uri="{BB962C8B-B14F-4D97-AF65-F5344CB8AC3E}">
        <p14:creationId xmlns:p14="http://schemas.microsoft.com/office/powerpoint/2010/main" val="327196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6"/>
                                        </p:tgtEl>
                                        <p:attrNameLst>
                                          <p:attrName>style.visibility</p:attrName>
                                        </p:attrNameLst>
                                      </p:cBhvr>
                                      <p:to>
                                        <p:strVal val="visible"/>
                                      </p:to>
                                    </p:set>
                                    <p:animEffect transition="in" filter="fade">
                                      <p:cBhvr>
                                        <p:cTn id="10"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70578" y="802955"/>
            <a:ext cx="3733482" cy="1454051"/>
          </a:xfrm>
        </p:spPr>
        <p:txBody>
          <a:bodyPr>
            <a:normAutofit/>
          </a:bodyPr>
          <a:lstStyle/>
          <a:p>
            <a:r>
              <a:rPr lang="en-US" sz="3100" b="1">
                <a:solidFill>
                  <a:schemeClr val="tx2"/>
                </a:solidFill>
              </a:rPr>
              <a:t>Key Takeaways</a:t>
            </a:r>
          </a:p>
        </p:txBody>
      </p:sp>
      <p:pic>
        <p:nvPicPr>
          <p:cNvPr id="6" name="Graphic 5" descr="Alarm clock outline">
            <a:extLst>
              <a:ext uri="{FF2B5EF4-FFF2-40B4-BE49-F238E27FC236}">
                <a16:creationId xmlns:a16="http://schemas.microsoft.com/office/drawing/2014/main" id="{76F56EB6-EC18-7499-1139-735BD588F72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9534" y="2230670"/>
            <a:ext cx="2746373" cy="2746373"/>
          </a:xfrm>
          <a:prstGeom prst="rect">
            <a:avLst/>
          </a:prstGeom>
        </p:spPr>
      </p:pic>
      <p:sp>
        <p:nvSpPr>
          <p:cNvPr id="3" name="Content Placeholder 2"/>
          <p:cNvSpPr>
            <a:spLocks noGrp="1"/>
          </p:cNvSpPr>
          <p:nvPr>
            <p:ph idx="1"/>
          </p:nvPr>
        </p:nvSpPr>
        <p:spPr>
          <a:xfrm>
            <a:off x="4567930" y="2421682"/>
            <a:ext cx="3733184" cy="3639289"/>
          </a:xfrm>
        </p:spPr>
        <p:txBody>
          <a:bodyPr anchor="ctr">
            <a:normAutofit/>
          </a:bodyPr>
          <a:lstStyle/>
          <a:p>
            <a:r>
              <a:rPr lang="en-US" sz="1600" dirty="0">
                <a:solidFill>
                  <a:schemeClr val="tx2"/>
                </a:solidFill>
              </a:rPr>
              <a:t>Elevates AI evaluation into governed platform infrastructure aligned with Apple’s quality and ethical standards.</a:t>
            </a:r>
          </a:p>
          <a:p>
            <a:endParaRPr lang="en-US" sz="1600" dirty="0">
              <a:solidFill>
                <a:schemeClr val="tx2"/>
              </a:solidFill>
            </a:endParaRPr>
          </a:p>
          <a:p>
            <a:r>
              <a:rPr lang="en-US" sz="1600" dirty="0">
                <a:solidFill>
                  <a:schemeClr val="tx2"/>
                </a:solidFill>
              </a:rPr>
              <a:t>Encodes human judgment into deterministic systems to enable safe, scalable innovation with accountability.</a:t>
            </a:r>
          </a:p>
          <a:p>
            <a:endParaRPr lang="en-US" sz="1600" dirty="0">
              <a:solidFill>
                <a:schemeClr val="tx2"/>
              </a:solidFill>
            </a:endParaRPr>
          </a:p>
          <a:p>
            <a:r>
              <a:rPr lang="en-US" sz="1600" dirty="0">
                <a:solidFill>
                  <a:schemeClr val="tx2"/>
                </a:solidFill>
              </a:rPr>
              <a:t>Provides a future-proof foundation for agentic AI through real-time, adversarial, and trajectory-level evaluation.</a:t>
            </a:r>
          </a:p>
        </p:txBody>
      </p:sp>
      <p:grpSp>
        <p:nvGrpSpPr>
          <p:cNvPr id="26" name="Group 25">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976" y="52996"/>
            <a:ext cx="4446455" cy="6805005"/>
            <a:chOff x="6095999" y="52996"/>
            <a:chExt cx="6093363" cy="6805005"/>
          </a:xfrm>
          <a:solidFill>
            <a:schemeClr val="accent5">
              <a:alpha val="10000"/>
            </a:schemeClr>
          </a:solidFill>
        </p:grpSpPr>
        <p:sp>
          <p:nvSpPr>
            <p:cNvPr id="27" name="Freeform: Shape 26">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1935</TotalTime>
  <Words>2082</Words>
  <Application>Microsoft Office PowerPoint</Application>
  <PresentationFormat>On-screen Show (4:3)</PresentationFormat>
  <Paragraphs>333</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-apple-system</vt:lpstr>
      <vt:lpstr>Aptos</vt:lpstr>
      <vt:lpstr>Aptos Narrow</vt:lpstr>
      <vt:lpstr>Arial</vt:lpstr>
      <vt:lpstr>Calibri</vt:lpstr>
      <vt:lpstr>Wingdings</vt:lpstr>
      <vt:lpstr>Office Theme</vt:lpstr>
      <vt:lpstr>PowerPoint Presentation</vt:lpstr>
      <vt:lpstr>Executive Summary</vt:lpstr>
      <vt:lpstr>Problem Statement</vt:lpstr>
      <vt:lpstr>Feature Taxonomy and Category</vt:lpstr>
      <vt:lpstr>System Design Principles</vt:lpstr>
      <vt:lpstr>Dual‑Mode Architecture</vt:lpstr>
      <vt:lpstr>Template Mode: Prompt Orchestration Flow</vt:lpstr>
      <vt:lpstr>Agent Mode</vt:lpstr>
      <vt:lpstr>Case Study: Prompt Comparison</vt:lpstr>
      <vt:lpstr>Responsible AI by Construction</vt:lpstr>
      <vt:lpstr>Demo</vt:lpstr>
      <vt:lpstr>Key Takeaways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Jane huang</dc:creator>
  <cp:keywords/>
  <dc:description>generated using python-pptx</dc:description>
  <cp:lastModifiedBy>Jane huang</cp:lastModifiedBy>
  <cp:revision>4</cp:revision>
  <dcterms:created xsi:type="dcterms:W3CDTF">2013-01-27T09:14:16Z</dcterms:created>
  <dcterms:modified xsi:type="dcterms:W3CDTF">2026-02-24T16:05:53Z</dcterms:modified>
  <cp:category/>
</cp:coreProperties>
</file>